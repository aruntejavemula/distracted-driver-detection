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Images</c:v>
                </c:pt>
              </c:strCache>
            </c:strRef>
          </c:tx>
          <c:spPr>
            <a:solidFill>
              <a:srgbClr val="2C6B8A"/>
            </a:solidFill>
            <a:effectLst/>
          </c:spPr>
          <c:invertIfNegative val="0"/>
          <c:dLbls>
            <c:numFmt formatCode="#,##0" sourceLinked="0"/>
            <c:txPr>
              <a:bodyPr/>
              <a:lstStyle/>
              <a:p>
                <a:pPr>
                  <a:defRPr b="0" i="0" strike="noStrike" sz="1000" u="none">
                    <a:solidFill>
                      <a:srgbClr val="1E2533"/>
                    </a:solidFill>
                    <a:latin typeface="Arial"/>
                  </a:defRPr>
                </a:pPr>
              </a:p>
            </c:txPr>
            <c:showLegendKey val="0"/>
            <c:showVal val="1"/>
            <c:showCatName val="0"/>
            <c:showSerName val="0"/>
            <c:showPercent val="0"/>
            <c:showBubbleSize val="0"/>
            <c:showLeaderLines val="0"/>
          </c:dLbls>
          <c:dPt>
            <c:idx val="0"/>
            <c:invertIfNegative val="0"/>
            <c:bubble3D val="0"/>
            <c:spPr>
              <a:solidFill>
                <a:srgbClr val="2C6B8A"/>
              </a:solidFill>
              <a:effectLst/>
            </c:spPr>
          </c:dPt>
          <c:dPt>
            <c:idx val="1"/>
            <c:invertIfNegative val="0"/>
            <c:bubble3D val="0"/>
            <c:spPr>
              <a:solidFill>
                <a:srgbClr val="A8C5D8"/>
              </a:solidFill>
              <a:effectLst/>
            </c:spPr>
          </c:dPt>
          <c:dPt>
            <c:idx val="2"/>
            <c:invertIfNegative val="0"/>
            <c:bubble3D val="0"/>
            <c:spPr>
              <a:solidFill>
                <a:srgbClr val="D4552A"/>
              </a:solidFill>
              <a:effectLst/>
            </c:spPr>
          </c:dPt>
          <c:cat>
            <c:multiLvlStrRef>
              <c:f>Sheet1!$A$2:$A$4</c:f>
              <c:multiLvlStrCache>
                <c:ptCount val="3"/>
                <c:lvl>
                  <c:pt idx="0">
                    <c:v>Training
(17,939)</c:v>
                  </c:pt>
                  <c:pt idx="1">
                    <c:v>Validation
(4,485)</c:v>
                  </c:pt>
                  <c:pt idx="2">
                    <c:v>Test
(79,726)</c:v>
                  </c:pt>
                </c:lvl>
              </c:multiLvlStrCache>
            </c:multiLvlStrRef>
          </c:cat>
          <c:val>
            <c:numRef>
              <c:f>Sheet1!$B$2:$B$4</c:f>
              <c:numCache>
                <c:formatCode>General</c:formatCode>
                <c:ptCount val="3"/>
                <c:pt idx="0">
                  <c:v>17939</c:v>
                </c:pt>
                <c:pt idx="1">
                  <c:v>4485</c:v>
                </c:pt>
                <c:pt idx="2">
                  <c:v>79726</c:v>
                </c:pt>
              </c:numCache>
            </c:numRef>
          </c:val>
        </c:ser>
        <c:dLbls>
          <c:numFmt formatCode="#,##0" sourceLinked="0"/>
          <c:txPr>
            <a:bodyPr/>
            <a:lstStyle/>
            <a:p>
              <a:pPr>
                <a:defRPr b="0" i="0" strike="noStrike" sz="1000" u="none">
                  <a:solidFill>
                    <a:srgbClr val="1E25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A2A2A"/>
                </a:solidFill>
                <a:latin typeface="Arial"/>
              </a:defRPr>
            </a:pPr>
            <a:endParaRPr lang="en-US"/>
          </a:p>
        </c:txPr>
        <c:crossAx val="2094734552"/>
        <c:crosses val="autoZero"/>
        <c:auto val="1"/>
        <c:lblAlgn val="ctr"/>
        <c:noMultiLvlLbl val="1"/>
      </c:catAx>
      <c:valAx>
        <c:axId val="2094734552"/>
        <c:scaling>
          <c:orientation val="minMax"/>
          <c:max val="90000"/>
        </c:scaling>
        <c:delete val="0"/>
        <c:axPos val="l"/>
        <c:majorGridlines>
          <c:spPr>
            <a:ln w="6350" cap="flat">
              <a:solidFill>
                <a:srgbClr val="E0DD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7F6F2"/>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Log-Loss (lower = better)</c:v>
                </c:pt>
              </c:strCache>
            </c:strRef>
          </c:tx>
          <c:spPr>
            <a:solidFill>
              <a:srgbClr val="A8C5D8"/>
            </a:solidFill>
            <a:effectLst/>
          </c:spPr>
          <c:invertIfNegative val="0"/>
          <c:dLbls>
            <c:numFmt formatCode="#,##0" sourceLinked="0"/>
            <c:txPr>
              <a:bodyPr/>
              <a:lstStyle/>
              <a:p>
                <a:pPr>
                  <a:defRPr b="0" i="0" strike="noStrike" sz="1000" u="none">
                    <a:solidFill>
                      <a:srgbClr val="1E2533"/>
                    </a:solidFill>
                    <a:latin typeface="Arial"/>
                  </a:defRPr>
                </a:pPr>
              </a:p>
            </c:txPr>
            <c:showLegendKey val="0"/>
            <c:showVal val="1"/>
            <c:showCatName val="0"/>
            <c:showSerName val="0"/>
            <c:showPercent val="0"/>
            <c:showBubbleSize val="0"/>
            <c:showLeaderLines val="0"/>
          </c:dLbls>
          <c:dPt>
            <c:idx val="0"/>
            <c:invertIfNegative val="0"/>
            <c:bubble3D val="0"/>
            <c:spPr>
              <a:solidFill>
                <a:srgbClr val="A8C5D8"/>
              </a:solidFill>
              <a:effectLst/>
            </c:spPr>
          </c:dPt>
          <c:dPt>
            <c:idx val="1"/>
            <c:invertIfNegative val="0"/>
            <c:bubble3D val="0"/>
            <c:spPr>
              <a:solidFill>
                <a:srgbClr val="2C6B8A"/>
              </a:solidFill>
              <a:effectLst/>
            </c:spPr>
          </c:dPt>
          <c:dPt>
            <c:idx val="2"/>
            <c:invertIfNegative val="0"/>
            <c:bubble3D val="0"/>
            <c:spPr>
              <a:solidFill>
                <a:srgbClr val="CCBBBB"/>
              </a:solidFill>
              <a:effectLst/>
            </c:spPr>
          </c:dPt>
          <c:dPt>
            <c:idx val="3"/>
            <c:invertIfNegative val="0"/>
            <c:bubble3D val="0"/>
            <c:spPr>
              <a:solidFill>
                <a:srgbClr val="D4552A"/>
              </a:solidFill>
              <a:effectLst/>
            </c:spPr>
          </c:dPt>
          <c:cat>
            <c:multiLvlStrRef>
              <c:f>Sheet1!$A$2:$A$5</c:f>
              <c:multiLvlStrCache>
                <c:ptCount val="4"/>
                <c:lvl>
                  <c:pt idx="0">
                    <c:v>CNN
Scratch</c:v>
                  </c:pt>
                  <c:pt idx="1">
                    <c:v>VGG16
Sub 1</c:v>
                  </c:pt>
                  <c:pt idx="2">
                    <c:v>VGG16
Sub 2</c:v>
                  </c:pt>
                  <c:pt idx="3">
                    <c:v>Fine-Tuned
★ BEST</c:v>
                  </c:pt>
                </c:lvl>
              </c:multiLvlStrCache>
            </c:multiLvlStrRef>
          </c:cat>
          <c:val>
            <c:numRef>
              <c:f>Sheet1!$B$2:$B$5</c:f>
              <c:numCache>
                <c:formatCode>General</c:formatCode>
                <c:ptCount val="4"/>
                <c:pt idx="0">
                  <c:v>2.671</c:v>
                </c:pt>
                <c:pt idx="1">
                  <c:v>1.932</c:v>
                </c:pt>
                <c:pt idx="2">
                  <c:v>5.216</c:v>
                </c:pt>
                <c:pt idx="3">
                  <c:v>1.264</c:v>
                </c:pt>
              </c:numCache>
            </c:numRef>
          </c:val>
        </c:ser>
        <c:dLbls>
          <c:numFmt formatCode="#,##0" sourceLinked="0"/>
          <c:txPr>
            <a:bodyPr/>
            <a:lstStyle/>
            <a:p>
              <a:pPr>
                <a:defRPr b="0" i="0" strike="noStrike" sz="1000" u="none">
                  <a:solidFill>
                    <a:srgbClr val="1E25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A2A2A"/>
                </a:solidFill>
                <a:latin typeface="Arial"/>
              </a:defRPr>
            </a:pPr>
            <a:endParaRPr lang="en-US"/>
          </a:p>
        </c:txPr>
        <c:crossAx val="2094734552"/>
        <c:crosses val="autoZero"/>
        <c:auto val="1"/>
        <c:lblAlgn val="ctr"/>
        <c:noMultiLvlLbl val="1"/>
      </c:catAx>
      <c:valAx>
        <c:axId val="2094734552"/>
        <c:scaling>
          <c:orientation val="minMax"/>
          <c:max val="6"/>
        </c:scaling>
        <c:delete val="0"/>
        <c:axPos val="l"/>
        <c:majorGridlines>
          <c:spPr>
            <a:ln w="6350" cap="flat">
              <a:solidFill>
                <a:srgbClr val="E0DD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7F6F2"/>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533"/>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552A"/>
          </a:solidFill>
          <a:ln w="12700">
            <a:solidFill>
              <a:srgbClr val="D4552A"/>
            </a:solidFill>
            <a:prstDash val="solid"/>
          </a:ln>
        </p:spPr>
      </p:sp>
      <p:sp>
        <p:nvSpPr>
          <p:cNvPr id="3" name="Text 1"/>
          <p:cNvSpPr/>
          <p:nvPr/>
        </p:nvSpPr>
        <p:spPr>
          <a:xfrm>
            <a:off x="548640" y="1188720"/>
            <a:ext cx="804672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Distracted Driver Detection</a:t>
            </a:r>
            <a:endParaRPr lang="en-US" sz="4400" dirty="0"/>
          </a:p>
        </p:txBody>
      </p:sp>
      <p:sp>
        <p:nvSpPr>
          <p:cNvPr id="4" name="Text 2"/>
          <p:cNvSpPr/>
          <p:nvPr/>
        </p:nvSpPr>
        <p:spPr>
          <a:xfrm>
            <a:off x="548640" y="2423160"/>
            <a:ext cx="8046720" cy="594360"/>
          </a:xfrm>
          <a:prstGeom prst="rect">
            <a:avLst/>
          </a:prstGeom>
          <a:noFill/>
          <a:ln/>
        </p:spPr>
        <p:txBody>
          <a:bodyPr wrap="square" lIns="0" tIns="0" rIns="0" bIns="0" rtlCol="0" anchor="ctr"/>
          <a:lstStyle/>
          <a:p>
            <a:pPr algn="ctr" indent="0" marL="0">
              <a:buNone/>
            </a:pPr>
            <a:r>
              <a:rPr lang="en-US" sz="1800" i="1" dirty="0">
                <a:solidFill>
                  <a:srgbClr val="A8C5D8"/>
                </a:solidFill>
                <a:latin typeface="Calibri" pitchFamily="34" charset="0"/>
                <a:ea typeface="Calibri" pitchFamily="34" charset="-122"/>
                <a:cs typeface="Calibri" pitchFamily="34" charset="-120"/>
              </a:rPr>
              <a:t>A Deep Learning CNN Approach for Driver Behavior Classification</a:t>
            </a:r>
            <a:endParaRPr lang="en-US" sz="1800" dirty="0"/>
          </a:p>
        </p:txBody>
      </p:sp>
      <p:sp>
        <p:nvSpPr>
          <p:cNvPr id="5" name="Shape 3"/>
          <p:cNvSpPr/>
          <p:nvPr/>
        </p:nvSpPr>
        <p:spPr>
          <a:xfrm>
            <a:off x="3200400" y="3182112"/>
            <a:ext cx="2743200" cy="45720"/>
          </a:xfrm>
          <a:prstGeom prst="rect">
            <a:avLst/>
          </a:prstGeom>
          <a:solidFill>
            <a:srgbClr val="D4552A"/>
          </a:solidFill>
          <a:ln w="12700">
            <a:solidFill>
              <a:srgbClr val="D4552A"/>
            </a:solidFill>
            <a:prstDash val="solid"/>
          </a:ln>
        </p:spPr>
      </p:sp>
      <p:sp>
        <p:nvSpPr>
          <p:cNvPr id="6" name="Text 4"/>
          <p:cNvSpPr/>
          <p:nvPr/>
        </p:nvSpPr>
        <p:spPr>
          <a:xfrm>
            <a:off x="548640" y="3337560"/>
            <a:ext cx="8046720" cy="4114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Arun Teja Vemula</a:t>
            </a:r>
            <a:endParaRPr lang="en-US" sz="1700" dirty="0"/>
          </a:p>
        </p:txBody>
      </p:sp>
      <p:sp>
        <p:nvSpPr>
          <p:cNvPr id="7" name="Text 5"/>
          <p:cNvSpPr/>
          <p:nvPr/>
        </p:nvSpPr>
        <p:spPr>
          <a:xfrm>
            <a:off x="548640" y="3822192"/>
            <a:ext cx="8046720" cy="32004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Udacity Machine Learning Engineer Nanodegree  ·  State Farm Kaggle Competition  ·  June 2026</a:t>
            </a:r>
            <a:endParaRPr lang="en-US" sz="1100" dirty="0"/>
          </a:p>
        </p:txBody>
      </p:sp>
      <p:sp>
        <p:nvSpPr>
          <p:cNvPr id="8" name="Shape 6"/>
          <p:cNvSpPr/>
          <p:nvPr/>
        </p:nvSpPr>
        <p:spPr>
          <a:xfrm>
            <a:off x="0" y="5047488"/>
            <a:ext cx="9144000" cy="91440"/>
          </a:xfrm>
          <a:prstGeom prst="rect">
            <a:avLst/>
          </a:prstGeom>
          <a:solidFill>
            <a:srgbClr val="D4552A"/>
          </a:solidFill>
          <a:ln w="12700">
            <a:solidFill>
              <a:srgbClr val="D4552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457200" y="256032"/>
            <a:ext cx="8229600" cy="594360"/>
          </a:xfrm>
          <a:prstGeom prst="rect">
            <a:avLst/>
          </a:prstGeom>
          <a:noFill/>
          <a:ln/>
        </p:spPr>
        <p:txBody>
          <a:bodyPr wrap="square" lIns="0" tIns="0" rIns="0" bIns="0" rtlCol="0" anchor="ctr"/>
          <a:lstStyle/>
          <a:p>
            <a:pPr indent="0" marL="0">
              <a:buNone/>
            </a:pPr>
            <a:r>
              <a:rPr lang="en-US" sz="3200" b="1" dirty="0">
                <a:solidFill>
                  <a:srgbClr val="1E2533"/>
                </a:solidFill>
                <a:latin typeface="Cambria" pitchFamily="34" charset="0"/>
                <a:ea typeface="Cambria" pitchFamily="34" charset="-122"/>
                <a:cs typeface="Cambria" pitchFamily="34" charset="-120"/>
              </a:rPr>
              <a:t>Table of Contents</a:t>
            </a:r>
            <a:endParaRPr lang="en-US" sz="3200" dirty="0"/>
          </a:p>
        </p:txBody>
      </p:sp>
      <p:sp>
        <p:nvSpPr>
          <p:cNvPr id="3" name="Shape 1"/>
          <p:cNvSpPr/>
          <p:nvPr/>
        </p:nvSpPr>
        <p:spPr>
          <a:xfrm>
            <a:off x="457200" y="1042416"/>
            <a:ext cx="384048" cy="384048"/>
          </a:xfrm>
          <a:prstGeom prst="ellipse">
            <a:avLst/>
          </a:prstGeom>
          <a:solidFill>
            <a:srgbClr val="2C6B8A"/>
          </a:solidFill>
          <a:ln w="12700">
            <a:solidFill>
              <a:srgbClr val="2C6B8A"/>
            </a:solidFill>
            <a:prstDash val="solid"/>
          </a:ln>
        </p:spPr>
      </p:sp>
      <p:sp>
        <p:nvSpPr>
          <p:cNvPr id="4" name="Text 2"/>
          <p:cNvSpPr/>
          <p:nvPr/>
        </p:nvSpPr>
        <p:spPr>
          <a:xfrm>
            <a:off x="457200" y="1042416"/>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5" name="Text 3"/>
          <p:cNvSpPr/>
          <p:nvPr/>
        </p:nvSpPr>
        <p:spPr>
          <a:xfrm>
            <a:off x="950976" y="1005840"/>
            <a:ext cx="3657600" cy="457200"/>
          </a:xfrm>
          <a:prstGeom prst="rect">
            <a:avLst/>
          </a:prstGeom>
          <a:noFill/>
          <a:ln/>
        </p:spPr>
        <p:txBody>
          <a:bodyPr wrap="square" lIns="0" tIns="0" rIns="0" bIns="0" rtlCol="0" anchor="ctr"/>
          <a:lstStyle/>
          <a:p>
            <a:pPr indent="0" marL="0">
              <a:buNone/>
            </a:pPr>
            <a:r>
              <a:rPr lang="en-US" sz="1350" dirty="0">
                <a:solidFill>
                  <a:srgbClr val="2A2A2A"/>
                </a:solidFill>
                <a:latin typeface="Calibri" pitchFamily="34" charset="0"/>
                <a:ea typeface="Calibri" pitchFamily="34" charset="-122"/>
                <a:cs typeface="Calibri" pitchFamily="34" charset="-120"/>
              </a:rPr>
              <a:t>Introduction &amp; Problem Statement</a:t>
            </a:r>
            <a:endParaRPr lang="en-US" sz="1350" dirty="0"/>
          </a:p>
        </p:txBody>
      </p:sp>
      <p:sp>
        <p:nvSpPr>
          <p:cNvPr id="6" name="Shape 4"/>
          <p:cNvSpPr/>
          <p:nvPr/>
        </p:nvSpPr>
        <p:spPr>
          <a:xfrm>
            <a:off x="457200" y="1691640"/>
            <a:ext cx="384048" cy="384048"/>
          </a:xfrm>
          <a:prstGeom prst="ellipse">
            <a:avLst/>
          </a:prstGeom>
          <a:solidFill>
            <a:srgbClr val="2C6B8A"/>
          </a:solidFill>
          <a:ln w="12700">
            <a:solidFill>
              <a:srgbClr val="2C6B8A"/>
            </a:solidFill>
            <a:prstDash val="solid"/>
          </a:ln>
        </p:spPr>
      </p:sp>
      <p:sp>
        <p:nvSpPr>
          <p:cNvPr id="7" name="Text 5"/>
          <p:cNvSpPr/>
          <p:nvPr/>
        </p:nvSpPr>
        <p:spPr>
          <a:xfrm>
            <a:off x="457200" y="169164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8" name="Text 6"/>
          <p:cNvSpPr/>
          <p:nvPr/>
        </p:nvSpPr>
        <p:spPr>
          <a:xfrm>
            <a:off x="950976" y="1655064"/>
            <a:ext cx="3657600" cy="457200"/>
          </a:xfrm>
          <a:prstGeom prst="rect">
            <a:avLst/>
          </a:prstGeom>
          <a:noFill/>
          <a:ln/>
        </p:spPr>
        <p:txBody>
          <a:bodyPr wrap="square" lIns="0" tIns="0" rIns="0" bIns="0" rtlCol="0" anchor="ctr"/>
          <a:lstStyle/>
          <a:p>
            <a:pPr indent="0" marL="0">
              <a:buNone/>
            </a:pPr>
            <a:r>
              <a:rPr lang="en-US" sz="1350" dirty="0">
                <a:solidFill>
                  <a:srgbClr val="2A2A2A"/>
                </a:solidFill>
                <a:latin typeface="Calibri" pitchFamily="34" charset="0"/>
                <a:ea typeface="Calibri" pitchFamily="34" charset="-122"/>
                <a:cs typeface="Calibri" pitchFamily="34" charset="-120"/>
              </a:rPr>
              <a:t>Dataset Overview</a:t>
            </a:r>
            <a:endParaRPr lang="en-US" sz="1350" dirty="0"/>
          </a:p>
        </p:txBody>
      </p:sp>
      <p:sp>
        <p:nvSpPr>
          <p:cNvPr id="9" name="Shape 7"/>
          <p:cNvSpPr/>
          <p:nvPr/>
        </p:nvSpPr>
        <p:spPr>
          <a:xfrm>
            <a:off x="457200" y="2340864"/>
            <a:ext cx="384048" cy="384048"/>
          </a:xfrm>
          <a:prstGeom prst="ellipse">
            <a:avLst/>
          </a:prstGeom>
          <a:solidFill>
            <a:srgbClr val="2C6B8A"/>
          </a:solidFill>
          <a:ln w="12700">
            <a:solidFill>
              <a:srgbClr val="2C6B8A"/>
            </a:solidFill>
            <a:prstDash val="solid"/>
          </a:ln>
        </p:spPr>
      </p:sp>
      <p:sp>
        <p:nvSpPr>
          <p:cNvPr id="10" name="Text 8"/>
          <p:cNvSpPr/>
          <p:nvPr/>
        </p:nvSpPr>
        <p:spPr>
          <a:xfrm>
            <a:off x="457200" y="2340864"/>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11" name="Text 9"/>
          <p:cNvSpPr/>
          <p:nvPr/>
        </p:nvSpPr>
        <p:spPr>
          <a:xfrm>
            <a:off x="950976" y="2304288"/>
            <a:ext cx="3657600" cy="457200"/>
          </a:xfrm>
          <a:prstGeom prst="rect">
            <a:avLst/>
          </a:prstGeom>
          <a:noFill/>
          <a:ln/>
        </p:spPr>
        <p:txBody>
          <a:bodyPr wrap="square" lIns="0" tIns="0" rIns="0" bIns="0" rtlCol="0" anchor="ctr"/>
          <a:lstStyle/>
          <a:p>
            <a:pPr indent="0" marL="0">
              <a:buNone/>
            </a:pPr>
            <a:r>
              <a:rPr lang="en-US" sz="1350" dirty="0">
                <a:solidFill>
                  <a:srgbClr val="2A2A2A"/>
                </a:solidFill>
                <a:latin typeface="Calibri" pitchFamily="34" charset="0"/>
                <a:ea typeface="Calibri" pitchFamily="34" charset="-122"/>
                <a:cs typeface="Calibri" pitchFamily="34" charset="-120"/>
              </a:rPr>
              <a:t>10 Driver Behavior Classes</a:t>
            </a:r>
            <a:endParaRPr lang="en-US" sz="1350" dirty="0"/>
          </a:p>
        </p:txBody>
      </p:sp>
      <p:sp>
        <p:nvSpPr>
          <p:cNvPr id="12" name="Shape 10"/>
          <p:cNvSpPr/>
          <p:nvPr/>
        </p:nvSpPr>
        <p:spPr>
          <a:xfrm>
            <a:off x="457200" y="2990088"/>
            <a:ext cx="384048" cy="384048"/>
          </a:xfrm>
          <a:prstGeom prst="ellipse">
            <a:avLst/>
          </a:prstGeom>
          <a:solidFill>
            <a:srgbClr val="2C6B8A"/>
          </a:solidFill>
          <a:ln w="12700">
            <a:solidFill>
              <a:srgbClr val="2C6B8A"/>
            </a:solidFill>
            <a:prstDash val="solid"/>
          </a:ln>
        </p:spPr>
      </p:sp>
      <p:sp>
        <p:nvSpPr>
          <p:cNvPr id="13" name="Text 11"/>
          <p:cNvSpPr/>
          <p:nvPr/>
        </p:nvSpPr>
        <p:spPr>
          <a:xfrm>
            <a:off x="457200" y="2990088"/>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14" name="Text 12"/>
          <p:cNvSpPr/>
          <p:nvPr/>
        </p:nvSpPr>
        <p:spPr>
          <a:xfrm>
            <a:off x="950976" y="2953512"/>
            <a:ext cx="3657600" cy="457200"/>
          </a:xfrm>
          <a:prstGeom prst="rect">
            <a:avLst/>
          </a:prstGeom>
          <a:noFill/>
          <a:ln/>
        </p:spPr>
        <p:txBody>
          <a:bodyPr wrap="square" lIns="0" tIns="0" rIns="0" bIns="0" rtlCol="0" anchor="ctr"/>
          <a:lstStyle/>
          <a:p>
            <a:pPr indent="0" marL="0">
              <a:buNone/>
            </a:pPr>
            <a:r>
              <a:rPr lang="en-US" sz="1350" dirty="0">
                <a:solidFill>
                  <a:srgbClr val="2A2A2A"/>
                </a:solidFill>
                <a:latin typeface="Calibri" pitchFamily="34" charset="0"/>
                <a:ea typeface="Calibri" pitchFamily="34" charset="-122"/>
                <a:cs typeface="Calibri" pitchFamily="34" charset="-120"/>
              </a:rPr>
              <a:t>Project Methodology</a:t>
            </a:r>
            <a:endParaRPr lang="en-US" sz="1350" dirty="0"/>
          </a:p>
        </p:txBody>
      </p:sp>
      <p:sp>
        <p:nvSpPr>
          <p:cNvPr id="15" name="Shape 13"/>
          <p:cNvSpPr/>
          <p:nvPr/>
        </p:nvSpPr>
        <p:spPr>
          <a:xfrm>
            <a:off x="457200" y="3639312"/>
            <a:ext cx="384048" cy="384048"/>
          </a:xfrm>
          <a:prstGeom prst="ellipse">
            <a:avLst/>
          </a:prstGeom>
          <a:solidFill>
            <a:srgbClr val="2C6B8A"/>
          </a:solidFill>
          <a:ln w="12700">
            <a:solidFill>
              <a:srgbClr val="2C6B8A"/>
            </a:solidFill>
            <a:prstDash val="solid"/>
          </a:ln>
        </p:spPr>
      </p:sp>
      <p:sp>
        <p:nvSpPr>
          <p:cNvPr id="16" name="Text 14"/>
          <p:cNvSpPr/>
          <p:nvPr/>
        </p:nvSpPr>
        <p:spPr>
          <a:xfrm>
            <a:off x="457200" y="3639312"/>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17" name="Text 15"/>
          <p:cNvSpPr/>
          <p:nvPr/>
        </p:nvSpPr>
        <p:spPr>
          <a:xfrm>
            <a:off x="950976" y="3602736"/>
            <a:ext cx="3657600" cy="457200"/>
          </a:xfrm>
          <a:prstGeom prst="rect">
            <a:avLst/>
          </a:prstGeom>
          <a:noFill/>
          <a:ln/>
        </p:spPr>
        <p:txBody>
          <a:bodyPr wrap="square" lIns="0" tIns="0" rIns="0" bIns="0" rtlCol="0" anchor="ctr"/>
          <a:lstStyle/>
          <a:p>
            <a:pPr indent="0" marL="0">
              <a:buNone/>
            </a:pPr>
            <a:r>
              <a:rPr lang="en-US" sz="1350" dirty="0">
                <a:solidFill>
                  <a:srgbClr val="2A2A2A"/>
                </a:solidFill>
                <a:latin typeface="Calibri" pitchFamily="34" charset="0"/>
                <a:ea typeface="Calibri" pitchFamily="34" charset="-122"/>
                <a:cs typeface="Calibri" pitchFamily="34" charset="-120"/>
              </a:rPr>
              <a:t>CNN from Scratch — Architecture</a:t>
            </a:r>
            <a:endParaRPr lang="en-US" sz="1350" dirty="0"/>
          </a:p>
        </p:txBody>
      </p:sp>
      <p:sp>
        <p:nvSpPr>
          <p:cNvPr id="18" name="Shape 16"/>
          <p:cNvSpPr/>
          <p:nvPr/>
        </p:nvSpPr>
        <p:spPr>
          <a:xfrm>
            <a:off x="457200" y="4288536"/>
            <a:ext cx="384048" cy="384048"/>
          </a:xfrm>
          <a:prstGeom prst="ellipse">
            <a:avLst/>
          </a:prstGeom>
          <a:solidFill>
            <a:srgbClr val="2C6B8A"/>
          </a:solidFill>
          <a:ln w="12700">
            <a:solidFill>
              <a:srgbClr val="2C6B8A"/>
            </a:solidFill>
            <a:prstDash val="solid"/>
          </a:ln>
        </p:spPr>
      </p:sp>
      <p:sp>
        <p:nvSpPr>
          <p:cNvPr id="19" name="Text 17"/>
          <p:cNvSpPr/>
          <p:nvPr/>
        </p:nvSpPr>
        <p:spPr>
          <a:xfrm>
            <a:off x="457200" y="4288536"/>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sp>
        <p:nvSpPr>
          <p:cNvPr id="20" name="Text 18"/>
          <p:cNvSpPr/>
          <p:nvPr/>
        </p:nvSpPr>
        <p:spPr>
          <a:xfrm>
            <a:off x="950976" y="4251960"/>
            <a:ext cx="3657600" cy="457200"/>
          </a:xfrm>
          <a:prstGeom prst="rect">
            <a:avLst/>
          </a:prstGeom>
          <a:noFill/>
          <a:ln/>
        </p:spPr>
        <p:txBody>
          <a:bodyPr wrap="square" lIns="0" tIns="0" rIns="0" bIns="0" rtlCol="0" anchor="ctr"/>
          <a:lstStyle/>
          <a:p>
            <a:pPr indent="0" marL="0">
              <a:buNone/>
            </a:pPr>
            <a:r>
              <a:rPr lang="en-US" sz="1350" dirty="0">
                <a:solidFill>
                  <a:srgbClr val="2A2A2A"/>
                </a:solidFill>
                <a:latin typeface="Calibri" pitchFamily="34" charset="0"/>
                <a:ea typeface="Calibri" pitchFamily="34" charset="-122"/>
                <a:cs typeface="Calibri" pitchFamily="34" charset="-120"/>
              </a:rPr>
              <a:t>Transfer Learning with VGG16</a:t>
            </a:r>
            <a:endParaRPr lang="en-US" sz="1350" dirty="0"/>
          </a:p>
        </p:txBody>
      </p:sp>
      <p:sp>
        <p:nvSpPr>
          <p:cNvPr id="21" name="Shape 19"/>
          <p:cNvSpPr/>
          <p:nvPr/>
        </p:nvSpPr>
        <p:spPr>
          <a:xfrm>
            <a:off x="4846320" y="1042416"/>
            <a:ext cx="384048" cy="384048"/>
          </a:xfrm>
          <a:prstGeom prst="ellipse">
            <a:avLst/>
          </a:prstGeom>
          <a:solidFill>
            <a:srgbClr val="2C6B8A"/>
          </a:solidFill>
          <a:ln w="12700">
            <a:solidFill>
              <a:srgbClr val="2C6B8A"/>
            </a:solidFill>
            <a:prstDash val="solid"/>
          </a:ln>
        </p:spPr>
      </p:sp>
      <p:sp>
        <p:nvSpPr>
          <p:cNvPr id="22" name="Text 20"/>
          <p:cNvSpPr/>
          <p:nvPr/>
        </p:nvSpPr>
        <p:spPr>
          <a:xfrm>
            <a:off x="4846320" y="1042416"/>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07</a:t>
            </a:r>
            <a:endParaRPr lang="en-US" sz="1000" dirty="0"/>
          </a:p>
        </p:txBody>
      </p:sp>
      <p:sp>
        <p:nvSpPr>
          <p:cNvPr id="23" name="Text 21"/>
          <p:cNvSpPr/>
          <p:nvPr/>
        </p:nvSpPr>
        <p:spPr>
          <a:xfrm>
            <a:off x="5340096" y="1005840"/>
            <a:ext cx="3657600" cy="457200"/>
          </a:xfrm>
          <a:prstGeom prst="rect">
            <a:avLst/>
          </a:prstGeom>
          <a:noFill/>
          <a:ln/>
        </p:spPr>
        <p:txBody>
          <a:bodyPr wrap="square" lIns="0" tIns="0" rIns="0" bIns="0" rtlCol="0" anchor="ctr"/>
          <a:lstStyle/>
          <a:p>
            <a:pPr indent="0" marL="0">
              <a:buNone/>
            </a:pPr>
            <a:r>
              <a:rPr lang="en-US" sz="1350" dirty="0">
                <a:solidFill>
                  <a:srgbClr val="2A2A2A"/>
                </a:solidFill>
                <a:latin typeface="Calibri" pitchFamily="34" charset="0"/>
                <a:ea typeface="Calibri" pitchFamily="34" charset="-122"/>
                <a:cs typeface="Calibri" pitchFamily="34" charset="-120"/>
              </a:rPr>
              <a:t>Bottleneck Feature Extraction</a:t>
            </a:r>
            <a:endParaRPr lang="en-US" sz="1350" dirty="0"/>
          </a:p>
        </p:txBody>
      </p:sp>
      <p:sp>
        <p:nvSpPr>
          <p:cNvPr id="24" name="Shape 22"/>
          <p:cNvSpPr/>
          <p:nvPr/>
        </p:nvSpPr>
        <p:spPr>
          <a:xfrm>
            <a:off x="4846320" y="1691640"/>
            <a:ext cx="384048" cy="384048"/>
          </a:xfrm>
          <a:prstGeom prst="ellipse">
            <a:avLst/>
          </a:prstGeom>
          <a:solidFill>
            <a:srgbClr val="2C6B8A"/>
          </a:solidFill>
          <a:ln w="12700">
            <a:solidFill>
              <a:srgbClr val="2C6B8A"/>
            </a:solidFill>
            <a:prstDash val="solid"/>
          </a:ln>
        </p:spPr>
      </p:sp>
      <p:sp>
        <p:nvSpPr>
          <p:cNvPr id="25" name="Text 23"/>
          <p:cNvSpPr/>
          <p:nvPr/>
        </p:nvSpPr>
        <p:spPr>
          <a:xfrm>
            <a:off x="4846320" y="169164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08</a:t>
            </a:r>
            <a:endParaRPr lang="en-US" sz="1000" dirty="0"/>
          </a:p>
        </p:txBody>
      </p:sp>
      <p:sp>
        <p:nvSpPr>
          <p:cNvPr id="26" name="Text 24"/>
          <p:cNvSpPr/>
          <p:nvPr/>
        </p:nvSpPr>
        <p:spPr>
          <a:xfrm>
            <a:off x="5340096" y="1655064"/>
            <a:ext cx="3657600" cy="457200"/>
          </a:xfrm>
          <a:prstGeom prst="rect">
            <a:avLst/>
          </a:prstGeom>
          <a:noFill/>
          <a:ln/>
        </p:spPr>
        <p:txBody>
          <a:bodyPr wrap="square" lIns="0" tIns="0" rIns="0" bIns="0" rtlCol="0" anchor="ctr"/>
          <a:lstStyle/>
          <a:p>
            <a:pPr indent="0" marL="0">
              <a:buNone/>
            </a:pPr>
            <a:r>
              <a:rPr lang="en-US" sz="1350" dirty="0">
                <a:solidFill>
                  <a:srgbClr val="2A2A2A"/>
                </a:solidFill>
                <a:latin typeface="Calibri" pitchFamily="34" charset="0"/>
                <a:ea typeface="Calibri" pitchFamily="34" charset="-122"/>
                <a:cs typeface="Calibri" pitchFamily="34" charset="-120"/>
              </a:rPr>
              <a:t>Model Fine-Tuning</a:t>
            </a:r>
            <a:endParaRPr lang="en-US" sz="1350" dirty="0"/>
          </a:p>
        </p:txBody>
      </p:sp>
      <p:sp>
        <p:nvSpPr>
          <p:cNvPr id="27" name="Shape 25"/>
          <p:cNvSpPr/>
          <p:nvPr/>
        </p:nvSpPr>
        <p:spPr>
          <a:xfrm>
            <a:off x="4846320" y="2340864"/>
            <a:ext cx="384048" cy="384048"/>
          </a:xfrm>
          <a:prstGeom prst="ellipse">
            <a:avLst/>
          </a:prstGeom>
          <a:solidFill>
            <a:srgbClr val="2C6B8A"/>
          </a:solidFill>
          <a:ln w="12700">
            <a:solidFill>
              <a:srgbClr val="2C6B8A"/>
            </a:solidFill>
            <a:prstDash val="solid"/>
          </a:ln>
        </p:spPr>
      </p:sp>
      <p:sp>
        <p:nvSpPr>
          <p:cNvPr id="28" name="Text 26"/>
          <p:cNvSpPr/>
          <p:nvPr/>
        </p:nvSpPr>
        <p:spPr>
          <a:xfrm>
            <a:off x="4846320" y="2340864"/>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09</a:t>
            </a:r>
            <a:endParaRPr lang="en-US" sz="1000" dirty="0"/>
          </a:p>
        </p:txBody>
      </p:sp>
      <p:sp>
        <p:nvSpPr>
          <p:cNvPr id="29" name="Text 27"/>
          <p:cNvSpPr/>
          <p:nvPr/>
        </p:nvSpPr>
        <p:spPr>
          <a:xfrm>
            <a:off x="5340096" y="2304288"/>
            <a:ext cx="3657600" cy="457200"/>
          </a:xfrm>
          <a:prstGeom prst="rect">
            <a:avLst/>
          </a:prstGeom>
          <a:noFill/>
          <a:ln/>
        </p:spPr>
        <p:txBody>
          <a:bodyPr wrap="square" lIns="0" tIns="0" rIns="0" bIns="0" rtlCol="0" anchor="ctr"/>
          <a:lstStyle/>
          <a:p>
            <a:pPr indent="0" marL="0">
              <a:buNone/>
            </a:pPr>
            <a:r>
              <a:rPr lang="en-US" sz="1350" dirty="0">
                <a:solidFill>
                  <a:srgbClr val="2A2A2A"/>
                </a:solidFill>
                <a:latin typeface="Calibri" pitchFamily="34" charset="0"/>
                <a:ea typeface="Calibri" pitchFamily="34" charset="-122"/>
                <a:cs typeface="Calibri" pitchFamily="34" charset="-120"/>
              </a:rPr>
              <a:t>Kaggle Competition &amp; Results</a:t>
            </a:r>
            <a:endParaRPr lang="en-US" sz="1350" dirty="0"/>
          </a:p>
        </p:txBody>
      </p:sp>
      <p:sp>
        <p:nvSpPr>
          <p:cNvPr id="30" name="Shape 28"/>
          <p:cNvSpPr/>
          <p:nvPr/>
        </p:nvSpPr>
        <p:spPr>
          <a:xfrm>
            <a:off x="4846320" y="2990088"/>
            <a:ext cx="384048" cy="384048"/>
          </a:xfrm>
          <a:prstGeom prst="ellipse">
            <a:avLst/>
          </a:prstGeom>
          <a:solidFill>
            <a:srgbClr val="2C6B8A"/>
          </a:solidFill>
          <a:ln w="12700">
            <a:solidFill>
              <a:srgbClr val="2C6B8A"/>
            </a:solidFill>
            <a:prstDash val="solid"/>
          </a:ln>
        </p:spPr>
      </p:sp>
      <p:sp>
        <p:nvSpPr>
          <p:cNvPr id="31" name="Text 29"/>
          <p:cNvSpPr/>
          <p:nvPr/>
        </p:nvSpPr>
        <p:spPr>
          <a:xfrm>
            <a:off x="4846320" y="2990088"/>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32" name="Text 30"/>
          <p:cNvSpPr/>
          <p:nvPr/>
        </p:nvSpPr>
        <p:spPr>
          <a:xfrm>
            <a:off x="5340096" y="2953512"/>
            <a:ext cx="3657600" cy="457200"/>
          </a:xfrm>
          <a:prstGeom prst="rect">
            <a:avLst/>
          </a:prstGeom>
          <a:noFill/>
          <a:ln/>
        </p:spPr>
        <p:txBody>
          <a:bodyPr wrap="square" lIns="0" tIns="0" rIns="0" bIns="0" rtlCol="0" anchor="ctr"/>
          <a:lstStyle/>
          <a:p>
            <a:pPr indent="0" marL="0">
              <a:buNone/>
            </a:pPr>
            <a:r>
              <a:rPr lang="en-US" sz="1350" dirty="0">
                <a:solidFill>
                  <a:srgbClr val="2A2A2A"/>
                </a:solidFill>
                <a:latin typeface="Calibri" pitchFamily="34" charset="0"/>
                <a:ea typeface="Calibri" pitchFamily="34" charset="-122"/>
                <a:cs typeface="Calibri" pitchFamily="34" charset="-120"/>
              </a:rPr>
              <a:t>Performance Comparison</a:t>
            </a:r>
            <a:endParaRPr lang="en-US" sz="1350" dirty="0"/>
          </a:p>
        </p:txBody>
      </p:sp>
      <p:sp>
        <p:nvSpPr>
          <p:cNvPr id="33" name="Shape 31"/>
          <p:cNvSpPr/>
          <p:nvPr/>
        </p:nvSpPr>
        <p:spPr>
          <a:xfrm>
            <a:off x="4846320" y="3639312"/>
            <a:ext cx="384048" cy="384048"/>
          </a:xfrm>
          <a:prstGeom prst="ellipse">
            <a:avLst/>
          </a:prstGeom>
          <a:solidFill>
            <a:srgbClr val="2C6B8A"/>
          </a:solidFill>
          <a:ln w="12700">
            <a:solidFill>
              <a:srgbClr val="2C6B8A"/>
            </a:solidFill>
            <a:prstDash val="solid"/>
          </a:ln>
        </p:spPr>
      </p:sp>
      <p:sp>
        <p:nvSpPr>
          <p:cNvPr id="34" name="Text 32"/>
          <p:cNvSpPr/>
          <p:nvPr/>
        </p:nvSpPr>
        <p:spPr>
          <a:xfrm>
            <a:off x="4846320" y="3639312"/>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35" name="Text 33"/>
          <p:cNvSpPr/>
          <p:nvPr/>
        </p:nvSpPr>
        <p:spPr>
          <a:xfrm>
            <a:off x="5340096" y="3602736"/>
            <a:ext cx="3657600" cy="457200"/>
          </a:xfrm>
          <a:prstGeom prst="rect">
            <a:avLst/>
          </a:prstGeom>
          <a:noFill/>
          <a:ln/>
        </p:spPr>
        <p:txBody>
          <a:bodyPr wrap="square" lIns="0" tIns="0" rIns="0" bIns="0" rtlCol="0" anchor="ctr"/>
          <a:lstStyle/>
          <a:p>
            <a:pPr indent="0" marL="0">
              <a:buNone/>
            </a:pPr>
            <a:r>
              <a:rPr lang="en-US" sz="1350" dirty="0">
                <a:solidFill>
                  <a:srgbClr val="2A2A2A"/>
                </a:solidFill>
                <a:latin typeface="Calibri" pitchFamily="34" charset="0"/>
                <a:ea typeface="Calibri" pitchFamily="34" charset="-122"/>
                <a:cs typeface="Calibri" pitchFamily="34" charset="-120"/>
              </a:rPr>
              <a:t>Summary &amp; Conclusion</a:t>
            </a:r>
            <a:endParaRPr lang="en-US" sz="1350" dirty="0"/>
          </a:p>
        </p:txBody>
      </p:sp>
      <p:sp>
        <p:nvSpPr>
          <p:cNvPr id="36" name="Shape 34"/>
          <p:cNvSpPr/>
          <p:nvPr/>
        </p:nvSpPr>
        <p:spPr>
          <a:xfrm>
            <a:off x="4846320" y="4288536"/>
            <a:ext cx="384048" cy="384048"/>
          </a:xfrm>
          <a:prstGeom prst="ellipse">
            <a:avLst/>
          </a:prstGeom>
          <a:solidFill>
            <a:srgbClr val="2C6B8A"/>
          </a:solidFill>
          <a:ln w="12700">
            <a:solidFill>
              <a:srgbClr val="2C6B8A"/>
            </a:solidFill>
            <a:prstDash val="solid"/>
          </a:ln>
        </p:spPr>
      </p:sp>
      <p:sp>
        <p:nvSpPr>
          <p:cNvPr id="37" name="Text 35"/>
          <p:cNvSpPr/>
          <p:nvPr/>
        </p:nvSpPr>
        <p:spPr>
          <a:xfrm>
            <a:off x="4846320" y="4288536"/>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
        <p:nvSpPr>
          <p:cNvPr id="38" name="Text 36"/>
          <p:cNvSpPr/>
          <p:nvPr/>
        </p:nvSpPr>
        <p:spPr>
          <a:xfrm>
            <a:off x="5340096" y="4251960"/>
            <a:ext cx="3657600" cy="457200"/>
          </a:xfrm>
          <a:prstGeom prst="rect">
            <a:avLst/>
          </a:prstGeom>
          <a:noFill/>
          <a:ln/>
        </p:spPr>
        <p:txBody>
          <a:bodyPr wrap="square" lIns="0" tIns="0" rIns="0" bIns="0" rtlCol="0" anchor="ctr"/>
          <a:lstStyle/>
          <a:p>
            <a:pPr indent="0" marL="0">
              <a:buNone/>
            </a:pPr>
            <a:r>
              <a:rPr lang="en-US" sz="1350" dirty="0">
                <a:solidFill>
                  <a:srgbClr val="2A2A2A"/>
                </a:solidFill>
                <a:latin typeface="Calibri" pitchFamily="34" charset="0"/>
                <a:ea typeface="Calibri" pitchFamily="34" charset="-122"/>
                <a:cs typeface="Calibri" pitchFamily="34" charset="-120"/>
              </a:rPr>
              <a:t>References (APA)</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533"/>
          </a:solidFill>
          <a:ln w="12700">
            <a:solidFill>
              <a:srgbClr val="1E2533"/>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Introduction: The Problem</a:t>
            </a:r>
            <a:endParaRPr lang="en-US" sz="2600" dirty="0"/>
          </a:p>
        </p:txBody>
      </p:sp>
      <p:sp>
        <p:nvSpPr>
          <p:cNvPr id="4" name="Text 2"/>
          <p:cNvSpPr/>
          <p:nvPr/>
        </p:nvSpPr>
        <p:spPr>
          <a:xfrm>
            <a:off x="457200" y="960120"/>
            <a:ext cx="4754880" cy="402336"/>
          </a:xfrm>
          <a:prstGeom prst="rect">
            <a:avLst/>
          </a:prstGeom>
          <a:noFill/>
          <a:ln/>
        </p:spPr>
        <p:txBody>
          <a:bodyPr wrap="square" lIns="0" tIns="0" rIns="0" bIns="0" rtlCol="0" anchor="ctr"/>
          <a:lstStyle/>
          <a:p>
            <a:pPr indent="0" marL="0">
              <a:buNone/>
            </a:pPr>
            <a:r>
              <a:rPr lang="en-US" sz="1800" b="1" dirty="0">
                <a:solidFill>
                  <a:srgbClr val="2C6B8A"/>
                </a:solidFill>
                <a:latin typeface="Cambria" pitchFamily="34" charset="0"/>
                <a:ea typeface="Cambria" pitchFamily="34" charset="-122"/>
                <a:cs typeface="Cambria" pitchFamily="34" charset="-120"/>
              </a:rPr>
              <a:t>What is Distracted Driving?</a:t>
            </a:r>
            <a:endParaRPr lang="en-US" sz="1800" dirty="0"/>
          </a:p>
        </p:txBody>
      </p:sp>
      <p:sp>
        <p:nvSpPr>
          <p:cNvPr id="5" name="Text 3"/>
          <p:cNvSpPr/>
          <p:nvPr/>
        </p:nvSpPr>
        <p:spPr>
          <a:xfrm>
            <a:off x="457200" y="1444752"/>
            <a:ext cx="4663440" cy="1554480"/>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Distracted driving is one of the leading causes of road accidents worldwide. According to the CDC, approximately 3,000 people are killed annually in the United States due to distracted driving incidents.</a:t>
            </a:r>
            <a:endParaRPr lang="en-US" sz="1300" dirty="0"/>
          </a:p>
          <a:p>
            <a:pPr indent="0" marL="0">
              <a:buNone/>
            </a:pPr>
            <a:r>
              <a:rPr lang="en-US" sz="800" dirty="0">
                <a:solidFill>
                  <a:srgbClr val="2A2A2A"/>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2A2A2A"/>
                </a:solidFill>
                <a:latin typeface="Calibri" pitchFamily="34" charset="0"/>
                <a:ea typeface="Calibri" pitchFamily="34" charset="-122"/>
                <a:cs typeface="Calibri" pitchFamily="34" charset="-120"/>
              </a:rPr>
              <a:t>The State Farm Distracted Driver Detection challenge tasked participants with building a deep learning model to classify what a driver is doing from a single dashboard photograph — enabling automated real-time behavior monitoring.</a:t>
            </a:r>
            <a:endParaRPr lang="en-US" sz="1300" dirty="0"/>
          </a:p>
        </p:txBody>
      </p:sp>
      <p:sp>
        <p:nvSpPr>
          <p:cNvPr id="6" name="Text 4"/>
          <p:cNvSpPr/>
          <p:nvPr/>
        </p:nvSpPr>
        <p:spPr>
          <a:xfrm>
            <a:off x="457200" y="3063240"/>
            <a:ext cx="4754880" cy="365760"/>
          </a:xfrm>
          <a:prstGeom prst="rect">
            <a:avLst/>
          </a:prstGeom>
          <a:noFill/>
          <a:ln/>
        </p:spPr>
        <p:txBody>
          <a:bodyPr wrap="square" lIns="0" tIns="0" rIns="0" bIns="0" rtlCol="0" anchor="ctr"/>
          <a:lstStyle/>
          <a:p>
            <a:pPr indent="0" marL="0">
              <a:buNone/>
            </a:pPr>
            <a:r>
              <a:rPr lang="en-US" sz="1500" b="1" dirty="0">
                <a:solidFill>
                  <a:srgbClr val="2C6B8A"/>
                </a:solidFill>
                <a:latin typeface="Cambria" pitchFamily="34" charset="0"/>
                <a:ea typeface="Cambria" pitchFamily="34" charset="-122"/>
                <a:cs typeface="Cambria" pitchFamily="34" charset="-120"/>
              </a:rPr>
              <a:t>Project Goal</a:t>
            </a:r>
            <a:endParaRPr lang="en-US" sz="1500" dirty="0"/>
          </a:p>
        </p:txBody>
      </p:sp>
      <p:sp>
        <p:nvSpPr>
          <p:cNvPr id="7" name="Text 5"/>
          <p:cNvSpPr/>
          <p:nvPr/>
        </p:nvSpPr>
        <p:spPr>
          <a:xfrm>
            <a:off x="457200" y="3474720"/>
            <a:ext cx="4663440" cy="914400"/>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Design, train, and evaluate a Convolutional Neural Network that classifies driver behavior into one of 10 distinct categories from dashboard camera images, and submit predictions to the Kaggle leaderboard.</a:t>
            </a:r>
            <a:endParaRPr lang="en-US" sz="1300" dirty="0"/>
          </a:p>
        </p:txBody>
      </p:sp>
      <p:sp>
        <p:nvSpPr>
          <p:cNvPr id="8" name="Shape 6"/>
          <p:cNvSpPr/>
          <p:nvPr/>
        </p:nvSpPr>
        <p:spPr>
          <a:xfrm>
            <a:off x="5760720" y="960120"/>
            <a:ext cx="2926080" cy="11430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9" name="Shape 7"/>
          <p:cNvSpPr/>
          <p:nvPr/>
        </p:nvSpPr>
        <p:spPr>
          <a:xfrm>
            <a:off x="5760720" y="960120"/>
            <a:ext cx="109728" cy="1143000"/>
          </a:xfrm>
          <a:prstGeom prst="rect">
            <a:avLst/>
          </a:prstGeom>
          <a:solidFill>
            <a:srgbClr val="D4552A"/>
          </a:solidFill>
          <a:ln w="12700">
            <a:solidFill>
              <a:srgbClr val="D4552A"/>
            </a:solidFill>
            <a:prstDash val="solid"/>
          </a:ln>
        </p:spPr>
      </p:sp>
      <p:sp>
        <p:nvSpPr>
          <p:cNvPr id="10" name="Text 8"/>
          <p:cNvSpPr/>
          <p:nvPr/>
        </p:nvSpPr>
        <p:spPr>
          <a:xfrm>
            <a:off x="5943600" y="1051560"/>
            <a:ext cx="2743200" cy="548640"/>
          </a:xfrm>
          <a:prstGeom prst="rect">
            <a:avLst/>
          </a:prstGeom>
          <a:noFill/>
          <a:ln/>
        </p:spPr>
        <p:txBody>
          <a:bodyPr wrap="square" lIns="0" tIns="0" rIns="0" bIns="0" rtlCol="0" anchor="ctr"/>
          <a:lstStyle/>
          <a:p>
            <a:pPr indent="0" marL="0">
              <a:buNone/>
            </a:pPr>
            <a:r>
              <a:rPr lang="en-US" sz="3000" b="1" dirty="0">
                <a:solidFill>
                  <a:srgbClr val="1E2533"/>
                </a:solidFill>
                <a:latin typeface="Cambria" pitchFamily="34" charset="0"/>
                <a:ea typeface="Cambria" pitchFamily="34" charset="-122"/>
                <a:cs typeface="Cambria" pitchFamily="34" charset="-120"/>
              </a:rPr>
              <a:t>3,000+</a:t>
            </a:r>
            <a:endParaRPr lang="en-US" sz="3000" dirty="0"/>
          </a:p>
        </p:txBody>
      </p:sp>
      <p:sp>
        <p:nvSpPr>
          <p:cNvPr id="11" name="Text 9"/>
          <p:cNvSpPr/>
          <p:nvPr/>
        </p:nvSpPr>
        <p:spPr>
          <a:xfrm>
            <a:off x="5943600" y="1600200"/>
            <a:ext cx="2651760" cy="438912"/>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Annual US deaths from</a:t>
            </a:r>
            <a:endParaRPr lang="en-US" sz="1100" dirty="0"/>
          </a:p>
          <a:p>
            <a:pPr indent="0" marL="0">
              <a:buNone/>
            </a:pPr>
            <a:r>
              <a:rPr lang="en-US" sz="1100" dirty="0">
                <a:solidFill>
                  <a:srgbClr val="6B7280"/>
                </a:solidFill>
                <a:latin typeface="Calibri" pitchFamily="34" charset="0"/>
                <a:ea typeface="Calibri" pitchFamily="34" charset="-122"/>
                <a:cs typeface="Calibri" pitchFamily="34" charset="-120"/>
              </a:rPr>
              <a:t>distracted driving (CDC)</a:t>
            </a:r>
            <a:endParaRPr lang="en-US" sz="1100" dirty="0"/>
          </a:p>
        </p:txBody>
      </p:sp>
      <p:sp>
        <p:nvSpPr>
          <p:cNvPr id="12" name="Shape 10"/>
          <p:cNvSpPr/>
          <p:nvPr/>
        </p:nvSpPr>
        <p:spPr>
          <a:xfrm>
            <a:off x="5760720" y="2313432"/>
            <a:ext cx="2926080" cy="11430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3" name="Shape 11"/>
          <p:cNvSpPr/>
          <p:nvPr/>
        </p:nvSpPr>
        <p:spPr>
          <a:xfrm>
            <a:off x="5760720" y="2313432"/>
            <a:ext cx="109728" cy="1143000"/>
          </a:xfrm>
          <a:prstGeom prst="rect">
            <a:avLst/>
          </a:prstGeom>
          <a:solidFill>
            <a:srgbClr val="D4552A"/>
          </a:solidFill>
          <a:ln w="12700">
            <a:solidFill>
              <a:srgbClr val="D4552A"/>
            </a:solidFill>
            <a:prstDash val="solid"/>
          </a:ln>
        </p:spPr>
      </p:sp>
      <p:sp>
        <p:nvSpPr>
          <p:cNvPr id="14" name="Text 12"/>
          <p:cNvSpPr/>
          <p:nvPr/>
        </p:nvSpPr>
        <p:spPr>
          <a:xfrm>
            <a:off x="5943600" y="2404872"/>
            <a:ext cx="2743200" cy="548640"/>
          </a:xfrm>
          <a:prstGeom prst="rect">
            <a:avLst/>
          </a:prstGeom>
          <a:noFill/>
          <a:ln/>
        </p:spPr>
        <p:txBody>
          <a:bodyPr wrap="square" lIns="0" tIns="0" rIns="0" bIns="0" rtlCol="0" anchor="ctr"/>
          <a:lstStyle/>
          <a:p>
            <a:pPr indent="0" marL="0">
              <a:buNone/>
            </a:pPr>
            <a:r>
              <a:rPr lang="en-US" sz="3000" b="1" dirty="0">
                <a:solidFill>
                  <a:srgbClr val="1E2533"/>
                </a:solidFill>
                <a:latin typeface="Cambria" pitchFamily="34" charset="0"/>
                <a:ea typeface="Cambria" pitchFamily="34" charset="-122"/>
                <a:cs typeface="Cambria" pitchFamily="34" charset="-120"/>
              </a:rPr>
              <a:t>10</a:t>
            </a:r>
            <a:endParaRPr lang="en-US" sz="3000" dirty="0"/>
          </a:p>
        </p:txBody>
      </p:sp>
      <p:sp>
        <p:nvSpPr>
          <p:cNvPr id="15" name="Text 13"/>
          <p:cNvSpPr/>
          <p:nvPr/>
        </p:nvSpPr>
        <p:spPr>
          <a:xfrm>
            <a:off x="5943600" y="2953512"/>
            <a:ext cx="2651760" cy="438912"/>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Driver behavior classes</a:t>
            </a:r>
            <a:endParaRPr lang="en-US" sz="1100" dirty="0"/>
          </a:p>
          <a:p>
            <a:pPr indent="0" marL="0">
              <a:buNone/>
            </a:pPr>
            <a:r>
              <a:rPr lang="en-US" sz="1100" dirty="0">
                <a:solidFill>
                  <a:srgbClr val="6B7280"/>
                </a:solidFill>
                <a:latin typeface="Calibri" pitchFamily="34" charset="0"/>
                <a:ea typeface="Calibri" pitchFamily="34" charset="-122"/>
                <a:cs typeface="Calibri" pitchFamily="34" charset="-120"/>
              </a:rPr>
              <a:t>in this dataset</a:t>
            </a:r>
            <a:endParaRPr lang="en-US" sz="1100" dirty="0"/>
          </a:p>
        </p:txBody>
      </p:sp>
      <p:sp>
        <p:nvSpPr>
          <p:cNvPr id="16" name="Shape 14"/>
          <p:cNvSpPr/>
          <p:nvPr/>
        </p:nvSpPr>
        <p:spPr>
          <a:xfrm>
            <a:off x="5760720" y="3666744"/>
            <a:ext cx="2926080" cy="11430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7" name="Shape 15"/>
          <p:cNvSpPr/>
          <p:nvPr/>
        </p:nvSpPr>
        <p:spPr>
          <a:xfrm>
            <a:off x="5760720" y="3666744"/>
            <a:ext cx="109728" cy="1143000"/>
          </a:xfrm>
          <a:prstGeom prst="rect">
            <a:avLst/>
          </a:prstGeom>
          <a:solidFill>
            <a:srgbClr val="D4552A"/>
          </a:solidFill>
          <a:ln w="12700">
            <a:solidFill>
              <a:srgbClr val="D4552A"/>
            </a:solidFill>
            <a:prstDash val="solid"/>
          </a:ln>
        </p:spPr>
      </p:sp>
      <p:sp>
        <p:nvSpPr>
          <p:cNvPr id="18" name="Text 16"/>
          <p:cNvSpPr/>
          <p:nvPr/>
        </p:nvSpPr>
        <p:spPr>
          <a:xfrm>
            <a:off x="5943600" y="3758184"/>
            <a:ext cx="2743200" cy="548640"/>
          </a:xfrm>
          <a:prstGeom prst="rect">
            <a:avLst/>
          </a:prstGeom>
          <a:noFill/>
          <a:ln/>
        </p:spPr>
        <p:txBody>
          <a:bodyPr wrap="square" lIns="0" tIns="0" rIns="0" bIns="0" rtlCol="0" anchor="ctr"/>
          <a:lstStyle/>
          <a:p>
            <a:pPr indent="0" marL="0">
              <a:buNone/>
            </a:pPr>
            <a:r>
              <a:rPr lang="en-US" sz="3000" b="1" dirty="0">
                <a:solidFill>
                  <a:srgbClr val="1E2533"/>
                </a:solidFill>
                <a:latin typeface="Cambria" pitchFamily="34" charset="0"/>
                <a:ea typeface="Cambria" pitchFamily="34" charset="-122"/>
                <a:cs typeface="Cambria" pitchFamily="34" charset="-120"/>
              </a:rPr>
              <a:t>102,150</a:t>
            </a:r>
            <a:endParaRPr lang="en-US" sz="3000" dirty="0"/>
          </a:p>
        </p:txBody>
      </p:sp>
      <p:sp>
        <p:nvSpPr>
          <p:cNvPr id="19" name="Text 17"/>
          <p:cNvSpPr/>
          <p:nvPr/>
        </p:nvSpPr>
        <p:spPr>
          <a:xfrm>
            <a:off x="5943600" y="4306824"/>
            <a:ext cx="2651760" cy="438912"/>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Total dashboard</a:t>
            </a:r>
            <a:endParaRPr lang="en-US" sz="1100" dirty="0"/>
          </a:p>
          <a:p>
            <a:pPr indent="0" marL="0">
              <a:buNone/>
            </a:pPr>
            <a:r>
              <a:rPr lang="en-US" sz="1100" dirty="0">
                <a:solidFill>
                  <a:srgbClr val="6B7280"/>
                </a:solidFill>
                <a:latin typeface="Calibri" pitchFamily="34" charset="0"/>
                <a:ea typeface="Calibri" pitchFamily="34" charset="-122"/>
                <a:cs typeface="Calibri" pitchFamily="34" charset="-120"/>
              </a:rPr>
              <a:t>camera images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533"/>
          </a:solidFill>
          <a:ln w="12700">
            <a:solidFill>
              <a:srgbClr val="1E2533"/>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Dataset Overview</a:t>
            </a:r>
            <a:endParaRPr lang="en-US" sz="2600" dirty="0"/>
          </a:p>
        </p:txBody>
      </p:sp>
      <p:sp>
        <p:nvSpPr>
          <p:cNvPr id="4" name="Text 2"/>
          <p:cNvSpPr/>
          <p:nvPr/>
        </p:nvSpPr>
        <p:spPr>
          <a:xfrm>
            <a:off x="457200" y="960120"/>
            <a:ext cx="4572000" cy="402336"/>
          </a:xfrm>
          <a:prstGeom prst="rect">
            <a:avLst/>
          </a:prstGeom>
          <a:noFill/>
          <a:ln/>
        </p:spPr>
        <p:txBody>
          <a:bodyPr wrap="square" lIns="0" tIns="0" rIns="0" bIns="0" rtlCol="0" anchor="ctr"/>
          <a:lstStyle/>
          <a:p>
            <a:pPr indent="0" marL="0">
              <a:buNone/>
            </a:pPr>
            <a:r>
              <a:rPr lang="en-US" sz="1700" b="1" dirty="0">
                <a:solidFill>
                  <a:srgbClr val="2C6B8A"/>
                </a:solidFill>
                <a:latin typeface="Cambria" pitchFamily="34" charset="0"/>
                <a:ea typeface="Cambria" pitchFamily="34" charset="-122"/>
                <a:cs typeface="Cambria" pitchFamily="34" charset="-120"/>
              </a:rPr>
              <a:t>State Farm Distracted Driver Dataset</a:t>
            </a:r>
            <a:endParaRPr lang="en-US" sz="1700" dirty="0"/>
          </a:p>
        </p:txBody>
      </p:sp>
      <p:sp>
        <p:nvSpPr>
          <p:cNvPr id="5" name="Shape 3"/>
          <p:cNvSpPr/>
          <p:nvPr/>
        </p:nvSpPr>
        <p:spPr>
          <a:xfrm>
            <a:off x="457200" y="1508760"/>
            <a:ext cx="118872" cy="118872"/>
          </a:xfrm>
          <a:prstGeom prst="ellipse">
            <a:avLst/>
          </a:prstGeom>
          <a:solidFill>
            <a:srgbClr val="D4552A"/>
          </a:solidFill>
          <a:ln w="12700">
            <a:solidFill>
              <a:srgbClr val="D4552A"/>
            </a:solidFill>
            <a:prstDash val="solid"/>
          </a:ln>
        </p:spPr>
      </p:sp>
      <p:sp>
        <p:nvSpPr>
          <p:cNvPr id="6" name="Text 4"/>
          <p:cNvSpPr/>
          <p:nvPr/>
        </p:nvSpPr>
        <p:spPr>
          <a:xfrm>
            <a:off x="667512" y="1463040"/>
            <a:ext cx="4297680" cy="347472"/>
          </a:xfrm>
          <a:prstGeom prst="rect">
            <a:avLst/>
          </a:prstGeom>
          <a:noFill/>
          <a:ln/>
        </p:spPr>
        <p:txBody>
          <a:bodyPr wrap="square" lIns="0" tIns="0" rIns="0" bIns="0" rtlCol="0" anchor="ctr"/>
          <a:lstStyle/>
          <a:p>
            <a:pPr indent="0" marL="0">
              <a:buNone/>
            </a:pPr>
            <a:r>
              <a:rPr lang="en-US" sz="1200" dirty="0">
                <a:solidFill>
                  <a:srgbClr val="2A2A2A"/>
                </a:solidFill>
                <a:latin typeface="Calibri" pitchFamily="34" charset="0"/>
                <a:ea typeface="Calibri" pitchFamily="34" charset="-122"/>
                <a:cs typeface="Calibri" pitchFamily="34" charset="-120"/>
              </a:rPr>
              <a:t>Source: Kaggle — State Farm Distracted Driver Detection</a:t>
            </a:r>
            <a:endParaRPr lang="en-US" sz="1200" dirty="0"/>
          </a:p>
        </p:txBody>
      </p:sp>
      <p:sp>
        <p:nvSpPr>
          <p:cNvPr id="7" name="Shape 5"/>
          <p:cNvSpPr/>
          <p:nvPr/>
        </p:nvSpPr>
        <p:spPr>
          <a:xfrm>
            <a:off x="457200" y="1911096"/>
            <a:ext cx="118872" cy="118872"/>
          </a:xfrm>
          <a:prstGeom prst="ellipse">
            <a:avLst/>
          </a:prstGeom>
          <a:solidFill>
            <a:srgbClr val="D4552A"/>
          </a:solidFill>
          <a:ln w="12700">
            <a:solidFill>
              <a:srgbClr val="D4552A"/>
            </a:solidFill>
            <a:prstDash val="solid"/>
          </a:ln>
        </p:spPr>
      </p:sp>
      <p:sp>
        <p:nvSpPr>
          <p:cNvPr id="8" name="Text 6"/>
          <p:cNvSpPr/>
          <p:nvPr/>
        </p:nvSpPr>
        <p:spPr>
          <a:xfrm>
            <a:off x="667512" y="1865376"/>
            <a:ext cx="4297680" cy="347472"/>
          </a:xfrm>
          <a:prstGeom prst="rect">
            <a:avLst/>
          </a:prstGeom>
          <a:noFill/>
          <a:ln/>
        </p:spPr>
        <p:txBody>
          <a:bodyPr wrap="square" lIns="0" tIns="0" rIns="0" bIns="0" rtlCol="0" anchor="ctr"/>
          <a:lstStyle/>
          <a:p>
            <a:pPr indent="0" marL="0">
              <a:buNone/>
            </a:pPr>
            <a:r>
              <a:rPr lang="en-US" sz="1200" dirty="0">
                <a:solidFill>
                  <a:srgbClr val="2A2A2A"/>
                </a:solidFill>
                <a:latin typeface="Calibri" pitchFamily="34" charset="0"/>
                <a:ea typeface="Calibri" pitchFamily="34" charset="-122"/>
                <a:cs typeface="Calibri" pitchFamily="34" charset="-120"/>
              </a:rPr>
              <a:t>102,150 total dashboard camera images</a:t>
            </a:r>
            <a:endParaRPr lang="en-US" sz="1200" dirty="0"/>
          </a:p>
        </p:txBody>
      </p:sp>
      <p:sp>
        <p:nvSpPr>
          <p:cNvPr id="9" name="Shape 7"/>
          <p:cNvSpPr/>
          <p:nvPr/>
        </p:nvSpPr>
        <p:spPr>
          <a:xfrm>
            <a:off x="457200" y="2313432"/>
            <a:ext cx="118872" cy="118872"/>
          </a:xfrm>
          <a:prstGeom prst="ellipse">
            <a:avLst/>
          </a:prstGeom>
          <a:solidFill>
            <a:srgbClr val="D4552A"/>
          </a:solidFill>
          <a:ln w="12700">
            <a:solidFill>
              <a:srgbClr val="D4552A"/>
            </a:solidFill>
            <a:prstDash val="solid"/>
          </a:ln>
        </p:spPr>
      </p:sp>
      <p:sp>
        <p:nvSpPr>
          <p:cNvPr id="10" name="Text 8"/>
          <p:cNvSpPr/>
          <p:nvPr/>
        </p:nvSpPr>
        <p:spPr>
          <a:xfrm>
            <a:off x="667512" y="2267712"/>
            <a:ext cx="4297680" cy="347472"/>
          </a:xfrm>
          <a:prstGeom prst="rect">
            <a:avLst/>
          </a:prstGeom>
          <a:noFill/>
          <a:ln/>
        </p:spPr>
        <p:txBody>
          <a:bodyPr wrap="square" lIns="0" tIns="0" rIns="0" bIns="0" rtlCol="0" anchor="ctr"/>
          <a:lstStyle/>
          <a:p>
            <a:pPr indent="0" marL="0">
              <a:buNone/>
            </a:pPr>
            <a:r>
              <a:rPr lang="en-US" sz="1200" dirty="0">
                <a:solidFill>
                  <a:srgbClr val="2A2A2A"/>
                </a:solidFill>
                <a:latin typeface="Calibri" pitchFamily="34" charset="0"/>
                <a:ea typeface="Calibri" pitchFamily="34" charset="-122"/>
                <a:cs typeface="Calibri" pitchFamily="34" charset="-120"/>
              </a:rPr>
              <a:t>17,939 training images (80% train / 20% validation split)</a:t>
            </a:r>
            <a:endParaRPr lang="en-US" sz="1200" dirty="0"/>
          </a:p>
        </p:txBody>
      </p:sp>
      <p:sp>
        <p:nvSpPr>
          <p:cNvPr id="11" name="Shape 9"/>
          <p:cNvSpPr/>
          <p:nvPr/>
        </p:nvSpPr>
        <p:spPr>
          <a:xfrm>
            <a:off x="457200" y="2715768"/>
            <a:ext cx="118872" cy="118872"/>
          </a:xfrm>
          <a:prstGeom prst="ellipse">
            <a:avLst/>
          </a:prstGeom>
          <a:solidFill>
            <a:srgbClr val="D4552A"/>
          </a:solidFill>
          <a:ln w="12700">
            <a:solidFill>
              <a:srgbClr val="D4552A"/>
            </a:solidFill>
            <a:prstDash val="solid"/>
          </a:ln>
        </p:spPr>
      </p:sp>
      <p:sp>
        <p:nvSpPr>
          <p:cNvPr id="12" name="Text 10"/>
          <p:cNvSpPr/>
          <p:nvPr/>
        </p:nvSpPr>
        <p:spPr>
          <a:xfrm>
            <a:off x="667512" y="2670048"/>
            <a:ext cx="4297680" cy="347472"/>
          </a:xfrm>
          <a:prstGeom prst="rect">
            <a:avLst/>
          </a:prstGeom>
          <a:noFill/>
          <a:ln/>
        </p:spPr>
        <p:txBody>
          <a:bodyPr wrap="square" lIns="0" tIns="0" rIns="0" bIns="0" rtlCol="0" anchor="ctr"/>
          <a:lstStyle/>
          <a:p>
            <a:pPr indent="0" marL="0">
              <a:buNone/>
            </a:pPr>
            <a:r>
              <a:rPr lang="en-US" sz="1200" dirty="0">
                <a:solidFill>
                  <a:srgbClr val="2A2A2A"/>
                </a:solidFill>
                <a:latin typeface="Calibri" pitchFamily="34" charset="0"/>
                <a:ea typeface="Calibri" pitchFamily="34" charset="-122"/>
                <a:cs typeface="Calibri" pitchFamily="34" charset="-120"/>
              </a:rPr>
              <a:t>4,485 validation images for model evaluation</a:t>
            </a:r>
            <a:endParaRPr lang="en-US" sz="1200" dirty="0"/>
          </a:p>
        </p:txBody>
      </p:sp>
      <p:sp>
        <p:nvSpPr>
          <p:cNvPr id="13" name="Shape 11"/>
          <p:cNvSpPr/>
          <p:nvPr/>
        </p:nvSpPr>
        <p:spPr>
          <a:xfrm>
            <a:off x="457200" y="3118104"/>
            <a:ext cx="118872" cy="118872"/>
          </a:xfrm>
          <a:prstGeom prst="ellipse">
            <a:avLst/>
          </a:prstGeom>
          <a:solidFill>
            <a:srgbClr val="D4552A"/>
          </a:solidFill>
          <a:ln w="12700">
            <a:solidFill>
              <a:srgbClr val="D4552A"/>
            </a:solidFill>
            <a:prstDash val="solid"/>
          </a:ln>
        </p:spPr>
      </p:sp>
      <p:sp>
        <p:nvSpPr>
          <p:cNvPr id="14" name="Text 12"/>
          <p:cNvSpPr/>
          <p:nvPr/>
        </p:nvSpPr>
        <p:spPr>
          <a:xfrm>
            <a:off x="667512" y="3072384"/>
            <a:ext cx="4297680" cy="347472"/>
          </a:xfrm>
          <a:prstGeom prst="rect">
            <a:avLst/>
          </a:prstGeom>
          <a:noFill/>
          <a:ln/>
        </p:spPr>
        <p:txBody>
          <a:bodyPr wrap="square" lIns="0" tIns="0" rIns="0" bIns="0" rtlCol="0" anchor="ctr"/>
          <a:lstStyle/>
          <a:p>
            <a:pPr indent="0" marL="0">
              <a:buNone/>
            </a:pPr>
            <a:r>
              <a:rPr lang="en-US" sz="1200" dirty="0">
                <a:solidFill>
                  <a:srgbClr val="2A2A2A"/>
                </a:solidFill>
                <a:latin typeface="Calibri" pitchFamily="34" charset="0"/>
                <a:ea typeface="Calibri" pitchFamily="34" charset="-122"/>
                <a:cs typeface="Calibri" pitchFamily="34" charset="-120"/>
              </a:rPr>
              <a:t>79,726 test images for Kaggle submission</a:t>
            </a:r>
            <a:endParaRPr lang="en-US" sz="1200" dirty="0"/>
          </a:p>
        </p:txBody>
      </p:sp>
      <p:sp>
        <p:nvSpPr>
          <p:cNvPr id="15" name="Shape 13"/>
          <p:cNvSpPr/>
          <p:nvPr/>
        </p:nvSpPr>
        <p:spPr>
          <a:xfrm>
            <a:off x="457200" y="3520440"/>
            <a:ext cx="118872" cy="118872"/>
          </a:xfrm>
          <a:prstGeom prst="ellipse">
            <a:avLst/>
          </a:prstGeom>
          <a:solidFill>
            <a:srgbClr val="D4552A"/>
          </a:solidFill>
          <a:ln w="12700">
            <a:solidFill>
              <a:srgbClr val="D4552A"/>
            </a:solidFill>
            <a:prstDash val="solid"/>
          </a:ln>
        </p:spPr>
      </p:sp>
      <p:sp>
        <p:nvSpPr>
          <p:cNvPr id="16" name="Text 14"/>
          <p:cNvSpPr/>
          <p:nvPr/>
        </p:nvSpPr>
        <p:spPr>
          <a:xfrm>
            <a:off x="667512" y="3474720"/>
            <a:ext cx="4297680" cy="347472"/>
          </a:xfrm>
          <a:prstGeom prst="rect">
            <a:avLst/>
          </a:prstGeom>
          <a:noFill/>
          <a:ln/>
        </p:spPr>
        <p:txBody>
          <a:bodyPr wrap="square" lIns="0" tIns="0" rIns="0" bIns="0" rtlCol="0" anchor="ctr"/>
          <a:lstStyle/>
          <a:p>
            <a:pPr indent="0" marL="0">
              <a:buNone/>
            </a:pPr>
            <a:r>
              <a:rPr lang="en-US" sz="1200" dirty="0">
                <a:solidFill>
                  <a:srgbClr val="2A2A2A"/>
                </a:solidFill>
                <a:latin typeface="Calibri" pitchFamily="34" charset="0"/>
                <a:ea typeface="Calibri" pitchFamily="34" charset="-122"/>
                <a:cs typeface="Calibri" pitchFamily="34" charset="-120"/>
              </a:rPr>
              <a:t>10 distinct behavior classes (C0 – C9)</a:t>
            </a:r>
            <a:endParaRPr lang="en-US" sz="1200" dirty="0"/>
          </a:p>
        </p:txBody>
      </p:sp>
      <p:sp>
        <p:nvSpPr>
          <p:cNvPr id="17" name="Shape 15"/>
          <p:cNvSpPr/>
          <p:nvPr/>
        </p:nvSpPr>
        <p:spPr>
          <a:xfrm>
            <a:off x="457200" y="3922776"/>
            <a:ext cx="118872" cy="118872"/>
          </a:xfrm>
          <a:prstGeom prst="ellipse">
            <a:avLst/>
          </a:prstGeom>
          <a:solidFill>
            <a:srgbClr val="D4552A"/>
          </a:solidFill>
          <a:ln w="12700">
            <a:solidFill>
              <a:srgbClr val="D4552A"/>
            </a:solidFill>
            <a:prstDash val="solid"/>
          </a:ln>
        </p:spPr>
      </p:sp>
      <p:sp>
        <p:nvSpPr>
          <p:cNvPr id="18" name="Text 16"/>
          <p:cNvSpPr/>
          <p:nvPr/>
        </p:nvSpPr>
        <p:spPr>
          <a:xfrm>
            <a:off x="667512" y="3877056"/>
            <a:ext cx="4297680" cy="347472"/>
          </a:xfrm>
          <a:prstGeom prst="rect">
            <a:avLst/>
          </a:prstGeom>
          <a:noFill/>
          <a:ln/>
        </p:spPr>
        <p:txBody>
          <a:bodyPr wrap="square" lIns="0" tIns="0" rIns="0" bIns="0" rtlCol="0" anchor="ctr"/>
          <a:lstStyle/>
          <a:p>
            <a:pPr indent="0" marL="0">
              <a:buNone/>
            </a:pPr>
            <a:r>
              <a:rPr lang="en-US" sz="1200" dirty="0">
                <a:solidFill>
                  <a:srgbClr val="2A2A2A"/>
                </a:solidFill>
                <a:latin typeface="Calibri" pitchFamily="34" charset="0"/>
                <a:ea typeface="Calibri" pitchFamily="34" charset="-122"/>
                <a:cs typeface="Calibri" pitchFamily="34" charset="-120"/>
              </a:rPr>
              <a:t>Full-color photographs, 640 × 480 resolution</a:t>
            </a:r>
            <a:endParaRPr lang="en-US" sz="1200" dirty="0"/>
          </a:p>
        </p:txBody>
      </p:sp>
      <p:sp>
        <p:nvSpPr>
          <p:cNvPr id="19" name="Shape 17"/>
          <p:cNvSpPr/>
          <p:nvPr/>
        </p:nvSpPr>
        <p:spPr>
          <a:xfrm>
            <a:off x="457200" y="4325112"/>
            <a:ext cx="118872" cy="118872"/>
          </a:xfrm>
          <a:prstGeom prst="ellipse">
            <a:avLst/>
          </a:prstGeom>
          <a:solidFill>
            <a:srgbClr val="D4552A"/>
          </a:solidFill>
          <a:ln w="12700">
            <a:solidFill>
              <a:srgbClr val="D4552A"/>
            </a:solidFill>
            <a:prstDash val="solid"/>
          </a:ln>
        </p:spPr>
      </p:sp>
      <p:sp>
        <p:nvSpPr>
          <p:cNvPr id="20" name="Text 18"/>
          <p:cNvSpPr/>
          <p:nvPr/>
        </p:nvSpPr>
        <p:spPr>
          <a:xfrm>
            <a:off x="667512" y="4279392"/>
            <a:ext cx="4297680" cy="347472"/>
          </a:xfrm>
          <a:prstGeom prst="rect">
            <a:avLst/>
          </a:prstGeom>
          <a:noFill/>
          <a:ln/>
        </p:spPr>
        <p:txBody>
          <a:bodyPr wrap="square" lIns="0" tIns="0" rIns="0" bIns="0" rtlCol="0" anchor="ctr"/>
          <a:lstStyle/>
          <a:p>
            <a:pPr indent="0" marL="0">
              <a:buNone/>
            </a:pPr>
            <a:r>
              <a:rPr lang="en-US" sz="1200" dirty="0">
                <a:solidFill>
                  <a:srgbClr val="2A2A2A"/>
                </a:solidFill>
                <a:latin typeface="Calibri" pitchFamily="34" charset="0"/>
                <a:ea typeface="Calibri" pitchFamily="34" charset="-122"/>
                <a:cs typeface="Calibri" pitchFamily="34" charset="-120"/>
              </a:rPr>
              <a:t>Multiple drivers per class to prevent identity overfitting</a:t>
            </a:r>
            <a:endParaRPr lang="en-US" sz="1200" dirty="0"/>
          </a:p>
        </p:txBody>
      </p:sp>
      <p:sp>
        <p:nvSpPr>
          <p:cNvPr id="21" name="Text 19"/>
          <p:cNvSpPr/>
          <p:nvPr/>
        </p:nvSpPr>
        <p:spPr>
          <a:xfrm>
            <a:off x="5394960" y="960120"/>
            <a:ext cx="3383280" cy="365760"/>
          </a:xfrm>
          <a:prstGeom prst="rect">
            <a:avLst/>
          </a:prstGeom>
          <a:noFill/>
          <a:ln/>
        </p:spPr>
        <p:txBody>
          <a:bodyPr wrap="square" lIns="0" tIns="0" rIns="0" bIns="0" rtlCol="0" anchor="ctr"/>
          <a:lstStyle/>
          <a:p>
            <a:pPr algn="ctr" indent="0" marL="0">
              <a:buNone/>
            </a:pPr>
            <a:r>
              <a:rPr lang="en-US" sz="1400" b="1" dirty="0">
                <a:solidFill>
                  <a:srgbClr val="2C6B8A"/>
                </a:solidFill>
                <a:latin typeface="Cambria" pitchFamily="34" charset="0"/>
                <a:ea typeface="Cambria" pitchFamily="34" charset="-122"/>
                <a:cs typeface="Cambria" pitchFamily="34" charset="-120"/>
              </a:rPr>
              <a:t>Images per Split</a:t>
            </a:r>
            <a:endParaRPr lang="en-US" sz="1400" dirty="0"/>
          </a:p>
        </p:txBody>
      </p:sp>
      <p:graphicFrame>
        <p:nvGraphicFramePr>
          <p:cNvPr id="22" name="Chart 0" descr=""/>
          <p:cNvGraphicFramePr/>
          <p:nvPr/>
        </p:nvGraphicFramePr>
        <p:xfrm>
          <a:off x="5212080" y="1371600"/>
          <a:ext cx="3749040" cy="35661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533"/>
          </a:solidFill>
          <a:ln w="12700">
            <a:solidFill>
              <a:srgbClr val="1E2533"/>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10 Driver Behavior Classes</a:t>
            </a:r>
            <a:endParaRPr lang="en-US" sz="2600" dirty="0"/>
          </a:p>
        </p:txBody>
      </p:sp>
      <p:sp>
        <p:nvSpPr>
          <p:cNvPr id="4" name="Shape 2"/>
          <p:cNvSpPr/>
          <p:nvPr/>
        </p:nvSpPr>
        <p:spPr>
          <a:xfrm>
            <a:off x="320040" y="914400"/>
            <a:ext cx="4160520" cy="713232"/>
          </a:xfrm>
          <a:prstGeom prst="rect">
            <a:avLst/>
          </a:prstGeom>
          <a:solidFill>
            <a:srgbClr val="FFFFFF"/>
          </a:solidFill>
          <a:ln/>
          <a:effectLst>
            <a:outerShdw sx="100000" sy="100000" kx="0" ky="0" algn="bl" rotWithShape="0" blurRad="63500" dist="12700" dir="8100000">
              <a:srgbClr val="000000">
                <a:alpha val="8000"/>
              </a:srgbClr>
            </a:outerShdw>
          </a:effectLst>
        </p:spPr>
      </p:sp>
      <p:sp>
        <p:nvSpPr>
          <p:cNvPr id="5" name="Shape 3"/>
          <p:cNvSpPr/>
          <p:nvPr/>
        </p:nvSpPr>
        <p:spPr>
          <a:xfrm>
            <a:off x="320040" y="914400"/>
            <a:ext cx="91440" cy="713232"/>
          </a:xfrm>
          <a:prstGeom prst="rect">
            <a:avLst/>
          </a:prstGeom>
          <a:solidFill>
            <a:srgbClr val="2C6B8A"/>
          </a:solidFill>
          <a:ln w="12700">
            <a:solidFill>
              <a:srgbClr val="2C6B8A"/>
            </a:solidFill>
            <a:prstDash val="solid"/>
          </a:ln>
        </p:spPr>
      </p:sp>
      <p:sp>
        <p:nvSpPr>
          <p:cNvPr id="6" name="Shape 4"/>
          <p:cNvSpPr/>
          <p:nvPr/>
        </p:nvSpPr>
        <p:spPr>
          <a:xfrm>
            <a:off x="484632" y="1042416"/>
            <a:ext cx="475488" cy="457200"/>
          </a:xfrm>
          <a:prstGeom prst="rect">
            <a:avLst/>
          </a:prstGeom>
          <a:solidFill>
            <a:srgbClr val="2C6B8A"/>
          </a:solidFill>
          <a:ln w="12700">
            <a:solidFill>
              <a:srgbClr val="2C6B8A"/>
            </a:solidFill>
            <a:prstDash val="solid"/>
          </a:ln>
        </p:spPr>
      </p:sp>
      <p:sp>
        <p:nvSpPr>
          <p:cNvPr id="7" name="Text 5"/>
          <p:cNvSpPr/>
          <p:nvPr/>
        </p:nvSpPr>
        <p:spPr>
          <a:xfrm>
            <a:off x="484632" y="1042416"/>
            <a:ext cx="47548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C0</a:t>
            </a:r>
            <a:endParaRPr lang="en-US" sz="1100" dirty="0"/>
          </a:p>
        </p:txBody>
      </p:sp>
      <p:sp>
        <p:nvSpPr>
          <p:cNvPr id="8" name="Text 6"/>
          <p:cNvSpPr/>
          <p:nvPr/>
        </p:nvSpPr>
        <p:spPr>
          <a:xfrm>
            <a:off x="1069848" y="969264"/>
            <a:ext cx="3291840" cy="292608"/>
          </a:xfrm>
          <a:prstGeom prst="rect">
            <a:avLst/>
          </a:prstGeom>
          <a:noFill/>
          <a:ln/>
        </p:spPr>
        <p:txBody>
          <a:bodyPr wrap="square" lIns="0" tIns="0" rIns="0" bIns="0" rtlCol="0" anchor="ctr"/>
          <a:lstStyle/>
          <a:p>
            <a:pPr indent="0" marL="0">
              <a:buNone/>
            </a:pPr>
            <a:r>
              <a:rPr lang="en-US" sz="1300" b="1" dirty="0">
                <a:solidFill>
                  <a:srgbClr val="2A2A2A"/>
                </a:solidFill>
                <a:latin typeface="Calibri" pitchFamily="34" charset="0"/>
                <a:ea typeface="Calibri" pitchFamily="34" charset="-122"/>
                <a:cs typeface="Calibri" pitchFamily="34" charset="-120"/>
              </a:rPr>
              <a:t>Safe Driving</a:t>
            </a:r>
            <a:endParaRPr lang="en-US" sz="1300" dirty="0"/>
          </a:p>
        </p:txBody>
      </p:sp>
      <p:sp>
        <p:nvSpPr>
          <p:cNvPr id="9" name="Text 7"/>
          <p:cNvSpPr/>
          <p:nvPr/>
        </p:nvSpPr>
        <p:spPr>
          <a:xfrm>
            <a:off x="1069848" y="1280160"/>
            <a:ext cx="3291840"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Hands on wheel, eyes on road — the correct baseline behavior</a:t>
            </a:r>
            <a:endParaRPr lang="en-US" sz="1050" dirty="0"/>
          </a:p>
        </p:txBody>
      </p:sp>
      <p:sp>
        <p:nvSpPr>
          <p:cNvPr id="10" name="Shape 8"/>
          <p:cNvSpPr/>
          <p:nvPr/>
        </p:nvSpPr>
        <p:spPr>
          <a:xfrm>
            <a:off x="4800600" y="914400"/>
            <a:ext cx="4160520" cy="713232"/>
          </a:xfrm>
          <a:prstGeom prst="rect">
            <a:avLst/>
          </a:prstGeom>
          <a:solidFill>
            <a:srgbClr val="FFFFFF"/>
          </a:solidFill>
          <a:ln/>
          <a:effectLst>
            <a:outerShdw sx="100000" sy="100000" kx="0" ky="0" algn="bl" rotWithShape="0" blurRad="63500" dist="12700" dir="8100000">
              <a:srgbClr val="000000">
                <a:alpha val="8000"/>
              </a:srgbClr>
            </a:outerShdw>
          </a:effectLst>
        </p:spPr>
      </p:sp>
      <p:sp>
        <p:nvSpPr>
          <p:cNvPr id="11" name="Shape 9"/>
          <p:cNvSpPr/>
          <p:nvPr/>
        </p:nvSpPr>
        <p:spPr>
          <a:xfrm>
            <a:off x="4800600" y="914400"/>
            <a:ext cx="91440" cy="713232"/>
          </a:xfrm>
          <a:prstGeom prst="rect">
            <a:avLst/>
          </a:prstGeom>
          <a:solidFill>
            <a:srgbClr val="D4552A"/>
          </a:solidFill>
          <a:ln w="12700">
            <a:solidFill>
              <a:srgbClr val="D4552A"/>
            </a:solidFill>
            <a:prstDash val="solid"/>
          </a:ln>
        </p:spPr>
      </p:sp>
      <p:sp>
        <p:nvSpPr>
          <p:cNvPr id="12" name="Shape 10"/>
          <p:cNvSpPr/>
          <p:nvPr/>
        </p:nvSpPr>
        <p:spPr>
          <a:xfrm>
            <a:off x="4965192" y="1042416"/>
            <a:ext cx="475488" cy="457200"/>
          </a:xfrm>
          <a:prstGeom prst="rect">
            <a:avLst/>
          </a:prstGeom>
          <a:solidFill>
            <a:srgbClr val="D4552A"/>
          </a:solidFill>
          <a:ln w="12700">
            <a:solidFill>
              <a:srgbClr val="D4552A"/>
            </a:solidFill>
            <a:prstDash val="solid"/>
          </a:ln>
        </p:spPr>
      </p:sp>
      <p:sp>
        <p:nvSpPr>
          <p:cNvPr id="13" name="Text 11"/>
          <p:cNvSpPr/>
          <p:nvPr/>
        </p:nvSpPr>
        <p:spPr>
          <a:xfrm>
            <a:off x="4965192" y="1042416"/>
            <a:ext cx="47548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C1</a:t>
            </a:r>
            <a:endParaRPr lang="en-US" sz="1100" dirty="0"/>
          </a:p>
        </p:txBody>
      </p:sp>
      <p:sp>
        <p:nvSpPr>
          <p:cNvPr id="14" name="Text 12"/>
          <p:cNvSpPr/>
          <p:nvPr/>
        </p:nvSpPr>
        <p:spPr>
          <a:xfrm>
            <a:off x="5550408" y="969264"/>
            <a:ext cx="3291840" cy="292608"/>
          </a:xfrm>
          <a:prstGeom prst="rect">
            <a:avLst/>
          </a:prstGeom>
          <a:noFill/>
          <a:ln/>
        </p:spPr>
        <p:txBody>
          <a:bodyPr wrap="square" lIns="0" tIns="0" rIns="0" bIns="0" rtlCol="0" anchor="ctr"/>
          <a:lstStyle/>
          <a:p>
            <a:pPr indent="0" marL="0">
              <a:buNone/>
            </a:pPr>
            <a:r>
              <a:rPr lang="en-US" sz="1300" b="1" dirty="0">
                <a:solidFill>
                  <a:srgbClr val="2A2A2A"/>
                </a:solidFill>
                <a:latin typeface="Calibri" pitchFamily="34" charset="0"/>
                <a:ea typeface="Calibri" pitchFamily="34" charset="-122"/>
                <a:cs typeface="Calibri" pitchFamily="34" charset="-120"/>
              </a:rPr>
              <a:t>Texting (Right Hand)</a:t>
            </a:r>
            <a:endParaRPr lang="en-US" sz="1300" dirty="0"/>
          </a:p>
        </p:txBody>
      </p:sp>
      <p:sp>
        <p:nvSpPr>
          <p:cNvPr id="15" name="Text 13"/>
          <p:cNvSpPr/>
          <p:nvPr/>
        </p:nvSpPr>
        <p:spPr>
          <a:xfrm>
            <a:off x="5550408" y="1280160"/>
            <a:ext cx="3291840"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Driver looking at/typing on phone held in right hand</a:t>
            </a:r>
            <a:endParaRPr lang="en-US" sz="1050" dirty="0"/>
          </a:p>
        </p:txBody>
      </p:sp>
      <p:sp>
        <p:nvSpPr>
          <p:cNvPr id="16" name="Shape 14"/>
          <p:cNvSpPr/>
          <p:nvPr/>
        </p:nvSpPr>
        <p:spPr>
          <a:xfrm>
            <a:off x="320040" y="1755648"/>
            <a:ext cx="4160520" cy="713232"/>
          </a:xfrm>
          <a:prstGeom prst="rect">
            <a:avLst/>
          </a:prstGeom>
          <a:solidFill>
            <a:srgbClr val="FFFFFF"/>
          </a:solidFill>
          <a:ln/>
          <a:effectLst>
            <a:outerShdw sx="100000" sy="100000" kx="0" ky="0" algn="bl" rotWithShape="0" blurRad="63500" dist="12700" dir="8100000">
              <a:srgbClr val="000000">
                <a:alpha val="8000"/>
              </a:srgbClr>
            </a:outerShdw>
          </a:effectLst>
        </p:spPr>
      </p:sp>
      <p:sp>
        <p:nvSpPr>
          <p:cNvPr id="17" name="Shape 15"/>
          <p:cNvSpPr/>
          <p:nvPr/>
        </p:nvSpPr>
        <p:spPr>
          <a:xfrm>
            <a:off x="320040" y="1755648"/>
            <a:ext cx="91440" cy="713232"/>
          </a:xfrm>
          <a:prstGeom prst="rect">
            <a:avLst/>
          </a:prstGeom>
          <a:solidFill>
            <a:srgbClr val="2C6B8A"/>
          </a:solidFill>
          <a:ln w="12700">
            <a:solidFill>
              <a:srgbClr val="2C6B8A"/>
            </a:solidFill>
            <a:prstDash val="solid"/>
          </a:ln>
        </p:spPr>
      </p:sp>
      <p:sp>
        <p:nvSpPr>
          <p:cNvPr id="18" name="Shape 16"/>
          <p:cNvSpPr/>
          <p:nvPr/>
        </p:nvSpPr>
        <p:spPr>
          <a:xfrm>
            <a:off x="484632" y="1883664"/>
            <a:ext cx="475488" cy="457200"/>
          </a:xfrm>
          <a:prstGeom prst="rect">
            <a:avLst/>
          </a:prstGeom>
          <a:solidFill>
            <a:srgbClr val="2C6B8A"/>
          </a:solidFill>
          <a:ln w="12700">
            <a:solidFill>
              <a:srgbClr val="2C6B8A"/>
            </a:solidFill>
            <a:prstDash val="solid"/>
          </a:ln>
        </p:spPr>
      </p:sp>
      <p:sp>
        <p:nvSpPr>
          <p:cNvPr id="19" name="Text 17"/>
          <p:cNvSpPr/>
          <p:nvPr/>
        </p:nvSpPr>
        <p:spPr>
          <a:xfrm>
            <a:off x="484632" y="1883664"/>
            <a:ext cx="47548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C2</a:t>
            </a:r>
            <a:endParaRPr lang="en-US" sz="1100" dirty="0"/>
          </a:p>
        </p:txBody>
      </p:sp>
      <p:sp>
        <p:nvSpPr>
          <p:cNvPr id="20" name="Text 18"/>
          <p:cNvSpPr/>
          <p:nvPr/>
        </p:nvSpPr>
        <p:spPr>
          <a:xfrm>
            <a:off x="1069848" y="1810512"/>
            <a:ext cx="3291840" cy="292608"/>
          </a:xfrm>
          <a:prstGeom prst="rect">
            <a:avLst/>
          </a:prstGeom>
          <a:noFill/>
          <a:ln/>
        </p:spPr>
        <p:txBody>
          <a:bodyPr wrap="square" lIns="0" tIns="0" rIns="0" bIns="0" rtlCol="0" anchor="ctr"/>
          <a:lstStyle/>
          <a:p>
            <a:pPr indent="0" marL="0">
              <a:buNone/>
            </a:pPr>
            <a:r>
              <a:rPr lang="en-US" sz="1300" b="1" dirty="0">
                <a:solidFill>
                  <a:srgbClr val="2A2A2A"/>
                </a:solidFill>
                <a:latin typeface="Calibri" pitchFamily="34" charset="0"/>
                <a:ea typeface="Calibri" pitchFamily="34" charset="-122"/>
                <a:cs typeface="Calibri" pitchFamily="34" charset="-120"/>
              </a:rPr>
              <a:t>Phone Call (Right Hand)</a:t>
            </a:r>
            <a:endParaRPr lang="en-US" sz="1300" dirty="0"/>
          </a:p>
        </p:txBody>
      </p:sp>
      <p:sp>
        <p:nvSpPr>
          <p:cNvPr id="21" name="Text 19"/>
          <p:cNvSpPr/>
          <p:nvPr/>
        </p:nvSpPr>
        <p:spPr>
          <a:xfrm>
            <a:off x="1069848" y="2121408"/>
            <a:ext cx="3291840"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Driver holding phone to right ear, actively talking</a:t>
            </a:r>
            <a:endParaRPr lang="en-US" sz="1050" dirty="0"/>
          </a:p>
        </p:txBody>
      </p:sp>
      <p:sp>
        <p:nvSpPr>
          <p:cNvPr id="22" name="Shape 20"/>
          <p:cNvSpPr/>
          <p:nvPr/>
        </p:nvSpPr>
        <p:spPr>
          <a:xfrm>
            <a:off x="4800600" y="1755648"/>
            <a:ext cx="4160520" cy="713232"/>
          </a:xfrm>
          <a:prstGeom prst="rect">
            <a:avLst/>
          </a:prstGeom>
          <a:solidFill>
            <a:srgbClr val="FFFFFF"/>
          </a:solidFill>
          <a:ln/>
          <a:effectLst>
            <a:outerShdw sx="100000" sy="100000" kx="0" ky="0" algn="bl" rotWithShape="0" blurRad="63500" dist="12700" dir="8100000">
              <a:srgbClr val="000000">
                <a:alpha val="8000"/>
              </a:srgbClr>
            </a:outerShdw>
          </a:effectLst>
        </p:spPr>
      </p:sp>
      <p:sp>
        <p:nvSpPr>
          <p:cNvPr id="23" name="Shape 21"/>
          <p:cNvSpPr/>
          <p:nvPr/>
        </p:nvSpPr>
        <p:spPr>
          <a:xfrm>
            <a:off x="4800600" y="1755648"/>
            <a:ext cx="91440" cy="713232"/>
          </a:xfrm>
          <a:prstGeom prst="rect">
            <a:avLst/>
          </a:prstGeom>
          <a:solidFill>
            <a:srgbClr val="D4552A"/>
          </a:solidFill>
          <a:ln w="12700">
            <a:solidFill>
              <a:srgbClr val="D4552A"/>
            </a:solidFill>
            <a:prstDash val="solid"/>
          </a:ln>
        </p:spPr>
      </p:sp>
      <p:sp>
        <p:nvSpPr>
          <p:cNvPr id="24" name="Shape 22"/>
          <p:cNvSpPr/>
          <p:nvPr/>
        </p:nvSpPr>
        <p:spPr>
          <a:xfrm>
            <a:off x="4965192" y="1883664"/>
            <a:ext cx="475488" cy="457200"/>
          </a:xfrm>
          <a:prstGeom prst="rect">
            <a:avLst/>
          </a:prstGeom>
          <a:solidFill>
            <a:srgbClr val="D4552A"/>
          </a:solidFill>
          <a:ln w="12700">
            <a:solidFill>
              <a:srgbClr val="D4552A"/>
            </a:solidFill>
            <a:prstDash val="solid"/>
          </a:ln>
        </p:spPr>
      </p:sp>
      <p:sp>
        <p:nvSpPr>
          <p:cNvPr id="25" name="Text 23"/>
          <p:cNvSpPr/>
          <p:nvPr/>
        </p:nvSpPr>
        <p:spPr>
          <a:xfrm>
            <a:off x="4965192" y="1883664"/>
            <a:ext cx="47548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C3</a:t>
            </a:r>
            <a:endParaRPr lang="en-US" sz="1100" dirty="0"/>
          </a:p>
        </p:txBody>
      </p:sp>
      <p:sp>
        <p:nvSpPr>
          <p:cNvPr id="26" name="Text 24"/>
          <p:cNvSpPr/>
          <p:nvPr/>
        </p:nvSpPr>
        <p:spPr>
          <a:xfrm>
            <a:off x="5550408" y="1810512"/>
            <a:ext cx="3291840" cy="292608"/>
          </a:xfrm>
          <a:prstGeom prst="rect">
            <a:avLst/>
          </a:prstGeom>
          <a:noFill/>
          <a:ln/>
        </p:spPr>
        <p:txBody>
          <a:bodyPr wrap="square" lIns="0" tIns="0" rIns="0" bIns="0" rtlCol="0" anchor="ctr"/>
          <a:lstStyle/>
          <a:p>
            <a:pPr indent="0" marL="0">
              <a:buNone/>
            </a:pPr>
            <a:r>
              <a:rPr lang="en-US" sz="1300" b="1" dirty="0">
                <a:solidFill>
                  <a:srgbClr val="2A2A2A"/>
                </a:solidFill>
                <a:latin typeface="Calibri" pitchFamily="34" charset="0"/>
                <a:ea typeface="Calibri" pitchFamily="34" charset="-122"/>
                <a:cs typeface="Calibri" pitchFamily="34" charset="-120"/>
              </a:rPr>
              <a:t>Texting (Left Hand)</a:t>
            </a:r>
            <a:endParaRPr lang="en-US" sz="1300" dirty="0"/>
          </a:p>
        </p:txBody>
      </p:sp>
      <p:sp>
        <p:nvSpPr>
          <p:cNvPr id="27" name="Text 25"/>
          <p:cNvSpPr/>
          <p:nvPr/>
        </p:nvSpPr>
        <p:spPr>
          <a:xfrm>
            <a:off x="5550408" y="2121408"/>
            <a:ext cx="3291840"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Driver looking at/typing on phone held in left hand</a:t>
            </a:r>
            <a:endParaRPr lang="en-US" sz="1050" dirty="0"/>
          </a:p>
        </p:txBody>
      </p:sp>
      <p:sp>
        <p:nvSpPr>
          <p:cNvPr id="28" name="Shape 26"/>
          <p:cNvSpPr/>
          <p:nvPr/>
        </p:nvSpPr>
        <p:spPr>
          <a:xfrm>
            <a:off x="320040" y="2596896"/>
            <a:ext cx="4160520" cy="713232"/>
          </a:xfrm>
          <a:prstGeom prst="rect">
            <a:avLst/>
          </a:prstGeom>
          <a:solidFill>
            <a:srgbClr val="FFFFFF"/>
          </a:solidFill>
          <a:ln/>
          <a:effectLst>
            <a:outerShdw sx="100000" sy="100000" kx="0" ky="0" algn="bl" rotWithShape="0" blurRad="63500" dist="12700" dir="8100000">
              <a:srgbClr val="000000">
                <a:alpha val="8000"/>
              </a:srgbClr>
            </a:outerShdw>
          </a:effectLst>
        </p:spPr>
      </p:sp>
      <p:sp>
        <p:nvSpPr>
          <p:cNvPr id="29" name="Shape 27"/>
          <p:cNvSpPr/>
          <p:nvPr/>
        </p:nvSpPr>
        <p:spPr>
          <a:xfrm>
            <a:off x="320040" y="2596896"/>
            <a:ext cx="91440" cy="713232"/>
          </a:xfrm>
          <a:prstGeom prst="rect">
            <a:avLst/>
          </a:prstGeom>
          <a:solidFill>
            <a:srgbClr val="2C6B8A"/>
          </a:solidFill>
          <a:ln w="12700">
            <a:solidFill>
              <a:srgbClr val="2C6B8A"/>
            </a:solidFill>
            <a:prstDash val="solid"/>
          </a:ln>
        </p:spPr>
      </p:sp>
      <p:sp>
        <p:nvSpPr>
          <p:cNvPr id="30" name="Shape 28"/>
          <p:cNvSpPr/>
          <p:nvPr/>
        </p:nvSpPr>
        <p:spPr>
          <a:xfrm>
            <a:off x="484632" y="2724912"/>
            <a:ext cx="475488" cy="457200"/>
          </a:xfrm>
          <a:prstGeom prst="rect">
            <a:avLst/>
          </a:prstGeom>
          <a:solidFill>
            <a:srgbClr val="2C6B8A"/>
          </a:solidFill>
          <a:ln w="12700">
            <a:solidFill>
              <a:srgbClr val="2C6B8A"/>
            </a:solidFill>
            <a:prstDash val="solid"/>
          </a:ln>
        </p:spPr>
      </p:sp>
      <p:sp>
        <p:nvSpPr>
          <p:cNvPr id="31" name="Text 29"/>
          <p:cNvSpPr/>
          <p:nvPr/>
        </p:nvSpPr>
        <p:spPr>
          <a:xfrm>
            <a:off x="484632" y="2724912"/>
            <a:ext cx="47548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C4</a:t>
            </a:r>
            <a:endParaRPr lang="en-US" sz="1100" dirty="0"/>
          </a:p>
        </p:txBody>
      </p:sp>
      <p:sp>
        <p:nvSpPr>
          <p:cNvPr id="32" name="Text 30"/>
          <p:cNvSpPr/>
          <p:nvPr/>
        </p:nvSpPr>
        <p:spPr>
          <a:xfrm>
            <a:off x="1069848" y="2651760"/>
            <a:ext cx="3291840" cy="292608"/>
          </a:xfrm>
          <a:prstGeom prst="rect">
            <a:avLst/>
          </a:prstGeom>
          <a:noFill/>
          <a:ln/>
        </p:spPr>
        <p:txBody>
          <a:bodyPr wrap="square" lIns="0" tIns="0" rIns="0" bIns="0" rtlCol="0" anchor="ctr"/>
          <a:lstStyle/>
          <a:p>
            <a:pPr indent="0" marL="0">
              <a:buNone/>
            </a:pPr>
            <a:r>
              <a:rPr lang="en-US" sz="1300" b="1" dirty="0">
                <a:solidFill>
                  <a:srgbClr val="2A2A2A"/>
                </a:solidFill>
                <a:latin typeface="Calibri" pitchFamily="34" charset="0"/>
                <a:ea typeface="Calibri" pitchFamily="34" charset="-122"/>
                <a:cs typeface="Calibri" pitchFamily="34" charset="-120"/>
              </a:rPr>
              <a:t>Phone Call (Left Hand)</a:t>
            </a:r>
            <a:endParaRPr lang="en-US" sz="1300" dirty="0"/>
          </a:p>
        </p:txBody>
      </p:sp>
      <p:sp>
        <p:nvSpPr>
          <p:cNvPr id="33" name="Text 31"/>
          <p:cNvSpPr/>
          <p:nvPr/>
        </p:nvSpPr>
        <p:spPr>
          <a:xfrm>
            <a:off x="1069848" y="2962656"/>
            <a:ext cx="3291840"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Driver holding phone to left ear, actively talking</a:t>
            </a:r>
            <a:endParaRPr lang="en-US" sz="1050" dirty="0"/>
          </a:p>
        </p:txBody>
      </p:sp>
      <p:sp>
        <p:nvSpPr>
          <p:cNvPr id="34" name="Shape 32"/>
          <p:cNvSpPr/>
          <p:nvPr/>
        </p:nvSpPr>
        <p:spPr>
          <a:xfrm>
            <a:off x="4800600" y="2596896"/>
            <a:ext cx="4160520" cy="713232"/>
          </a:xfrm>
          <a:prstGeom prst="rect">
            <a:avLst/>
          </a:prstGeom>
          <a:solidFill>
            <a:srgbClr val="FFFFFF"/>
          </a:solidFill>
          <a:ln/>
          <a:effectLst>
            <a:outerShdw sx="100000" sy="100000" kx="0" ky="0" algn="bl" rotWithShape="0" blurRad="63500" dist="12700" dir="8100000">
              <a:srgbClr val="000000">
                <a:alpha val="8000"/>
              </a:srgbClr>
            </a:outerShdw>
          </a:effectLst>
        </p:spPr>
      </p:sp>
      <p:sp>
        <p:nvSpPr>
          <p:cNvPr id="35" name="Shape 33"/>
          <p:cNvSpPr/>
          <p:nvPr/>
        </p:nvSpPr>
        <p:spPr>
          <a:xfrm>
            <a:off x="4800600" y="2596896"/>
            <a:ext cx="91440" cy="713232"/>
          </a:xfrm>
          <a:prstGeom prst="rect">
            <a:avLst/>
          </a:prstGeom>
          <a:solidFill>
            <a:srgbClr val="D4552A"/>
          </a:solidFill>
          <a:ln w="12700">
            <a:solidFill>
              <a:srgbClr val="D4552A"/>
            </a:solidFill>
            <a:prstDash val="solid"/>
          </a:ln>
        </p:spPr>
      </p:sp>
      <p:sp>
        <p:nvSpPr>
          <p:cNvPr id="36" name="Shape 34"/>
          <p:cNvSpPr/>
          <p:nvPr/>
        </p:nvSpPr>
        <p:spPr>
          <a:xfrm>
            <a:off x="4965192" y="2724912"/>
            <a:ext cx="475488" cy="457200"/>
          </a:xfrm>
          <a:prstGeom prst="rect">
            <a:avLst/>
          </a:prstGeom>
          <a:solidFill>
            <a:srgbClr val="D4552A"/>
          </a:solidFill>
          <a:ln w="12700">
            <a:solidFill>
              <a:srgbClr val="D4552A"/>
            </a:solidFill>
            <a:prstDash val="solid"/>
          </a:ln>
        </p:spPr>
      </p:sp>
      <p:sp>
        <p:nvSpPr>
          <p:cNvPr id="37" name="Text 35"/>
          <p:cNvSpPr/>
          <p:nvPr/>
        </p:nvSpPr>
        <p:spPr>
          <a:xfrm>
            <a:off x="4965192" y="2724912"/>
            <a:ext cx="47548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C5</a:t>
            </a:r>
            <a:endParaRPr lang="en-US" sz="1100" dirty="0"/>
          </a:p>
        </p:txBody>
      </p:sp>
      <p:sp>
        <p:nvSpPr>
          <p:cNvPr id="38" name="Text 36"/>
          <p:cNvSpPr/>
          <p:nvPr/>
        </p:nvSpPr>
        <p:spPr>
          <a:xfrm>
            <a:off x="5550408" y="2651760"/>
            <a:ext cx="3291840" cy="292608"/>
          </a:xfrm>
          <a:prstGeom prst="rect">
            <a:avLst/>
          </a:prstGeom>
          <a:noFill/>
          <a:ln/>
        </p:spPr>
        <p:txBody>
          <a:bodyPr wrap="square" lIns="0" tIns="0" rIns="0" bIns="0" rtlCol="0" anchor="ctr"/>
          <a:lstStyle/>
          <a:p>
            <a:pPr indent="0" marL="0">
              <a:buNone/>
            </a:pPr>
            <a:r>
              <a:rPr lang="en-US" sz="1300" b="1" dirty="0">
                <a:solidFill>
                  <a:srgbClr val="2A2A2A"/>
                </a:solidFill>
                <a:latin typeface="Calibri" pitchFamily="34" charset="0"/>
                <a:ea typeface="Calibri" pitchFamily="34" charset="-122"/>
                <a:cs typeface="Calibri" pitchFamily="34" charset="-120"/>
              </a:rPr>
              <a:t>Adjusting Radio</a:t>
            </a:r>
            <a:endParaRPr lang="en-US" sz="1300" dirty="0"/>
          </a:p>
        </p:txBody>
      </p:sp>
      <p:sp>
        <p:nvSpPr>
          <p:cNvPr id="39" name="Text 37"/>
          <p:cNvSpPr/>
          <p:nvPr/>
        </p:nvSpPr>
        <p:spPr>
          <a:xfrm>
            <a:off x="5550408" y="2962656"/>
            <a:ext cx="3291840"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Driver reaching to dashboard to operate audio controls</a:t>
            </a:r>
            <a:endParaRPr lang="en-US" sz="1050" dirty="0"/>
          </a:p>
        </p:txBody>
      </p:sp>
      <p:sp>
        <p:nvSpPr>
          <p:cNvPr id="40" name="Shape 38"/>
          <p:cNvSpPr/>
          <p:nvPr/>
        </p:nvSpPr>
        <p:spPr>
          <a:xfrm>
            <a:off x="320040" y="3438144"/>
            <a:ext cx="4160520" cy="713232"/>
          </a:xfrm>
          <a:prstGeom prst="rect">
            <a:avLst/>
          </a:prstGeom>
          <a:solidFill>
            <a:srgbClr val="FFFFFF"/>
          </a:solidFill>
          <a:ln/>
          <a:effectLst>
            <a:outerShdw sx="100000" sy="100000" kx="0" ky="0" algn="bl" rotWithShape="0" blurRad="63500" dist="12700" dir="8100000">
              <a:srgbClr val="000000">
                <a:alpha val="8000"/>
              </a:srgbClr>
            </a:outerShdw>
          </a:effectLst>
        </p:spPr>
      </p:sp>
      <p:sp>
        <p:nvSpPr>
          <p:cNvPr id="41" name="Shape 39"/>
          <p:cNvSpPr/>
          <p:nvPr/>
        </p:nvSpPr>
        <p:spPr>
          <a:xfrm>
            <a:off x="320040" y="3438144"/>
            <a:ext cx="91440" cy="713232"/>
          </a:xfrm>
          <a:prstGeom prst="rect">
            <a:avLst/>
          </a:prstGeom>
          <a:solidFill>
            <a:srgbClr val="2C6B8A"/>
          </a:solidFill>
          <a:ln w="12700">
            <a:solidFill>
              <a:srgbClr val="2C6B8A"/>
            </a:solidFill>
            <a:prstDash val="solid"/>
          </a:ln>
        </p:spPr>
      </p:sp>
      <p:sp>
        <p:nvSpPr>
          <p:cNvPr id="42" name="Shape 40"/>
          <p:cNvSpPr/>
          <p:nvPr/>
        </p:nvSpPr>
        <p:spPr>
          <a:xfrm>
            <a:off x="484632" y="3566160"/>
            <a:ext cx="475488" cy="457200"/>
          </a:xfrm>
          <a:prstGeom prst="rect">
            <a:avLst/>
          </a:prstGeom>
          <a:solidFill>
            <a:srgbClr val="2C6B8A"/>
          </a:solidFill>
          <a:ln w="12700">
            <a:solidFill>
              <a:srgbClr val="2C6B8A"/>
            </a:solidFill>
            <a:prstDash val="solid"/>
          </a:ln>
        </p:spPr>
      </p:sp>
      <p:sp>
        <p:nvSpPr>
          <p:cNvPr id="43" name="Text 41"/>
          <p:cNvSpPr/>
          <p:nvPr/>
        </p:nvSpPr>
        <p:spPr>
          <a:xfrm>
            <a:off x="484632" y="3566160"/>
            <a:ext cx="47548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C6</a:t>
            </a:r>
            <a:endParaRPr lang="en-US" sz="1100" dirty="0"/>
          </a:p>
        </p:txBody>
      </p:sp>
      <p:sp>
        <p:nvSpPr>
          <p:cNvPr id="44" name="Text 42"/>
          <p:cNvSpPr/>
          <p:nvPr/>
        </p:nvSpPr>
        <p:spPr>
          <a:xfrm>
            <a:off x="1069848" y="3493008"/>
            <a:ext cx="3291840" cy="292608"/>
          </a:xfrm>
          <a:prstGeom prst="rect">
            <a:avLst/>
          </a:prstGeom>
          <a:noFill/>
          <a:ln/>
        </p:spPr>
        <p:txBody>
          <a:bodyPr wrap="square" lIns="0" tIns="0" rIns="0" bIns="0" rtlCol="0" anchor="ctr"/>
          <a:lstStyle/>
          <a:p>
            <a:pPr indent="0" marL="0">
              <a:buNone/>
            </a:pPr>
            <a:r>
              <a:rPr lang="en-US" sz="1300" b="1" dirty="0">
                <a:solidFill>
                  <a:srgbClr val="2A2A2A"/>
                </a:solidFill>
                <a:latin typeface="Calibri" pitchFamily="34" charset="0"/>
                <a:ea typeface="Calibri" pitchFamily="34" charset="-122"/>
                <a:cs typeface="Calibri" pitchFamily="34" charset="-120"/>
              </a:rPr>
              <a:t>Drinking</a:t>
            </a:r>
            <a:endParaRPr lang="en-US" sz="1300" dirty="0"/>
          </a:p>
        </p:txBody>
      </p:sp>
      <p:sp>
        <p:nvSpPr>
          <p:cNvPr id="45" name="Text 43"/>
          <p:cNvSpPr/>
          <p:nvPr/>
        </p:nvSpPr>
        <p:spPr>
          <a:xfrm>
            <a:off x="1069848" y="3803904"/>
            <a:ext cx="3291840"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Driver drinking from a beverage container while driving</a:t>
            </a:r>
            <a:endParaRPr lang="en-US" sz="1050" dirty="0"/>
          </a:p>
        </p:txBody>
      </p:sp>
      <p:sp>
        <p:nvSpPr>
          <p:cNvPr id="46" name="Shape 44"/>
          <p:cNvSpPr/>
          <p:nvPr/>
        </p:nvSpPr>
        <p:spPr>
          <a:xfrm>
            <a:off x="4800600" y="3438144"/>
            <a:ext cx="4160520" cy="713232"/>
          </a:xfrm>
          <a:prstGeom prst="rect">
            <a:avLst/>
          </a:prstGeom>
          <a:solidFill>
            <a:srgbClr val="FFFFFF"/>
          </a:solidFill>
          <a:ln/>
          <a:effectLst>
            <a:outerShdw sx="100000" sy="100000" kx="0" ky="0" algn="bl" rotWithShape="0" blurRad="63500" dist="12700" dir="8100000">
              <a:srgbClr val="000000">
                <a:alpha val="8000"/>
              </a:srgbClr>
            </a:outerShdw>
          </a:effectLst>
        </p:spPr>
      </p:sp>
      <p:sp>
        <p:nvSpPr>
          <p:cNvPr id="47" name="Shape 45"/>
          <p:cNvSpPr/>
          <p:nvPr/>
        </p:nvSpPr>
        <p:spPr>
          <a:xfrm>
            <a:off x="4800600" y="3438144"/>
            <a:ext cx="91440" cy="713232"/>
          </a:xfrm>
          <a:prstGeom prst="rect">
            <a:avLst/>
          </a:prstGeom>
          <a:solidFill>
            <a:srgbClr val="D4552A"/>
          </a:solidFill>
          <a:ln w="12700">
            <a:solidFill>
              <a:srgbClr val="D4552A"/>
            </a:solidFill>
            <a:prstDash val="solid"/>
          </a:ln>
        </p:spPr>
      </p:sp>
      <p:sp>
        <p:nvSpPr>
          <p:cNvPr id="48" name="Shape 46"/>
          <p:cNvSpPr/>
          <p:nvPr/>
        </p:nvSpPr>
        <p:spPr>
          <a:xfrm>
            <a:off x="4965192" y="3566160"/>
            <a:ext cx="475488" cy="457200"/>
          </a:xfrm>
          <a:prstGeom prst="rect">
            <a:avLst/>
          </a:prstGeom>
          <a:solidFill>
            <a:srgbClr val="D4552A"/>
          </a:solidFill>
          <a:ln w="12700">
            <a:solidFill>
              <a:srgbClr val="D4552A"/>
            </a:solidFill>
            <a:prstDash val="solid"/>
          </a:ln>
        </p:spPr>
      </p:sp>
      <p:sp>
        <p:nvSpPr>
          <p:cNvPr id="49" name="Text 47"/>
          <p:cNvSpPr/>
          <p:nvPr/>
        </p:nvSpPr>
        <p:spPr>
          <a:xfrm>
            <a:off x="4965192" y="3566160"/>
            <a:ext cx="47548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C7</a:t>
            </a:r>
            <a:endParaRPr lang="en-US" sz="1100" dirty="0"/>
          </a:p>
        </p:txBody>
      </p:sp>
      <p:sp>
        <p:nvSpPr>
          <p:cNvPr id="50" name="Text 48"/>
          <p:cNvSpPr/>
          <p:nvPr/>
        </p:nvSpPr>
        <p:spPr>
          <a:xfrm>
            <a:off x="5550408" y="3493008"/>
            <a:ext cx="3291840" cy="292608"/>
          </a:xfrm>
          <a:prstGeom prst="rect">
            <a:avLst/>
          </a:prstGeom>
          <a:noFill/>
          <a:ln/>
        </p:spPr>
        <p:txBody>
          <a:bodyPr wrap="square" lIns="0" tIns="0" rIns="0" bIns="0" rtlCol="0" anchor="ctr"/>
          <a:lstStyle/>
          <a:p>
            <a:pPr indent="0" marL="0">
              <a:buNone/>
            </a:pPr>
            <a:r>
              <a:rPr lang="en-US" sz="1300" b="1" dirty="0">
                <a:solidFill>
                  <a:srgbClr val="2A2A2A"/>
                </a:solidFill>
                <a:latin typeface="Calibri" pitchFamily="34" charset="0"/>
                <a:ea typeface="Calibri" pitchFamily="34" charset="-122"/>
                <a:cs typeface="Calibri" pitchFamily="34" charset="-120"/>
              </a:rPr>
              <a:t>Reaching Behind</a:t>
            </a:r>
            <a:endParaRPr lang="en-US" sz="1300" dirty="0"/>
          </a:p>
        </p:txBody>
      </p:sp>
      <p:sp>
        <p:nvSpPr>
          <p:cNvPr id="51" name="Text 49"/>
          <p:cNvSpPr/>
          <p:nvPr/>
        </p:nvSpPr>
        <p:spPr>
          <a:xfrm>
            <a:off x="5550408" y="3803904"/>
            <a:ext cx="3291840"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Driver turned/reaching toward back seat area</a:t>
            </a:r>
            <a:endParaRPr lang="en-US" sz="1050" dirty="0"/>
          </a:p>
        </p:txBody>
      </p:sp>
      <p:sp>
        <p:nvSpPr>
          <p:cNvPr id="52" name="Shape 50"/>
          <p:cNvSpPr/>
          <p:nvPr/>
        </p:nvSpPr>
        <p:spPr>
          <a:xfrm>
            <a:off x="320040" y="4279392"/>
            <a:ext cx="4160520" cy="713232"/>
          </a:xfrm>
          <a:prstGeom prst="rect">
            <a:avLst/>
          </a:prstGeom>
          <a:solidFill>
            <a:srgbClr val="FFFFFF"/>
          </a:solidFill>
          <a:ln/>
          <a:effectLst>
            <a:outerShdw sx="100000" sy="100000" kx="0" ky="0" algn="bl" rotWithShape="0" blurRad="63500" dist="12700" dir="8100000">
              <a:srgbClr val="000000">
                <a:alpha val="8000"/>
              </a:srgbClr>
            </a:outerShdw>
          </a:effectLst>
        </p:spPr>
      </p:sp>
      <p:sp>
        <p:nvSpPr>
          <p:cNvPr id="53" name="Shape 51"/>
          <p:cNvSpPr/>
          <p:nvPr/>
        </p:nvSpPr>
        <p:spPr>
          <a:xfrm>
            <a:off x="320040" y="4279392"/>
            <a:ext cx="91440" cy="713232"/>
          </a:xfrm>
          <a:prstGeom prst="rect">
            <a:avLst/>
          </a:prstGeom>
          <a:solidFill>
            <a:srgbClr val="2C6B8A"/>
          </a:solidFill>
          <a:ln w="12700">
            <a:solidFill>
              <a:srgbClr val="2C6B8A"/>
            </a:solidFill>
            <a:prstDash val="solid"/>
          </a:ln>
        </p:spPr>
      </p:sp>
      <p:sp>
        <p:nvSpPr>
          <p:cNvPr id="54" name="Shape 52"/>
          <p:cNvSpPr/>
          <p:nvPr/>
        </p:nvSpPr>
        <p:spPr>
          <a:xfrm>
            <a:off x="484632" y="4407408"/>
            <a:ext cx="475488" cy="457200"/>
          </a:xfrm>
          <a:prstGeom prst="rect">
            <a:avLst/>
          </a:prstGeom>
          <a:solidFill>
            <a:srgbClr val="2C6B8A"/>
          </a:solidFill>
          <a:ln w="12700">
            <a:solidFill>
              <a:srgbClr val="2C6B8A"/>
            </a:solidFill>
            <a:prstDash val="solid"/>
          </a:ln>
        </p:spPr>
      </p:sp>
      <p:sp>
        <p:nvSpPr>
          <p:cNvPr id="55" name="Text 53"/>
          <p:cNvSpPr/>
          <p:nvPr/>
        </p:nvSpPr>
        <p:spPr>
          <a:xfrm>
            <a:off x="484632" y="4407408"/>
            <a:ext cx="47548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C8</a:t>
            </a:r>
            <a:endParaRPr lang="en-US" sz="1100" dirty="0"/>
          </a:p>
        </p:txBody>
      </p:sp>
      <p:sp>
        <p:nvSpPr>
          <p:cNvPr id="56" name="Text 54"/>
          <p:cNvSpPr/>
          <p:nvPr/>
        </p:nvSpPr>
        <p:spPr>
          <a:xfrm>
            <a:off x="1069848" y="4334256"/>
            <a:ext cx="3291840" cy="292608"/>
          </a:xfrm>
          <a:prstGeom prst="rect">
            <a:avLst/>
          </a:prstGeom>
          <a:noFill/>
          <a:ln/>
        </p:spPr>
        <p:txBody>
          <a:bodyPr wrap="square" lIns="0" tIns="0" rIns="0" bIns="0" rtlCol="0" anchor="ctr"/>
          <a:lstStyle/>
          <a:p>
            <a:pPr indent="0" marL="0">
              <a:buNone/>
            </a:pPr>
            <a:r>
              <a:rPr lang="en-US" sz="1300" b="1" dirty="0">
                <a:solidFill>
                  <a:srgbClr val="2A2A2A"/>
                </a:solidFill>
                <a:latin typeface="Calibri" pitchFamily="34" charset="0"/>
                <a:ea typeface="Calibri" pitchFamily="34" charset="-122"/>
                <a:cs typeface="Calibri" pitchFamily="34" charset="-120"/>
              </a:rPr>
              <a:t>Hair &amp; Makeup</a:t>
            </a:r>
            <a:endParaRPr lang="en-US" sz="1300" dirty="0"/>
          </a:p>
        </p:txBody>
      </p:sp>
      <p:sp>
        <p:nvSpPr>
          <p:cNvPr id="57" name="Text 55"/>
          <p:cNvSpPr/>
          <p:nvPr/>
        </p:nvSpPr>
        <p:spPr>
          <a:xfrm>
            <a:off x="1069848" y="4645152"/>
            <a:ext cx="3291840"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Driver grooming — applying makeup or fixing hair</a:t>
            </a:r>
            <a:endParaRPr lang="en-US" sz="1050" dirty="0"/>
          </a:p>
        </p:txBody>
      </p:sp>
      <p:sp>
        <p:nvSpPr>
          <p:cNvPr id="58" name="Shape 56"/>
          <p:cNvSpPr/>
          <p:nvPr/>
        </p:nvSpPr>
        <p:spPr>
          <a:xfrm>
            <a:off x="4800600" y="4279392"/>
            <a:ext cx="4160520" cy="713232"/>
          </a:xfrm>
          <a:prstGeom prst="rect">
            <a:avLst/>
          </a:prstGeom>
          <a:solidFill>
            <a:srgbClr val="FFFFFF"/>
          </a:solidFill>
          <a:ln/>
          <a:effectLst>
            <a:outerShdw sx="100000" sy="100000" kx="0" ky="0" algn="bl" rotWithShape="0" blurRad="63500" dist="12700" dir="8100000">
              <a:srgbClr val="000000">
                <a:alpha val="8000"/>
              </a:srgbClr>
            </a:outerShdw>
          </a:effectLst>
        </p:spPr>
      </p:sp>
      <p:sp>
        <p:nvSpPr>
          <p:cNvPr id="59" name="Shape 57"/>
          <p:cNvSpPr/>
          <p:nvPr/>
        </p:nvSpPr>
        <p:spPr>
          <a:xfrm>
            <a:off x="4800600" y="4279392"/>
            <a:ext cx="91440" cy="713232"/>
          </a:xfrm>
          <a:prstGeom prst="rect">
            <a:avLst/>
          </a:prstGeom>
          <a:solidFill>
            <a:srgbClr val="D4552A"/>
          </a:solidFill>
          <a:ln w="12700">
            <a:solidFill>
              <a:srgbClr val="D4552A"/>
            </a:solidFill>
            <a:prstDash val="solid"/>
          </a:ln>
        </p:spPr>
      </p:sp>
      <p:sp>
        <p:nvSpPr>
          <p:cNvPr id="60" name="Shape 58"/>
          <p:cNvSpPr/>
          <p:nvPr/>
        </p:nvSpPr>
        <p:spPr>
          <a:xfrm>
            <a:off x="4965192" y="4407408"/>
            <a:ext cx="475488" cy="457200"/>
          </a:xfrm>
          <a:prstGeom prst="rect">
            <a:avLst/>
          </a:prstGeom>
          <a:solidFill>
            <a:srgbClr val="D4552A"/>
          </a:solidFill>
          <a:ln w="12700">
            <a:solidFill>
              <a:srgbClr val="D4552A"/>
            </a:solidFill>
            <a:prstDash val="solid"/>
          </a:ln>
        </p:spPr>
      </p:sp>
      <p:sp>
        <p:nvSpPr>
          <p:cNvPr id="61" name="Text 59"/>
          <p:cNvSpPr/>
          <p:nvPr/>
        </p:nvSpPr>
        <p:spPr>
          <a:xfrm>
            <a:off x="4965192" y="4407408"/>
            <a:ext cx="47548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C9</a:t>
            </a:r>
            <a:endParaRPr lang="en-US" sz="1100" dirty="0"/>
          </a:p>
        </p:txBody>
      </p:sp>
      <p:sp>
        <p:nvSpPr>
          <p:cNvPr id="62" name="Text 60"/>
          <p:cNvSpPr/>
          <p:nvPr/>
        </p:nvSpPr>
        <p:spPr>
          <a:xfrm>
            <a:off x="5550408" y="4334256"/>
            <a:ext cx="3291840" cy="292608"/>
          </a:xfrm>
          <a:prstGeom prst="rect">
            <a:avLst/>
          </a:prstGeom>
          <a:noFill/>
          <a:ln/>
        </p:spPr>
        <p:txBody>
          <a:bodyPr wrap="square" lIns="0" tIns="0" rIns="0" bIns="0" rtlCol="0" anchor="ctr"/>
          <a:lstStyle/>
          <a:p>
            <a:pPr indent="0" marL="0">
              <a:buNone/>
            </a:pPr>
            <a:r>
              <a:rPr lang="en-US" sz="1300" b="1" dirty="0">
                <a:solidFill>
                  <a:srgbClr val="2A2A2A"/>
                </a:solidFill>
                <a:latin typeface="Calibri" pitchFamily="34" charset="0"/>
                <a:ea typeface="Calibri" pitchFamily="34" charset="-122"/>
                <a:cs typeface="Calibri" pitchFamily="34" charset="-120"/>
              </a:rPr>
              <a:t>Talking to Passenger</a:t>
            </a:r>
            <a:endParaRPr lang="en-US" sz="1300" dirty="0"/>
          </a:p>
        </p:txBody>
      </p:sp>
      <p:sp>
        <p:nvSpPr>
          <p:cNvPr id="63" name="Text 61"/>
          <p:cNvSpPr/>
          <p:nvPr/>
        </p:nvSpPr>
        <p:spPr>
          <a:xfrm>
            <a:off x="5550408" y="4645152"/>
            <a:ext cx="3291840" cy="29260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Driver facing/gesturing toward a passenger</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533"/>
          </a:solidFill>
          <a:ln w="12700">
            <a:solidFill>
              <a:srgbClr val="1E2533"/>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Project Methodology</a:t>
            </a:r>
            <a:endParaRPr lang="en-US" sz="2600" dirty="0"/>
          </a:p>
        </p:txBody>
      </p:sp>
      <p:sp>
        <p:nvSpPr>
          <p:cNvPr id="4" name="Shape 2"/>
          <p:cNvSpPr/>
          <p:nvPr/>
        </p:nvSpPr>
        <p:spPr>
          <a:xfrm>
            <a:off x="457200" y="914400"/>
            <a:ext cx="2651760" cy="393192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5" name="Shape 3"/>
          <p:cNvSpPr/>
          <p:nvPr/>
        </p:nvSpPr>
        <p:spPr>
          <a:xfrm>
            <a:off x="457200" y="914400"/>
            <a:ext cx="2651760" cy="804672"/>
          </a:xfrm>
          <a:prstGeom prst="rect">
            <a:avLst/>
          </a:prstGeom>
          <a:solidFill>
            <a:srgbClr val="1E2533"/>
          </a:solidFill>
          <a:ln w="12700">
            <a:solidFill>
              <a:srgbClr val="1E2533"/>
            </a:solidFill>
            <a:prstDash val="solid"/>
          </a:ln>
        </p:spPr>
      </p:sp>
      <p:sp>
        <p:nvSpPr>
          <p:cNvPr id="6" name="Text 4"/>
          <p:cNvSpPr/>
          <p:nvPr/>
        </p:nvSpPr>
        <p:spPr>
          <a:xfrm>
            <a:off x="548640" y="914400"/>
            <a:ext cx="502920" cy="804672"/>
          </a:xfrm>
          <a:prstGeom prst="rect">
            <a:avLst/>
          </a:prstGeom>
          <a:noFill/>
          <a:ln/>
        </p:spPr>
        <p:txBody>
          <a:bodyPr wrap="square" lIns="0" tIns="0" rIns="0" bIns="0" rtlCol="0" anchor="ctr"/>
          <a:lstStyle/>
          <a:p>
            <a:pPr algn="ctr" indent="0" marL="0">
              <a:buNone/>
            </a:pPr>
            <a:r>
              <a:rPr lang="en-US" sz="2200" b="1" dirty="0">
                <a:solidFill>
                  <a:srgbClr val="D4552A"/>
                </a:solidFill>
                <a:latin typeface="Cambria" pitchFamily="34" charset="0"/>
                <a:ea typeface="Cambria" pitchFamily="34" charset="-122"/>
                <a:cs typeface="Cambria" pitchFamily="34" charset="-120"/>
              </a:rPr>
              <a:t>01</a:t>
            </a:r>
            <a:endParaRPr lang="en-US" sz="2200" dirty="0"/>
          </a:p>
        </p:txBody>
      </p:sp>
      <p:sp>
        <p:nvSpPr>
          <p:cNvPr id="7" name="Text 5"/>
          <p:cNvSpPr/>
          <p:nvPr/>
        </p:nvSpPr>
        <p:spPr>
          <a:xfrm>
            <a:off x="1078992" y="914400"/>
            <a:ext cx="1938528" cy="804672"/>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Data</a:t>
            </a:r>
            <a:endParaRPr lang="en-US" sz="1500" dirty="0"/>
          </a:p>
          <a:p>
            <a:pPr indent="0" marL="0">
              <a:buNone/>
            </a:pPr>
            <a:r>
              <a:rPr lang="en-US" sz="1500" b="1" dirty="0">
                <a:solidFill>
                  <a:srgbClr val="FFFFFF"/>
                </a:solidFill>
                <a:latin typeface="Cambria" pitchFamily="34" charset="0"/>
                <a:ea typeface="Cambria" pitchFamily="34" charset="-122"/>
                <a:cs typeface="Cambria" pitchFamily="34" charset="-120"/>
              </a:rPr>
              <a:t>Preparation</a:t>
            </a:r>
            <a:endParaRPr lang="en-US" sz="1500" dirty="0"/>
          </a:p>
        </p:txBody>
      </p:sp>
      <p:sp>
        <p:nvSpPr>
          <p:cNvPr id="8" name="Shape 6"/>
          <p:cNvSpPr/>
          <p:nvPr/>
        </p:nvSpPr>
        <p:spPr>
          <a:xfrm>
            <a:off x="658368" y="1892808"/>
            <a:ext cx="128016" cy="128016"/>
          </a:xfrm>
          <a:prstGeom prst="ellipse">
            <a:avLst/>
          </a:prstGeom>
          <a:solidFill>
            <a:srgbClr val="D4552A"/>
          </a:solidFill>
          <a:ln w="12700">
            <a:solidFill>
              <a:srgbClr val="D4552A"/>
            </a:solidFill>
            <a:prstDash val="solid"/>
          </a:ln>
        </p:spPr>
      </p:sp>
      <p:sp>
        <p:nvSpPr>
          <p:cNvPr id="9" name="Text 7"/>
          <p:cNvSpPr/>
          <p:nvPr/>
        </p:nvSpPr>
        <p:spPr>
          <a:xfrm>
            <a:off x="868680" y="1828800"/>
            <a:ext cx="2148840" cy="365760"/>
          </a:xfrm>
          <a:prstGeom prst="rect">
            <a:avLst/>
          </a:prstGeom>
          <a:noFill/>
          <a:ln/>
        </p:spPr>
        <p:txBody>
          <a:bodyPr wrap="square" lIns="0" tIns="0" rIns="0" bIns="0" rtlCol="0" anchor="ctr"/>
          <a:lstStyle/>
          <a:p>
            <a:pPr indent="0" marL="0">
              <a:buNone/>
            </a:pPr>
            <a:r>
              <a:rPr lang="en-US" sz="1250" dirty="0">
                <a:solidFill>
                  <a:srgbClr val="2A2A2A"/>
                </a:solidFill>
                <a:latin typeface="Calibri" pitchFamily="34" charset="0"/>
                <a:ea typeface="Calibri" pitchFamily="34" charset="-122"/>
                <a:cs typeface="Calibri" pitchFamily="34" charset="-120"/>
              </a:rPr>
              <a:t>Load &amp; split dataset</a:t>
            </a:r>
            <a:endParaRPr lang="en-US" sz="1250" dirty="0"/>
          </a:p>
        </p:txBody>
      </p:sp>
      <p:sp>
        <p:nvSpPr>
          <p:cNvPr id="10" name="Shape 8"/>
          <p:cNvSpPr/>
          <p:nvPr/>
        </p:nvSpPr>
        <p:spPr>
          <a:xfrm>
            <a:off x="658368" y="2569464"/>
            <a:ext cx="128016" cy="128016"/>
          </a:xfrm>
          <a:prstGeom prst="ellipse">
            <a:avLst/>
          </a:prstGeom>
          <a:solidFill>
            <a:srgbClr val="D4552A"/>
          </a:solidFill>
          <a:ln w="12700">
            <a:solidFill>
              <a:srgbClr val="D4552A"/>
            </a:solidFill>
            <a:prstDash val="solid"/>
          </a:ln>
        </p:spPr>
      </p:sp>
      <p:sp>
        <p:nvSpPr>
          <p:cNvPr id="11" name="Text 9"/>
          <p:cNvSpPr/>
          <p:nvPr/>
        </p:nvSpPr>
        <p:spPr>
          <a:xfrm>
            <a:off x="868680" y="2505456"/>
            <a:ext cx="2148840" cy="365760"/>
          </a:xfrm>
          <a:prstGeom prst="rect">
            <a:avLst/>
          </a:prstGeom>
          <a:noFill/>
          <a:ln/>
        </p:spPr>
        <p:txBody>
          <a:bodyPr wrap="square" lIns="0" tIns="0" rIns="0" bIns="0" rtlCol="0" anchor="ctr"/>
          <a:lstStyle/>
          <a:p>
            <a:pPr indent="0" marL="0">
              <a:buNone/>
            </a:pPr>
            <a:r>
              <a:rPr lang="en-US" sz="1250" dirty="0">
                <a:solidFill>
                  <a:srgbClr val="2A2A2A"/>
                </a:solidFill>
                <a:latin typeface="Calibri" pitchFamily="34" charset="0"/>
                <a:ea typeface="Calibri" pitchFamily="34" charset="-122"/>
                <a:cs typeface="Calibri" pitchFamily="34" charset="-120"/>
              </a:rPr>
              <a:t>Zero-mean normalization</a:t>
            </a:r>
            <a:endParaRPr lang="en-US" sz="1250" dirty="0"/>
          </a:p>
        </p:txBody>
      </p:sp>
      <p:sp>
        <p:nvSpPr>
          <p:cNvPr id="12" name="Shape 10"/>
          <p:cNvSpPr/>
          <p:nvPr/>
        </p:nvSpPr>
        <p:spPr>
          <a:xfrm>
            <a:off x="658368" y="3246120"/>
            <a:ext cx="128016" cy="128016"/>
          </a:xfrm>
          <a:prstGeom prst="ellipse">
            <a:avLst/>
          </a:prstGeom>
          <a:solidFill>
            <a:srgbClr val="D4552A"/>
          </a:solidFill>
          <a:ln w="12700">
            <a:solidFill>
              <a:srgbClr val="D4552A"/>
            </a:solidFill>
            <a:prstDash val="solid"/>
          </a:ln>
        </p:spPr>
      </p:sp>
      <p:sp>
        <p:nvSpPr>
          <p:cNvPr id="13" name="Text 11"/>
          <p:cNvSpPr/>
          <p:nvPr/>
        </p:nvSpPr>
        <p:spPr>
          <a:xfrm>
            <a:off x="868680" y="3182112"/>
            <a:ext cx="2148840" cy="365760"/>
          </a:xfrm>
          <a:prstGeom prst="rect">
            <a:avLst/>
          </a:prstGeom>
          <a:noFill/>
          <a:ln/>
        </p:spPr>
        <p:txBody>
          <a:bodyPr wrap="square" lIns="0" tIns="0" rIns="0" bIns="0" rtlCol="0" anchor="ctr"/>
          <a:lstStyle/>
          <a:p>
            <a:pPr indent="0" marL="0">
              <a:buNone/>
            </a:pPr>
            <a:r>
              <a:rPr lang="en-US" sz="1250" dirty="0">
                <a:solidFill>
                  <a:srgbClr val="2A2A2A"/>
                </a:solidFill>
                <a:latin typeface="Calibri" pitchFamily="34" charset="0"/>
                <a:ea typeface="Calibri" pitchFamily="34" charset="-122"/>
                <a:cs typeface="Calibri" pitchFamily="34" charset="-120"/>
              </a:rPr>
              <a:t>Image preprocessing</a:t>
            </a:r>
            <a:endParaRPr lang="en-US" sz="1250" dirty="0"/>
          </a:p>
        </p:txBody>
      </p:sp>
      <p:sp>
        <p:nvSpPr>
          <p:cNvPr id="14" name="Shape 12"/>
          <p:cNvSpPr/>
          <p:nvPr/>
        </p:nvSpPr>
        <p:spPr>
          <a:xfrm>
            <a:off x="658368" y="3922776"/>
            <a:ext cx="128016" cy="128016"/>
          </a:xfrm>
          <a:prstGeom prst="ellipse">
            <a:avLst/>
          </a:prstGeom>
          <a:solidFill>
            <a:srgbClr val="D4552A"/>
          </a:solidFill>
          <a:ln w="12700">
            <a:solidFill>
              <a:srgbClr val="D4552A"/>
            </a:solidFill>
            <a:prstDash val="solid"/>
          </a:ln>
        </p:spPr>
      </p:sp>
      <p:sp>
        <p:nvSpPr>
          <p:cNvPr id="15" name="Text 13"/>
          <p:cNvSpPr/>
          <p:nvPr/>
        </p:nvSpPr>
        <p:spPr>
          <a:xfrm>
            <a:off x="868680" y="3858768"/>
            <a:ext cx="2148840" cy="365760"/>
          </a:xfrm>
          <a:prstGeom prst="rect">
            <a:avLst/>
          </a:prstGeom>
          <a:noFill/>
          <a:ln/>
        </p:spPr>
        <p:txBody>
          <a:bodyPr wrap="square" lIns="0" tIns="0" rIns="0" bIns="0" rtlCol="0" anchor="ctr"/>
          <a:lstStyle/>
          <a:p>
            <a:pPr indent="0" marL="0">
              <a:buNone/>
            </a:pPr>
            <a:r>
              <a:rPr lang="en-US" sz="1250" dirty="0">
                <a:solidFill>
                  <a:srgbClr val="2A2A2A"/>
                </a:solidFill>
                <a:latin typeface="Calibri" pitchFamily="34" charset="0"/>
                <a:ea typeface="Calibri" pitchFamily="34" charset="-122"/>
                <a:cs typeface="Calibri" pitchFamily="34" charset="-120"/>
              </a:rPr>
              <a:t>Bottleneck pre-computation</a:t>
            </a:r>
            <a:endParaRPr lang="en-US" sz="1250" dirty="0"/>
          </a:p>
        </p:txBody>
      </p:sp>
      <p:sp>
        <p:nvSpPr>
          <p:cNvPr id="16" name="Shape 14"/>
          <p:cNvSpPr/>
          <p:nvPr/>
        </p:nvSpPr>
        <p:spPr>
          <a:xfrm>
            <a:off x="3136392" y="2606040"/>
            <a:ext cx="182880" cy="54864"/>
          </a:xfrm>
          <a:prstGeom prst="rect">
            <a:avLst/>
          </a:prstGeom>
          <a:solidFill>
            <a:srgbClr val="2C6B8A"/>
          </a:solidFill>
          <a:ln w="12700">
            <a:solidFill>
              <a:srgbClr val="2C6B8A"/>
            </a:solidFill>
            <a:prstDash val="solid"/>
          </a:ln>
        </p:spPr>
      </p:sp>
      <p:sp>
        <p:nvSpPr>
          <p:cNvPr id="17" name="Shape 15"/>
          <p:cNvSpPr/>
          <p:nvPr/>
        </p:nvSpPr>
        <p:spPr>
          <a:xfrm>
            <a:off x="3355848" y="914400"/>
            <a:ext cx="2651760" cy="393192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8" name="Shape 16"/>
          <p:cNvSpPr/>
          <p:nvPr/>
        </p:nvSpPr>
        <p:spPr>
          <a:xfrm>
            <a:off x="3355848" y="914400"/>
            <a:ext cx="2651760" cy="804672"/>
          </a:xfrm>
          <a:prstGeom prst="rect">
            <a:avLst/>
          </a:prstGeom>
          <a:solidFill>
            <a:srgbClr val="2C6B8A"/>
          </a:solidFill>
          <a:ln w="12700">
            <a:solidFill>
              <a:srgbClr val="2C6B8A"/>
            </a:solidFill>
            <a:prstDash val="solid"/>
          </a:ln>
        </p:spPr>
      </p:sp>
      <p:sp>
        <p:nvSpPr>
          <p:cNvPr id="19" name="Text 17"/>
          <p:cNvSpPr/>
          <p:nvPr/>
        </p:nvSpPr>
        <p:spPr>
          <a:xfrm>
            <a:off x="3447288" y="914400"/>
            <a:ext cx="502920" cy="804672"/>
          </a:xfrm>
          <a:prstGeom prst="rect">
            <a:avLst/>
          </a:prstGeom>
          <a:noFill/>
          <a:ln/>
        </p:spPr>
        <p:txBody>
          <a:bodyPr wrap="square" lIns="0" tIns="0" rIns="0" bIns="0" rtlCol="0" anchor="ctr"/>
          <a:lstStyle/>
          <a:p>
            <a:pPr algn="ctr" indent="0" marL="0">
              <a:buNone/>
            </a:pPr>
            <a:r>
              <a:rPr lang="en-US" sz="2200" b="1" dirty="0">
                <a:solidFill>
                  <a:srgbClr val="D4552A"/>
                </a:solidFill>
                <a:latin typeface="Cambria" pitchFamily="34" charset="0"/>
                <a:ea typeface="Cambria" pitchFamily="34" charset="-122"/>
                <a:cs typeface="Cambria" pitchFamily="34" charset="-120"/>
              </a:rPr>
              <a:t>02</a:t>
            </a:r>
            <a:endParaRPr lang="en-US" sz="2200" dirty="0"/>
          </a:p>
        </p:txBody>
      </p:sp>
      <p:sp>
        <p:nvSpPr>
          <p:cNvPr id="20" name="Text 18"/>
          <p:cNvSpPr/>
          <p:nvPr/>
        </p:nvSpPr>
        <p:spPr>
          <a:xfrm>
            <a:off x="3977640" y="914400"/>
            <a:ext cx="1938528" cy="804672"/>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Model</a:t>
            </a:r>
            <a:endParaRPr lang="en-US" sz="1500" dirty="0"/>
          </a:p>
          <a:p>
            <a:pPr indent="0" marL="0">
              <a:buNone/>
            </a:pPr>
            <a:r>
              <a:rPr lang="en-US" sz="1500" b="1" dirty="0">
                <a:solidFill>
                  <a:srgbClr val="FFFFFF"/>
                </a:solidFill>
                <a:latin typeface="Cambria" pitchFamily="34" charset="0"/>
                <a:ea typeface="Cambria" pitchFamily="34" charset="-122"/>
                <a:cs typeface="Cambria" pitchFamily="34" charset="-120"/>
              </a:rPr>
              <a:t>Building</a:t>
            </a:r>
            <a:endParaRPr lang="en-US" sz="1500" dirty="0"/>
          </a:p>
        </p:txBody>
      </p:sp>
      <p:sp>
        <p:nvSpPr>
          <p:cNvPr id="21" name="Shape 19"/>
          <p:cNvSpPr/>
          <p:nvPr/>
        </p:nvSpPr>
        <p:spPr>
          <a:xfrm>
            <a:off x="3557016" y="1892808"/>
            <a:ext cx="128016" cy="128016"/>
          </a:xfrm>
          <a:prstGeom prst="ellipse">
            <a:avLst/>
          </a:prstGeom>
          <a:solidFill>
            <a:srgbClr val="D4552A"/>
          </a:solidFill>
          <a:ln w="12700">
            <a:solidFill>
              <a:srgbClr val="D4552A"/>
            </a:solidFill>
            <a:prstDash val="solid"/>
          </a:ln>
        </p:spPr>
      </p:sp>
      <p:sp>
        <p:nvSpPr>
          <p:cNvPr id="22" name="Text 20"/>
          <p:cNvSpPr/>
          <p:nvPr/>
        </p:nvSpPr>
        <p:spPr>
          <a:xfrm>
            <a:off x="3767328" y="1828800"/>
            <a:ext cx="2148840" cy="365760"/>
          </a:xfrm>
          <a:prstGeom prst="rect">
            <a:avLst/>
          </a:prstGeom>
          <a:noFill/>
          <a:ln/>
        </p:spPr>
        <p:txBody>
          <a:bodyPr wrap="square" lIns="0" tIns="0" rIns="0" bIns="0" rtlCol="0" anchor="ctr"/>
          <a:lstStyle/>
          <a:p>
            <a:pPr indent="0" marL="0">
              <a:buNone/>
            </a:pPr>
            <a:r>
              <a:rPr lang="en-US" sz="1250" dirty="0">
                <a:solidFill>
                  <a:srgbClr val="2A2A2A"/>
                </a:solidFill>
                <a:latin typeface="Calibri" pitchFamily="34" charset="0"/>
                <a:ea typeface="Calibri" pitchFamily="34" charset="-122"/>
                <a:cs typeface="Calibri" pitchFamily="34" charset="-120"/>
              </a:rPr>
              <a:t>CNN from scratch (baseline)</a:t>
            </a:r>
            <a:endParaRPr lang="en-US" sz="1250" dirty="0"/>
          </a:p>
        </p:txBody>
      </p:sp>
      <p:sp>
        <p:nvSpPr>
          <p:cNvPr id="23" name="Shape 21"/>
          <p:cNvSpPr/>
          <p:nvPr/>
        </p:nvSpPr>
        <p:spPr>
          <a:xfrm>
            <a:off x="3557016" y="2569464"/>
            <a:ext cx="128016" cy="128016"/>
          </a:xfrm>
          <a:prstGeom prst="ellipse">
            <a:avLst/>
          </a:prstGeom>
          <a:solidFill>
            <a:srgbClr val="D4552A"/>
          </a:solidFill>
          <a:ln w="12700">
            <a:solidFill>
              <a:srgbClr val="D4552A"/>
            </a:solidFill>
            <a:prstDash val="solid"/>
          </a:ln>
        </p:spPr>
      </p:sp>
      <p:sp>
        <p:nvSpPr>
          <p:cNvPr id="24" name="Text 22"/>
          <p:cNvSpPr/>
          <p:nvPr/>
        </p:nvSpPr>
        <p:spPr>
          <a:xfrm>
            <a:off x="3767328" y="2505456"/>
            <a:ext cx="2148840" cy="365760"/>
          </a:xfrm>
          <a:prstGeom prst="rect">
            <a:avLst/>
          </a:prstGeom>
          <a:noFill/>
          <a:ln/>
        </p:spPr>
        <p:txBody>
          <a:bodyPr wrap="square" lIns="0" tIns="0" rIns="0" bIns="0" rtlCol="0" anchor="ctr"/>
          <a:lstStyle/>
          <a:p>
            <a:pPr indent="0" marL="0">
              <a:buNone/>
            </a:pPr>
            <a:r>
              <a:rPr lang="en-US" sz="1250" dirty="0">
                <a:solidFill>
                  <a:srgbClr val="2A2A2A"/>
                </a:solidFill>
                <a:latin typeface="Calibri" pitchFamily="34" charset="0"/>
                <a:ea typeface="Calibri" pitchFamily="34" charset="-122"/>
                <a:cs typeface="Calibri" pitchFamily="34" charset="-120"/>
              </a:rPr>
              <a:t>VGG16 transfer learning</a:t>
            </a:r>
            <a:endParaRPr lang="en-US" sz="1250" dirty="0"/>
          </a:p>
        </p:txBody>
      </p:sp>
      <p:sp>
        <p:nvSpPr>
          <p:cNvPr id="25" name="Shape 23"/>
          <p:cNvSpPr/>
          <p:nvPr/>
        </p:nvSpPr>
        <p:spPr>
          <a:xfrm>
            <a:off x="3557016" y="3246120"/>
            <a:ext cx="128016" cy="128016"/>
          </a:xfrm>
          <a:prstGeom prst="ellipse">
            <a:avLst/>
          </a:prstGeom>
          <a:solidFill>
            <a:srgbClr val="D4552A"/>
          </a:solidFill>
          <a:ln w="12700">
            <a:solidFill>
              <a:srgbClr val="D4552A"/>
            </a:solidFill>
            <a:prstDash val="solid"/>
          </a:ln>
        </p:spPr>
      </p:sp>
      <p:sp>
        <p:nvSpPr>
          <p:cNvPr id="26" name="Text 24"/>
          <p:cNvSpPr/>
          <p:nvPr/>
        </p:nvSpPr>
        <p:spPr>
          <a:xfrm>
            <a:off x="3767328" y="3182112"/>
            <a:ext cx="2148840" cy="365760"/>
          </a:xfrm>
          <a:prstGeom prst="rect">
            <a:avLst/>
          </a:prstGeom>
          <a:noFill/>
          <a:ln/>
        </p:spPr>
        <p:txBody>
          <a:bodyPr wrap="square" lIns="0" tIns="0" rIns="0" bIns="0" rtlCol="0" anchor="ctr"/>
          <a:lstStyle/>
          <a:p>
            <a:pPr indent="0" marL="0">
              <a:buNone/>
            </a:pPr>
            <a:r>
              <a:rPr lang="en-US" sz="1250" dirty="0">
                <a:solidFill>
                  <a:srgbClr val="2A2A2A"/>
                </a:solidFill>
                <a:latin typeface="Calibri" pitchFamily="34" charset="0"/>
                <a:ea typeface="Calibri" pitchFamily="34" charset="-122"/>
                <a:cs typeface="Calibri" pitchFamily="34" charset="-120"/>
              </a:rPr>
              <a:t>Top model on bottleneck feats</a:t>
            </a:r>
            <a:endParaRPr lang="en-US" sz="1250" dirty="0"/>
          </a:p>
        </p:txBody>
      </p:sp>
      <p:sp>
        <p:nvSpPr>
          <p:cNvPr id="27" name="Shape 25"/>
          <p:cNvSpPr/>
          <p:nvPr/>
        </p:nvSpPr>
        <p:spPr>
          <a:xfrm>
            <a:off x="3557016" y="3922776"/>
            <a:ext cx="128016" cy="128016"/>
          </a:xfrm>
          <a:prstGeom prst="ellipse">
            <a:avLst/>
          </a:prstGeom>
          <a:solidFill>
            <a:srgbClr val="D4552A"/>
          </a:solidFill>
          <a:ln w="12700">
            <a:solidFill>
              <a:srgbClr val="D4552A"/>
            </a:solidFill>
            <a:prstDash val="solid"/>
          </a:ln>
        </p:spPr>
      </p:sp>
      <p:sp>
        <p:nvSpPr>
          <p:cNvPr id="28" name="Text 26"/>
          <p:cNvSpPr/>
          <p:nvPr/>
        </p:nvSpPr>
        <p:spPr>
          <a:xfrm>
            <a:off x="3767328" y="3858768"/>
            <a:ext cx="2148840" cy="365760"/>
          </a:xfrm>
          <a:prstGeom prst="rect">
            <a:avLst/>
          </a:prstGeom>
          <a:noFill/>
          <a:ln/>
        </p:spPr>
        <p:txBody>
          <a:bodyPr wrap="square" lIns="0" tIns="0" rIns="0" bIns="0" rtlCol="0" anchor="ctr"/>
          <a:lstStyle/>
          <a:p>
            <a:pPr indent="0" marL="0">
              <a:buNone/>
            </a:pPr>
            <a:r>
              <a:rPr lang="en-US" sz="1250" dirty="0">
                <a:solidFill>
                  <a:srgbClr val="2A2A2A"/>
                </a:solidFill>
                <a:latin typeface="Calibri" pitchFamily="34" charset="0"/>
                <a:ea typeface="Calibri" pitchFamily="34" charset="-122"/>
                <a:cs typeface="Calibri" pitchFamily="34" charset="-120"/>
              </a:rPr>
              <a:t>Fine-tune top Conv block</a:t>
            </a:r>
            <a:endParaRPr lang="en-US" sz="1250" dirty="0"/>
          </a:p>
        </p:txBody>
      </p:sp>
      <p:sp>
        <p:nvSpPr>
          <p:cNvPr id="29" name="Shape 27"/>
          <p:cNvSpPr/>
          <p:nvPr/>
        </p:nvSpPr>
        <p:spPr>
          <a:xfrm>
            <a:off x="6035040" y="2606040"/>
            <a:ext cx="182880" cy="54864"/>
          </a:xfrm>
          <a:prstGeom prst="rect">
            <a:avLst/>
          </a:prstGeom>
          <a:solidFill>
            <a:srgbClr val="2C6B8A"/>
          </a:solidFill>
          <a:ln w="12700">
            <a:solidFill>
              <a:srgbClr val="2C6B8A"/>
            </a:solidFill>
            <a:prstDash val="solid"/>
          </a:ln>
        </p:spPr>
      </p:sp>
      <p:sp>
        <p:nvSpPr>
          <p:cNvPr id="30" name="Shape 28"/>
          <p:cNvSpPr/>
          <p:nvPr/>
        </p:nvSpPr>
        <p:spPr>
          <a:xfrm>
            <a:off x="6254496" y="914400"/>
            <a:ext cx="2651760" cy="393192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31" name="Shape 29"/>
          <p:cNvSpPr/>
          <p:nvPr/>
        </p:nvSpPr>
        <p:spPr>
          <a:xfrm>
            <a:off x="6254496" y="914400"/>
            <a:ext cx="2651760" cy="804672"/>
          </a:xfrm>
          <a:prstGeom prst="rect">
            <a:avLst/>
          </a:prstGeom>
          <a:solidFill>
            <a:srgbClr val="1E2533"/>
          </a:solidFill>
          <a:ln w="12700">
            <a:solidFill>
              <a:srgbClr val="1E2533"/>
            </a:solidFill>
            <a:prstDash val="solid"/>
          </a:ln>
        </p:spPr>
      </p:sp>
      <p:sp>
        <p:nvSpPr>
          <p:cNvPr id="32" name="Text 30"/>
          <p:cNvSpPr/>
          <p:nvPr/>
        </p:nvSpPr>
        <p:spPr>
          <a:xfrm>
            <a:off x="6345936" y="914400"/>
            <a:ext cx="502920" cy="804672"/>
          </a:xfrm>
          <a:prstGeom prst="rect">
            <a:avLst/>
          </a:prstGeom>
          <a:noFill/>
          <a:ln/>
        </p:spPr>
        <p:txBody>
          <a:bodyPr wrap="square" lIns="0" tIns="0" rIns="0" bIns="0" rtlCol="0" anchor="ctr"/>
          <a:lstStyle/>
          <a:p>
            <a:pPr algn="ctr" indent="0" marL="0">
              <a:buNone/>
            </a:pPr>
            <a:r>
              <a:rPr lang="en-US" sz="2200" b="1" dirty="0">
                <a:solidFill>
                  <a:srgbClr val="D4552A"/>
                </a:solidFill>
                <a:latin typeface="Cambria" pitchFamily="34" charset="0"/>
                <a:ea typeface="Cambria" pitchFamily="34" charset="-122"/>
                <a:cs typeface="Cambria" pitchFamily="34" charset="-120"/>
              </a:rPr>
              <a:t>03</a:t>
            </a:r>
            <a:endParaRPr lang="en-US" sz="2200" dirty="0"/>
          </a:p>
        </p:txBody>
      </p:sp>
      <p:sp>
        <p:nvSpPr>
          <p:cNvPr id="33" name="Text 31"/>
          <p:cNvSpPr/>
          <p:nvPr/>
        </p:nvSpPr>
        <p:spPr>
          <a:xfrm>
            <a:off x="6876288" y="914400"/>
            <a:ext cx="1938528" cy="804672"/>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Evaluation &amp;</a:t>
            </a:r>
            <a:endParaRPr lang="en-US" sz="1500" dirty="0"/>
          </a:p>
          <a:p>
            <a:pPr indent="0" marL="0">
              <a:buNone/>
            </a:pPr>
            <a:r>
              <a:rPr lang="en-US" sz="1500" b="1" dirty="0">
                <a:solidFill>
                  <a:srgbClr val="FFFFFF"/>
                </a:solidFill>
                <a:latin typeface="Cambria" pitchFamily="34" charset="0"/>
                <a:ea typeface="Cambria" pitchFamily="34" charset="-122"/>
                <a:cs typeface="Cambria" pitchFamily="34" charset="-120"/>
              </a:rPr>
              <a:t>Submission</a:t>
            </a:r>
            <a:endParaRPr lang="en-US" sz="1500" dirty="0"/>
          </a:p>
        </p:txBody>
      </p:sp>
      <p:sp>
        <p:nvSpPr>
          <p:cNvPr id="34" name="Shape 32"/>
          <p:cNvSpPr/>
          <p:nvPr/>
        </p:nvSpPr>
        <p:spPr>
          <a:xfrm>
            <a:off x="6455664" y="1892808"/>
            <a:ext cx="128016" cy="128016"/>
          </a:xfrm>
          <a:prstGeom prst="ellipse">
            <a:avLst/>
          </a:prstGeom>
          <a:solidFill>
            <a:srgbClr val="D4552A"/>
          </a:solidFill>
          <a:ln w="12700">
            <a:solidFill>
              <a:srgbClr val="D4552A"/>
            </a:solidFill>
            <a:prstDash val="solid"/>
          </a:ln>
        </p:spPr>
      </p:sp>
      <p:sp>
        <p:nvSpPr>
          <p:cNvPr id="35" name="Text 33"/>
          <p:cNvSpPr/>
          <p:nvPr/>
        </p:nvSpPr>
        <p:spPr>
          <a:xfrm>
            <a:off x="6665976" y="1828800"/>
            <a:ext cx="2148840" cy="365760"/>
          </a:xfrm>
          <a:prstGeom prst="rect">
            <a:avLst/>
          </a:prstGeom>
          <a:noFill/>
          <a:ln/>
        </p:spPr>
        <p:txBody>
          <a:bodyPr wrap="square" lIns="0" tIns="0" rIns="0" bIns="0" rtlCol="0" anchor="ctr"/>
          <a:lstStyle/>
          <a:p>
            <a:pPr indent="0" marL="0">
              <a:buNone/>
            </a:pPr>
            <a:r>
              <a:rPr lang="en-US" sz="1250" dirty="0">
                <a:solidFill>
                  <a:srgbClr val="2A2A2A"/>
                </a:solidFill>
                <a:latin typeface="Calibri" pitchFamily="34" charset="0"/>
                <a:ea typeface="Calibri" pitchFamily="34" charset="-122"/>
                <a:cs typeface="Calibri" pitchFamily="34" charset="-120"/>
              </a:rPr>
              <a:t>Validation log-loss metric</a:t>
            </a:r>
            <a:endParaRPr lang="en-US" sz="1250" dirty="0"/>
          </a:p>
        </p:txBody>
      </p:sp>
      <p:sp>
        <p:nvSpPr>
          <p:cNvPr id="36" name="Shape 34"/>
          <p:cNvSpPr/>
          <p:nvPr/>
        </p:nvSpPr>
        <p:spPr>
          <a:xfrm>
            <a:off x="6455664" y="2569464"/>
            <a:ext cx="128016" cy="128016"/>
          </a:xfrm>
          <a:prstGeom prst="ellipse">
            <a:avLst/>
          </a:prstGeom>
          <a:solidFill>
            <a:srgbClr val="D4552A"/>
          </a:solidFill>
          <a:ln w="12700">
            <a:solidFill>
              <a:srgbClr val="D4552A"/>
            </a:solidFill>
            <a:prstDash val="solid"/>
          </a:ln>
        </p:spPr>
      </p:sp>
      <p:sp>
        <p:nvSpPr>
          <p:cNvPr id="37" name="Text 35"/>
          <p:cNvSpPr/>
          <p:nvPr/>
        </p:nvSpPr>
        <p:spPr>
          <a:xfrm>
            <a:off x="6665976" y="2505456"/>
            <a:ext cx="2148840" cy="365760"/>
          </a:xfrm>
          <a:prstGeom prst="rect">
            <a:avLst/>
          </a:prstGeom>
          <a:noFill/>
          <a:ln/>
        </p:spPr>
        <p:txBody>
          <a:bodyPr wrap="square" lIns="0" tIns="0" rIns="0" bIns="0" rtlCol="0" anchor="ctr"/>
          <a:lstStyle/>
          <a:p>
            <a:pPr indent="0" marL="0">
              <a:buNone/>
            </a:pPr>
            <a:r>
              <a:rPr lang="en-US" sz="1250" dirty="0">
                <a:solidFill>
                  <a:srgbClr val="2A2A2A"/>
                </a:solidFill>
                <a:latin typeface="Calibri" pitchFamily="34" charset="0"/>
                <a:ea typeface="Calibri" pitchFamily="34" charset="-122"/>
                <a:cs typeface="Calibri" pitchFamily="34" charset="-120"/>
              </a:rPr>
              <a:t>Iterate on hyperparameters</a:t>
            </a:r>
            <a:endParaRPr lang="en-US" sz="1250" dirty="0"/>
          </a:p>
        </p:txBody>
      </p:sp>
      <p:sp>
        <p:nvSpPr>
          <p:cNvPr id="38" name="Shape 36"/>
          <p:cNvSpPr/>
          <p:nvPr/>
        </p:nvSpPr>
        <p:spPr>
          <a:xfrm>
            <a:off x="6455664" y="3246120"/>
            <a:ext cx="128016" cy="128016"/>
          </a:xfrm>
          <a:prstGeom prst="ellipse">
            <a:avLst/>
          </a:prstGeom>
          <a:solidFill>
            <a:srgbClr val="D4552A"/>
          </a:solidFill>
          <a:ln w="12700">
            <a:solidFill>
              <a:srgbClr val="D4552A"/>
            </a:solidFill>
            <a:prstDash val="solid"/>
          </a:ln>
        </p:spPr>
      </p:sp>
      <p:sp>
        <p:nvSpPr>
          <p:cNvPr id="39" name="Text 37"/>
          <p:cNvSpPr/>
          <p:nvPr/>
        </p:nvSpPr>
        <p:spPr>
          <a:xfrm>
            <a:off x="6665976" y="3182112"/>
            <a:ext cx="2148840" cy="365760"/>
          </a:xfrm>
          <a:prstGeom prst="rect">
            <a:avLst/>
          </a:prstGeom>
          <a:noFill/>
          <a:ln/>
        </p:spPr>
        <p:txBody>
          <a:bodyPr wrap="square" lIns="0" tIns="0" rIns="0" bIns="0" rtlCol="0" anchor="ctr"/>
          <a:lstStyle/>
          <a:p>
            <a:pPr indent="0" marL="0">
              <a:buNone/>
            </a:pPr>
            <a:r>
              <a:rPr lang="en-US" sz="1250" dirty="0">
                <a:solidFill>
                  <a:srgbClr val="2A2A2A"/>
                </a:solidFill>
                <a:latin typeface="Calibri" pitchFamily="34" charset="0"/>
                <a:ea typeface="Calibri" pitchFamily="34" charset="-122"/>
                <a:cs typeface="Calibri" pitchFamily="34" charset="-120"/>
              </a:rPr>
              <a:t>Generate test predictions</a:t>
            </a:r>
            <a:endParaRPr lang="en-US" sz="1250" dirty="0"/>
          </a:p>
        </p:txBody>
      </p:sp>
      <p:sp>
        <p:nvSpPr>
          <p:cNvPr id="40" name="Shape 38"/>
          <p:cNvSpPr/>
          <p:nvPr/>
        </p:nvSpPr>
        <p:spPr>
          <a:xfrm>
            <a:off x="6455664" y="3922776"/>
            <a:ext cx="128016" cy="128016"/>
          </a:xfrm>
          <a:prstGeom prst="ellipse">
            <a:avLst/>
          </a:prstGeom>
          <a:solidFill>
            <a:srgbClr val="D4552A"/>
          </a:solidFill>
          <a:ln w="12700">
            <a:solidFill>
              <a:srgbClr val="D4552A"/>
            </a:solidFill>
            <a:prstDash val="solid"/>
          </a:ln>
        </p:spPr>
      </p:sp>
      <p:sp>
        <p:nvSpPr>
          <p:cNvPr id="41" name="Text 39"/>
          <p:cNvSpPr/>
          <p:nvPr/>
        </p:nvSpPr>
        <p:spPr>
          <a:xfrm>
            <a:off x="6665976" y="3858768"/>
            <a:ext cx="2148840" cy="365760"/>
          </a:xfrm>
          <a:prstGeom prst="rect">
            <a:avLst/>
          </a:prstGeom>
          <a:noFill/>
          <a:ln/>
        </p:spPr>
        <p:txBody>
          <a:bodyPr wrap="square" lIns="0" tIns="0" rIns="0" bIns="0" rtlCol="0" anchor="ctr"/>
          <a:lstStyle/>
          <a:p>
            <a:pPr indent="0" marL="0">
              <a:buNone/>
            </a:pPr>
            <a:r>
              <a:rPr lang="en-US" sz="1250" dirty="0">
                <a:solidFill>
                  <a:srgbClr val="2A2A2A"/>
                </a:solidFill>
                <a:latin typeface="Calibri" pitchFamily="34" charset="0"/>
                <a:ea typeface="Calibri" pitchFamily="34" charset="-122"/>
                <a:cs typeface="Calibri" pitchFamily="34" charset="-120"/>
              </a:rPr>
              <a:t>Submit to Kaggle leaderboard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533"/>
          </a:solidFill>
          <a:ln w="12700">
            <a:solidFill>
              <a:srgbClr val="1E2533"/>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CNN from Scratch — Architecture</a:t>
            </a:r>
            <a:endParaRPr lang="en-US" sz="2600" dirty="0"/>
          </a:p>
        </p:txBody>
      </p:sp>
      <p:sp>
        <p:nvSpPr>
          <p:cNvPr id="4" name="Shape 2"/>
          <p:cNvSpPr/>
          <p:nvPr/>
        </p:nvSpPr>
        <p:spPr>
          <a:xfrm>
            <a:off x="320040" y="914400"/>
            <a:ext cx="2834640" cy="420624"/>
          </a:xfrm>
          <a:prstGeom prst="rect">
            <a:avLst/>
          </a:prstGeom>
          <a:solidFill>
            <a:srgbClr val="4A7FA8"/>
          </a:solidFill>
          <a:ln w="12700">
            <a:solidFill>
              <a:srgbClr val="4A7FA8"/>
            </a:solidFill>
            <a:prstDash val="solid"/>
          </a:ln>
        </p:spPr>
      </p:sp>
      <p:sp>
        <p:nvSpPr>
          <p:cNvPr id="5" name="Text 3"/>
          <p:cNvSpPr/>
          <p:nvPr/>
        </p:nvSpPr>
        <p:spPr>
          <a:xfrm>
            <a:off x="320040" y="914400"/>
            <a:ext cx="2834640"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Input Image  (224 × 224 × 3)</a:t>
            </a:r>
            <a:endParaRPr lang="en-US" sz="1000" dirty="0"/>
          </a:p>
        </p:txBody>
      </p:sp>
      <p:sp>
        <p:nvSpPr>
          <p:cNvPr id="6" name="Shape 4"/>
          <p:cNvSpPr/>
          <p:nvPr/>
        </p:nvSpPr>
        <p:spPr>
          <a:xfrm>
            <a:off x="1673352" y="1335024"/>
            <a:ext cx="54864" cy="91440"/>
          </a:xfrm>
          <a:prstGeom prst="rect">
            <a:avLst/>
          </a:prstGeom>
          <a:solidFill>
            <a:srgbClr val="6B7280"/>
          </a:solidFill>
          <a:ln w="12700">
            <a:solidFill>
              <a:srgbClr val="6B7280"/>
            </a:solidFill>
            <a:prstDash val="solid"/>
          </a:ln>
        </p:spPr>
      </p:sp>
      <p:sp>
        <p:nvSpPr>
          <p:cNvPr id="7" name="Shape 5"/>
          <p:cNvSpPr/>
          <p:nvPr/>
        </p:nvSpPr>
        <p:spPr>
          <a:xfrm>
            <a:off x="411480" y="1426464"/>
            <a:ext cx="2651760" cy="420624"/>
          </a:xfrm>
          <a:prstGeom prst="rect">
            <a:avLst/>
          </a:prstGeom>
          <a:solidFill>
            <a:srgbClr val="2C6B8A"/>
          </a:solidFill>
          <a:ln w="12700">
            <a:solidFill>
              <a:srgbClr val="2C6B8A"/>
            </a:solidFill>
            <a:prstDash val="solid"/>
          </a:ln>
        </p:spPr>
      </p:sp>
      <p:sp>
        <p:nvSpPr>
          <p:cNvPr id="8" name="Text 6"/>
          <p:cNvSpPr/>
          <p:nvPr/>
        </p:nvSpPr>
        <p:spPr>
          <a:xfrm>
            <a:off x="411480" y="1426464"/>
            <a:ext cx="2651760"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Conv2D  64 filters, 3×3 + ReLU</a:t>
            </a:r>
            <a:endParaRPr lang="en-US" sz="1000" dirty="0"/>
          </a:p>
        </p:txBody>
      </p:sp>
      <p:sp>
        <p:nvSpPr>
          <p:cNvPr id="9" name="Shape 7"/>
          <p:cNvSpPr/>
          <p:nvPr/>
        </p:nvSpPr>
        <p:spPr>
          <a:xfrm>
            <a:off x="1673352" y="1847088"/>
            <a:ext cx="54864" cy="91440"/>
          </a:xfrm>
          <a:prstGeom prst="rect">
            <a:avLst/>
          </a:prstGeom>
          <a:solidFill>
            <a:srgbClr val="6B7280"/>
          </a:solidFill>
          <a:ln w="12700">
            <a:solidFill>
              <a:srgbClr val="6B7280"/>
            </a:solidFill>
            <a:prstDash val="solid"/>
          </a:ln>
        </p:spPr>
      </p:sp>
      <p:sp>
        <p:nvSpPr>
          <p:cNvPr id="10" name="Shape 8"/>
          <p:cNvSpPr/>
          <p:nvPr/>
        </p:nvSpPr>
        <p:spPr>
          <a:xfrm>
            <a:off x="594360" y="1938528"/>
            <a:ext cx="2286000" cy="420624"/>
          </a:xfrm>
          <a:prstGeom prst="rect">
            <a:avLst/>
          </a:prstGeom>
          <a:solidFill>
            <a:srgbClr val="1E5577"/>
          </a:solidFill>
          <a:ln w="12700">
            <a:solidFill>
              <a:srgbClr val="1E5577"/>
            </a:solidFill>
            <a:prstDash val="solid"/>
          </a:ln>
        </p:spPr>
      </p:sp>
      <p:sp>
        <p:nvSpPr>
          <p:cNvPr id="11" name="Text 9"/>
          <p:cNvSpPr/>
          <p:nvPr/>
        </p:nvSpPr>
        <p:spPr>
          <a:xfrm>
            <a:off x="594360" y="1938528"/>
            <a:ext cx="2286000"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MaxPooling  2×2</a:t>
            </a:r>
            <a:endParaRPr lang="en-US" sz="1000" dirty="0"/>
          </a:p>
        </p:txBody>
      </p:sp>
      <p:sp>
        <p:nvSpPr>
          <p:cNvPr id="12" name="Shape 10"/>
          <p:cNvSpPr/>
          <p:nvPr/>
        </p:nvSpPr>
        <p:spPr>
          <a:xfrm>
            <a:off x="1673352" y="2359152"/>
            <a:ext cx="54864" cy="91440"/>
          </a:xfrm>
          <a:prstGeom prst="rect">
            <a:avLst/>
          </a:prstGeom>
          <a:solidFill>
            <a:srgbClr val="6B7280"/>
          </a:solidFill>
          <a:ln w="12700">
            <a:solidFill>
              <a:srgbClr val="6B7280"/>
            </a:solidFill>
            <a:prstDash val="solid"/>
          </a:ln>
        </p:spPr>
      </p:sp>
      <p:sp>
        <p:nvSpPr>
          <p:cNvPr id="13" name="Shape 11"/>
          <p:cNvSpPr/>
          <p:nvPr/>
        </p:nvSpPr>
        <p:spPr>
          <a:xfrm>
            <a:off x="457200" y="2450592"/>
            <a:ext cx="2560320" cy="420624"/>
          </a:xfrm>
          <a:prstGeom prst="rect">
            <a:avLst/>
          </a:prstGeom>
          <a:solidFill>
            <a:srgbClr val="2C6B8A"/>
          </a:solidFill>
          <a:ln w="12700">
            <a:solidFill>
              <a:srgbClr val="2C6B8A"/>
            </a:solidFill>
            <a:prstDash val="solid"/>
          </a:ln>
        </p:spPr>
      </p:sp>
      <p:sp>
        <p:nvSpPr>
          <p:cNvPr id="14" name="Text 12"/>
          <p:cNvSpPr/>
          <p:nvPr/>
        </p:nvSpPr>
        <p:spPr>
          <a:xfrm>
            <a:off x="457200" y="2450592"/>
            <a:ext cx="2560320"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Conv2D  128 filters, 3×3 + ReLU</a:t>
            </a:r>
            <a:endParaRPr lang="en-US" sz="1000" dirty="0"/>
          </a:p>
        </p:txBody>
      </p:sp>
      <p:sp>
        <p:nvSpPr>
          <p:cNvPr id="15" name="Shape 13"/>
          <p:cNvSpPr/>
          <p:nvPr/>
        </p:nvSpPr>
        <p:spPr>
          <a:xfrm>
            <a:off x="1673352" y="2871216"/>
            <a:ext cx="54864" cy="91440"/>
          </a:xfrm>
          <a:prstGeom prst="rect">
            <a:avLst/>
          </a:prstGeom>
          <a:solidFill>
            <a:srgbClr val="6B7280"/>
          </a:solidFill>
          <a:ln w="12700">
            <a:solidFill>
              <a:srgbClr val="6B7280"/>
            </a:solidFill>
            <a:prstDash val="solid"/>
          </a:ln>
        </p:spPr>
      </p:sp>
      <p:sp>
        <p:nvSpPr>
          <p:cNvPr id="16" name="Shape 14"/>
          <p:cNvSpPr/>
          <p:nvPr/>
        </p:nvSpPr>
        <p:spPr>
          <a:xfrm>
            <a:off x="685800" y="2962656"/>
            <a:ext cx="2103120" cy="420624"/>
          </a:xfrm>
          <a:prstGeom prst="rect">
            <a:avLst/>
          </a:prstGeom>
          <a:solidFill>
            <a:srgbClr val="1E5577"/>
          </a:solidFill>
          <a:ln w="12700">
            <a:solidFill>
              <a:srgbClr val="1E5577"/>
            </a:solidFill>
            <a:prstDash val="solid"/>
          </a:ln>
        </p:spPr>
      </p:sp>
      <p:sp>
        <p:nvSpPr>
          <p:cNvPr id="17" name="Text 15"/>
          <p:cNvSpPr/>
          <p:nvPr/>
        </p:nvSpPr>
        <p:spPr>
          <a:xfrm>
            <a:off x="685800" y="2962656"/>
            <a:ext cx="2103120"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MaxPooling  2×2</a:t>
            </a:r>
            <a:endParaRPr lang="en-US" sz="1000" dirty="0"/>
          </a:p>
        </p:txBody>
      </p:sp>
      <p:sp>
        <p:nvSpPr>
          <p:cNvPr id="18" name="Shape 16"/>
          <p:cNvSpPr/>
          <p:nvPr/>
        </p:nvSpPr>
        <p:spPr>
          <a:xfrm>
            <a:off x="1673352" y="3383280"/>
            <a:ext cx="54864" cy="91440"/>
          </a:xfrm>
          <a:prstGeom prst="rect">
            <a:avLst/>
          </a:prstGeom>
          <a:solidFill>
            <a:srgbClr val="6B7280"/>
          </a:solidFill>
          <a:ln w="12700">
            <a:solidFill>
              <a:srgbClr val="6B7280"/>
            </a:solidFill>
            <a:prstDash val="solid"/>
          </a:ln>
        </p:spPr>
      </p:sp>
      <p:sp>
        <p:nvSpPr>
          <p:cNvPr id="19" name="Shape 17"/>
          <p:cNvSpPr/>
          <p:nvPr/>
        </p:nvSpPr>
        <p:spPr>
          <a:xfrm>
            <a:off x="548640" y="3474720"/>
            <a:ext cx="2377440" cy="420624"/>
          </a:xfrm>
          <a:prstGeom prst="rect">
            <a:avLst/>
          </a:prstGeom>
          <a:solidFill>
            <a:srgbClr val="4A7FA8"/>
          </a:solidFill>
          <a:ln w="12700">
            <a:solidFill>
              <a:srgbClr val="4A7FA8"/>
            </a:solidFill>
            <a:prstDash val="solid"/>
          </a:ln>
        </p:spPr>
      </p:sp>
      <p:sp>
        <p:nvSpPr>
          <p:cNvPr id="20" name="Text 18"/>
          <p:cNvSpPr/>
          <p:nvPr/>
        </p:nvSpPr>
        <p:spPr>
          <a:xfrm>
            <a:off x="548640" y="3474720"/>
            <a:ext cx="2377440"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Flatten</a:t>
            </a:r>
            <a:endParaRPr lang="en-US" sz="1000" dirty="0"/>
          </a:p>
        </p:txBody>
      </p:sp>
      <p:sp>
        <p:nvSpPr>
          <p:cNvPr id="21" name="Shape 19"/>
          <p:cNvSpPr/>
          <p:nvPr/>
        </p:nvSpPr>
        <p:spPr>
          <a:xfrm>
            <a:off x="1673352" y="3895344"/>
            <a:ext cx="54864" cy="91440"/>
          </a:xfrm>
          <a:prstGeom prst="rect">
            <a:avLst/>
          </a:prstGeom>
          <a:solidFill>
            <a:srgbClr val="6B7280"/>
          </a:solidFill>
          <a:ln w="12700">
            <a:solidFill>
              <a:srgbClr val="6B7280"/>
            </a:solidFill>
            <a:prstDash val="solid"/>
          </a:ln>
        </p:spPr>
      </p:sp>
      <p:sp>
        <p:nvSpPr>
          <p:cNvPr id="22" name="Shape 20"/>
          <p:cNvSpPr/>
          <p:nvPr/>
        </p:nvSpPr>
        <p:spPr>
          <a:xfrm>
            <a:off x="411480" y="3986784"/>
            <a:ext cx="2651760" cy="420624"/>
          </a:xfrm>
          <a:prstGeom prst="rect">
            <a:avLst/>
          </a:prstGeom>
          <a:solidFill>
            <a:srgbClr val="2C6B8A"/>
          </a:solidFill>
          <a:ln w="12700">
            <a:solidFill>
              <a:srgbClr val="2C6B8A"/>
            </a:solidFill>
            <a:prstDash val="solid"/>
          </a:ln>
        </p:spPr>
      </p:sp>
      <p:sp>
        <p:nvSpPr>
          <p:cNvPr id="23" name="Text 21"/>
          <p:cNvSpPr/>
          <p:nvPr/>
        </p:nvSpPr>
        <p:spPr>
          <a:xfrm>
            <a:off x="411480" y="3986784"/>
            <a:ext cx="2651760"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Dense  512 + ReLU + Dropout 50%</a:t>
            </a:r>
            <a:endParaRPr lang="en-US" sz="1000" dirty="0"/>
          </a:p>
        </p:txBody>
      </p:sp>
      <p:sp>
        <p:nvSpPr>
          <p:cNvPr id="24" name="Shape 22"/>
          <p:cNvSpPr/>
          <p:nvPr/>
        </p:nvSpPr>
        <p:spPr>
          <a:xfrm>
            <a:off x="1673352" y="4407408"/>
            <a:ext cx="54864" cy="91440"/>
          </a:xfrm>
          <a:prstGeom prst="rect">
            <a:avLst/>
          </a:prstGeom>
          <a:solidFill>
            <a:srgbClr val="6B7280"/>
          </a:solidFill>
          <a:ln w="12700">
            <a:solidFill>
              <a:srgbClr val="6B7280"/>
            </a:solidFill>
            <a:prstDash val="solid"/>
          </a:ln>
        </p:spPr>
      </p:sp>
      <p:sp>
        <p:nvSpPr>
          <p:cNvPr id="25" name="Shape 23"/>
          <p:cNvSpPr/>
          <p:nvPr/>
        </p:nvSpPr>
        <p:spPr>
          <a:xfrm>
            <a:off x="548640" y="4498848"/>
            <a:ext cx="2377440" cy="420624"/>
          </a:xfrm>
          <a:prstGeom prst="rect">
            <a:avLst/>
          </a:prstGeom>
          <a:solidFill>
            <a:srgbClr val="D4552A"/>
          </a:solidFill>
          <a:ln w="12700">
            <a:solidFill>
              <a:srgbClr val="D4552A"/>
            </a:solidFill>
            <a:prstDash val="solid"/>
          </a:ln>
        </p:spPr>
      </p:sp>
      <p:sp>
        <p:nvSpPr>
          <p:cNvPr id="26" name="Text 24"/>
          <p:cNvSpPr/>
          <p:nvPr/>
        </p:nvSpPr>
        <p:spPr>
          <a:xfrm>
            <a:off x="548640" y="4498848"/>
            <a:ext cx="2377440"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Dense  10 + Softmax  →  C0–C9</a:t>
            </a:r>
            <a:endParaRPr lang="en-US" sz="1000" dirty="0"/>
          </a:p>
        </p:txBody>
      </p:sp>
      <p:sp>
        <p:nvSpPr>
          <p:cNvPr id="27" name="Text 25"/>
          <p:cNvSpPr/>
          <p:nvPr/>
        </p:nvSpPr>
        <p:spPr>
          <a:xfrm>
            <a:off x="3749040" y="960120"/>
            <a:ext cx="5029200" cy="402336"/>
          </a:xfrm>
          <a:prstGeom prst="rect">
            <a:avLst/>
          </a:prstGeom>
          <a:noFill/>
          <a:ln/>
        </p:spPr>
        <p:txBody>
          <a:bodyPr wrap="square" lIns="0" tIns="0" rIns="0" bIns="0" rtlCol="0" anchor="ctr"/>
          <a:lstStyle/>
          <a:p>
            <a:pPr indent="0" marL="0">
              <a:buNone/>
            </a:pPr>
            <a:r>
              <a:rPr lang="en-US" sz="1700" b="1" dirty="0">
                <a:solidFill>
                  <a:srgbClr val="2C6B8A"/>
                </a:solidFill>
                <a:latin typeface="Cambria" pitchFamily="34" charset="0"/>
                <a:ea typeface="Cambria" pitchFamily="34" charset="-122"/>
                <a:cs typeface="Cambria" pitchFamily="34" charset="-120"/>
              </a:rPr>
              <a:t>Design Choices &amp; Rationale</a:t>
            </a:r>
            <a:endParaRPr lang="en-US" sz="1700" dirty="0"/>
          </a:p>
        </p:txBody>
      </p:sp>
      <p:sp>
        <p:nvSpPr>
          <p:cNvPr id="28" name="Text 26"/>
          <p:cNvSpPr/>
          <p:nvPr/>
        </p:nvSpPr>
        <p:spPr>
          <a:xfrm>
            <a:off x="3749040" y="1481328"/>
            <a:ext cx="5029200" cy="256032"/>
          </a:xfrm>
          <a:prstGeom prst="rect">
            <a:avLst/>
          </a:prstGeom>
          <a:noFill/>
          <a:ln/>
        </p:spPr>
        <p:txBody>
          <a:bodyPr wrap="square" lIns="0" tIns="0" rIns="0" bIns="0" rtlCol="0" anchor="ctr"/>
          <a:lstStyle/>
          <a:p>
            <a:pPr indent="0" marL="0">
              <a:buNone/>
            </a:pPr>
            <a:r>
              <a:rPr lang="en-US" sz="1300" b="1" dirty="0">
                <a:solidFill>
                  <a:srgbClr val="1E2533"/>
                </a:solidFill>
                <a:latin typeface="Calibri" pitchFamily="34" charset="0"/>
                <a:ea typeface="Calibri" pitchFamily="34" charset="-122"/>
                <a:cs typeface="Calibri" pitchFamily="34" charset="-120"/>
              </a:rPr>
              <a:t>Input Size</a:t>
            </a:r>
            <a:endParaRPr lang="en-US" sz="1300" dirty="0"/>
          </a:p>
        </p:txBody>
      </p:sp>
      <p:sp>
        <p:nvSpPr>
          <p:cNvPr id="29" name="Text 27"/>
          <p:cNvSpPr/>
          <p:nvPr/>
        </p:nvSpPr>
        <p:spPr>
          <a:xfrm>
            <a:off x="3749040" y="1737360"/>
            <a:ext cx="5029200" cy="347472"/>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224×224 pixels — matching VGG16's expected input for a fair comparison.</a:t>
            </a:r>
            <a:endParaRPr lang="en-US" sz="1150" dirty="0"/>
          </a:p>
        </p:txBody>
      </p:sp>
      <p:sp>
        <p:nvSpPr>
          <p:cNvPr id="30" name="Text 28"/>
          <p:cNvSpPr/>
          <p:nvPr/>
        </p:nvSpPr>
        <p:spPr>
          <a:xfrm>
            <a:off x="3749040" y="2075688"/>
            <a:ext cx="5029200" cy="256032"/>
          </a:xfrm>
          <a:prstGeom prst="rect">
            <a:avLst/>
          </a:prstGeom>
          <a:noFill/>
          <a:ln/>
        </p:spPr>
        <p:txBody>
          <a:bodyPr wrap="square" lIns="0" tIns="0" rIns="0" bIns="0" rtlCol="0" anchor="ctr"/>
          <a:lstStyle/>
          <a:p>
            <a:pPr indent="0" marL="0">
              <a:buNone/>
            </a:pPr>
            <a:r>
              <a:rPr lang="en-US" sz="1300" b="1" dirty="0">
                <a:solidFill>
                  <a:srgbClr val="1E2533"/>
                </a:solidFill>
                <a:latin typeface="Calibri" pitchFamily="34" charset="0"/>
                <a:ea typeface="Calibri" pitchFamily="34" charset="-122"/>
                <a:cs typeface="Calibri" pitchFamily="34" charset="-120"/>
              </a:rPr>
              <a:t>Convolutional Layers</a:t>
            </a:r>
            <a:endParaRPr lang="en-US" sz="1300" dirty="0"/>
          </a:p>
        </p:txBody>
      </p:sp>
      <p:sp>
        <p:nvSpPr>
          <p:cNvPr id="31" name="Text 29"/>
          <p:cNvSpPr/>
          <p:nvPr/>
        </p:nvSpPr>
        <p:spPr>
          <a:xfrm>
            <a:off x="3749040" y="2331720"/>
            <a:ext cx="5029200" cy="347472"/>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Two Conv2D blocks with ReLU activation extract hierarchical spatial features: edges, textures, shapes.</a:t>
            </a:r>
            <a:endParaRPr lang="en-US" sz="1150" dirty="0"/>
          </a:p>
        </p:txBody>
      </p:sp>
      <p:sp>
        <p:nvSpPr>
          <p:cNvPr id="32" name="Text 30"/>
          <p:cNvSpPr/>
          <p:nvPr/>
        </p:nvSpPr>
        <p:spPr>
          <a:xfrm>
            <a:off x="3749040" y="2670048"/>
            <a:ext cx="5029200" cy="256032"/>
          </a:xfrm>
          <a:prstGeom prst="rect">
            <a:avLst/>
          </a:prstGeom>
          <a:noFill/>
          <a:ln/>
        </p:spPr>
        <p:txBody>
          <a:bodyPr wrap="square" lIns="0" tIns="0" rIns="0" bIns="0" rtlCol="0" anchor="ctr"/>
          <a:lstStyle/>
          <a:p>
            <a:pPr indent="0" marL="0">
              <a:buNone/>
            </a:pPr>
            <a:r>
              <a:rPr lang="en-US" sz="1300" b="1" dirty="0">
                <a:solidFill>
                  <a:srgbClr val="1E2533"/>
                </a:solidFill>
                <a:latin typeface="Calibri" pitchFamily="34" charset="0"/>
                <a:ea typeface="Calibri" pitchFamily="34" charset="-122"/>
                <a:cs typeface="Calibri" pitchFamily="34" charset="-120"/>
              </a:rPr>
              <a:t>Max Pooling</a:t>
            </a:r>
            <a:endParaRPr lang="en-US" sz="1300" dirty="0"/>
          </a:p>
        </p:txBody>
      </p:sp>
      <p:sp>
        <p:nvSpPr>
          <p:cNvPr id="33" name="Text 31"/>
          <p:cNvSpPr/>
          <p:nvPr/>
        </p:nvSpPr>
        <p:spPr>
          <a:xfrm>
            <a:off x="3749040" y="2926080"/>
            <a:ext cx="5029200" cy="347472"/>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Halves spatial dimensions after each Conv block — reduces computation and adds translational invariance.</a:t>
            </a:r>
            <a:endParaRPr lang="en-US" sz="1150" dirty="0"/>
          </a:p>
        </p:txBody>
      </p:sp>
      <p:sp>
        <p:nvSpPr>
          <p:cNvPr id="34" name="Text 32"/>
          <p:cNvSpPr/>
          <p:nvPr/>
        </p:nvSpPr>
        <p:spPr>
          <a:xfrm>
            <a:off x="3749040" y="3264408"/>
            <a:ext cx="5029200" cy="256032"/>
          </a:xfrm>
          <a:prstGeom prst="rect">
            <a:avLst/>
          </a:prstGeom>
          <a:noFill/>
          <a:ln/>
        </p:spPr>
        <p:txBody>
          <a:bodyPr wrap="square" lIns="0" tIns="0" rIns="0" bIns="0" rtlCol="0" anchor="ctr"/>
          <a:lstStyle/>
          <a:p>
            <a:pPr indent="0" marL="0">
              <a:buNone/>
            </a:pPr>
            <a:r>
              <a:rPr lang="en-US" sz="1300" b="1" dirty="0">
                <a:solidFill>
                  <a:srgbClr val="1E2533"/>
                </a:solidFill>
                <a:latin typeface="Calibri" pitchFamily="34" charset="0"/>
                <a:ea typeface="Calibri" pitchFamily="34" charset="-122"/>
                <a:cs typeface="Calibri" pitchFamily="34" charset="-120"/>
              </a:rPr>
              <a:t>Regularization</a:t>
            </a:r>
            <a:endParaRPr lang="en-US" sz="1300" dirty="0"/>
          </a:p>
        </p:txBody>
      </p:sp>
      <p:sp>
        <p:nvSpPr>
          <p:cNvPr id="35" name="Text 33"/>
          <p:cNvSpPr/>
          <p:nvPr/>
        </p:nvSpPr>
        <p:spPr>
          <a:xfrm>
            <a:off x="3749040" y="3520440"/>
            <a:ext cx="5029200" cy="347472"/>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50% Dropout in the Dense layer deactivates half of neurons at random during training, preventing overfitting.</a:t>
            </a:r>
            <a:endParaRPr lang="en-US" sz="1150" dirty="0"/>
          </a:p>
        </p:txBody>
      </p:sp>
      <p:sp>
        <p:nvSpPr>
          <p:cNvPr id="36" name="Text 34"/>
          <p:cNvSpPr/>
          <p:nvPr/>
        </p:nvSpPr>
        <p:spPr>
          <a:xfrm>
            <a:off x="3749040" y="3858768"/>
            <a:ext cx="5029200" cy="256032"/>
          </a:xfrm>
          <a:prstGeom prst="rect">
            <a:avLst/>
          </a:prstGeom>
          <a:noFill/>
          <a:ln/>
        </p:spPr>
        <p:txBody>
          <a:bodyPr wrap="square" lIns="0" tIns="0" rIns="0" bIns="0" rtlCol="0" anchor="ctr"/>
          <a:lstStyle/>
          <a:p>
            <a:pPr indent="0" marL="0">
              <a:buNone/>
            </a:pPr>
            <a:r>
              <a:rPr lang="en-US" sz="1300" b="1" dirty="0">
                <a:solidFill>
                  <a:srgbClr val="1E2533"/>
                </a:solidFill>
                <a:latin typeface="Calibri" pitchFamily="34" charset="0"/>
                <a:ea typeface="Calibri" pitchFamily="34" charset="-122"/>
                <a:cs typeface="Calibri" pitchFamily="34" charset="-120"/>
              </a:rPr>
              <a:t>Output Layer</a:t>
            </a:r>
            <a:endParaRPr lang="en-US" sz="1300" dirty="0"/>
          </a:p>
        </p:txBody>
      </p:sp>
      <p:sp>
        <p:nvSpPr>
          <p:cNvPr id="37" name="Text 35"/>
          <p:cNvSpPr/>
          <p:nvPr/>
        </p:nvSpPr>
        <p:spPr>
          <a:xfrm>
            <a:off x="3749040" y="4114800"/>
            <a:ext cx="5029200" cy="347472"/>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10-node Softmax layer outputs a probability distribution across the 10 behavior classes (C0–C9).</a:t>
            </a:r>
            <a:endParaRPr lang="en-US" sz="1150" dirty="0"/>
          </a:p>
        </p:txBody>
      </p:sp>
      <p:sp>
        <p:nvSpPr>
          <p:cNvPr id="38" name="Text 36"/>
          <p:cNvSpPr/>
          <p:nvPr/>
        </p:nvSpPr>
        <p:spPr>
          <a:xfrm>
            <a:off x="3749040" y="4453128"/>
            <a:ext cx="5029200" cy="256032"/>
          </a:xfrm>
          <a:prstGeom prst="rect">
            <a:avLst/>
          </a:prstGeom>
          <a:noFill/>
          <a:ln/>
        </p:spPr>
        <p:txBody>
          <a:bodyPr wrap="square" lIns="0" tIns="0" rIns="0" bIns="0" rtlCol="0" anchor="ctr"/>
          <a:lstStyle/>
          <a:p>
            <a:pPr indent="0" marL="0">
              <a:buNone/>
            </a:pPr>
            <a:r>
              <a:rPr lang="en-US" sz="1300" b="1" dirty="0">
                <a:solidFill>
                  <a:srgbClr val="1E2533"/>
                </a:solidFill>
                <a:latin typeface="Calibri" pitchFamily="34" charset="0"/>
                <a:ea typeface="Calibri" pitchFamily="34" charset="-122"/>
                <a:cs typeface="Calibri" pitchFamily="34" charset="-120"/>
              </a:rPr>
              <a:t>Optimizer</a:t>
            </a:r>
            <a:endParaRPr lang="en-US" sz="1300" dirty="0"/>
          </a:p>
        </p:txBody>
      </p:sp>
      <p:sp>
        <p:nvSpPr>
          <p:cNvPr id="39" name="Text 37"/>
          <p:cNvSpPr/>
          <p:nvPr/>
        </p:nvSpPr>
        <p:spPr>
          <a:xfrm>
            <a:off x="3749040" y="4709160"/>
            <a:ext cx="5029200" cy="347472"/>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RMSProp with categorical cross-entropy loss — standard for multi-class image classification.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533"/>
          </a:solidFill>
          <a:ln w="12700">
            <a:solidFill>
              <a:srgbClr val="1E2533"/>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Transfer Learning with VGG16</a:t>
            </a:r>
            <a:endParaRPr lang="en-US" sz="2600" dirty="0"/>
          </a:p>
        </p:txBody>
      </p:sp>
      <p:sp>
        <p:nvSpPr>
          <p:cNvPr id="4" name="Text 2"/>
          <p:cNvSpPr/>
          <p:nvPr/>
        </p:nvSpPr>
        <p:spPr>
          <a:xfrm>
            <a:off x="457200" y="960120"/>
            <a:ext cx="4572000" cy="402336"/>
          </a:xfrm>
          <a:prstGeom prst="rect">
            <a:avLst/>
          </a:prstGeom>
          <a:noFill/>
          <a:ln/>
        </p:spPr>
        <p:txBody>
          <a:bodyPr wrap="square" lIns="0" tIns="0" rIns="0" bIns="0" rtlCol="0" anchor="ctr"/>
          <a:lstStyle/>
          <a:p>
            <a:pPr indent="0" marL="0">
              <a:buNone/>
            </a:pPr>
            <a:r>
              <a:rPr lang="en-US" sz="1700" b="1" dirty="0">
                <a:solidFill>
                  <a:srgbClr val="2C6B8A"/>
                </a:solidFill>
                <a:latin typeface="Cambria" pitchFamily="34" charset="0"/>
                <a:ea typeface="Cambria" pitchFamily="34" charset="-122"/>
                <a:cs typeface="Cambria" pitchFamily="34" charset="-120"/>
              </a:rPr>
              <a:t>What is Transfer Learning?</a:t>
            </a:r>
            <a:endParaRPr lang="en-US" sz="1700" dirty="0"/>
          </a:p>
        </p:txBody>
      </p:sp>
      <p:sp>
        <p:nvSpPr>
          <p:cNvPr id="5" name="Text 3"/>
          <p:cNvSpPr/>
          <p:nvPr/>
        </p:nvSpPr>
        <p:spPr>
          <a:xfrm>
            <a:off x="457200" y="1444752"/>
            <a:ext cx="4572000" cy="1600200"/>
          </a:xfrm>
          <a:prstGeom prst="rect">
            <a:avLst/>
          </a:prstGeom>
          <a:noFill/>
          <a:ln/>
        </p:spPr>
        <p:txBody>
          <a:bodyPr wrap="square" lIns="0" tIns="0" rIns="0" bIns="0" rtlCol="0" anchor="ctr"/>
          <a:lstStyle/>
          <a:p>
            <a:pPr indent="0" marL="0">
              <a:buNone/>
            </a:pPr>
            <a:r>
              <a:rPr lang="en-US" sz="1250" dirty="0">
                <a:solidFill>
                  <a:srgbClr val="2A2A2A"/>
                </a:solidFill>
                <a:latin typeface="Calibri" pitchFamily="34" charset="0"/>
                <a:ea typeface="Calibri" pitchFamily="34" charset="-122"/>
                <a:cs typeface="Calibri" pitchFamily="34" charset="-120"/>
              </a:rPr>
              <a:t>Transfer learning leverages a model pre-trained on a massive dataset (ImageNet: 1.2M images, 1,000 classes) and adapts its learned visual features to a new task — dramatically reducing training time and improving accuracy on small datasets.</a:t>
            </a:r>
            <a:endParaRPr lang="en-US" sz="1250" dirty="0"/>
          </a:p>
          <a:p>
            <a:pPr indent="0" marL="0">
              <a:buNone/>
            </a:pPr>
            <a:r>
              <a:rPr lang="en-US" sz="800" dirty="0">
                <a:solidFill>
                  <a:srgbClr val="2A2A2A"/>
                </a:solidFill>
                <a:latin typeface="Calibri" pitchFamily="34" charset="0"/>
                <a:ea typeface="Calibri" pitchFamily="34" charset="-122"/>
                <a:cs typeface="Calibri" pitchFamily="34" charset="-120"/>
              </a:rPr>
              <a:t> </a:t>
            </a:r>
            <a:endParaRPr lang="en-US" sz="1250" dirty="0"/>
          </a:p>
          <a:p>
            <a:pPr indent="0" marL="0">
              <a:buNone/>
            </a:pPr>
            <a:r>
              <a:rPr lang="en-US" sz="1250" dirty="0">
                <a:solidFill>
                  <a:srgbClr val="2A2A2A"/>
                </a:solidFill>
                <a:latin typeface="Calibri" pitchFamily="34" charset="0"/>
                <a:ea typeface="Calibri" pitchFamily="34" charset="-122"/>
                <a:cs typeface="Calibri" pitchFamily="34" charset="-120"/>
              </a:rPr>
              <a:t>VGG16 (Simonyan &amp; Zisserman, 2014) is a 16-layer deep CNN that achieved top-5 accuracy of 92.7% in the ImageNet ILSVRC 2014 challenge.</a:t>
            </a:r>
            <a:endParaRPr lang="en-US" sz="1250" dirty="0"/>
          </a:p>
        </p:txBody>
      </p:sp>
      <p:sp>
        <p:nvSpPr>
          <p:cNvPr id="6" name="Text 4"/>
          <p:cNvSpPr/>
          <p:nvPr/>
        </p:nvSpPr>
        <p:spPr>
          <a:xfrm>
            <a:off x="457200" y="3127248"/>
            <a:ext cx="4572000" cy="365760"/>
          </a:xfrm>
          <a:prstGeom prst="rect">
            <a:avLst/>
          </a:prstGeom>
          <a:noFill/>
          <a:ln/>
        </p:spPr>
        <p:txBody>
          <a:bodyPr wrap="square" lIns="0" tIns="0" rIns="0" bIns="0" rtlCol="0" anchor="ctr"/>
          <a:lstStyle/>
          <a:p>
            <a:pPr indent="0" marL="0">
              <a:buNone/>
            </a:pPr>
            <a:r>
              <a:rPr lang="en-US" sz="1500" b="1" dirty="0">
                <a:solidFill>
                  <a:srgbClr val="2C6B8A"/>
                </a:solidFill>
                <a:latin typeface="Cambria" pitchFamily="34" charset="0"/>
                <a:ea typeface="Cambria" pitchFamily="34" charset="-122"/>
                <a:cs typeface="Cambria" pitchFamily="34" charset="-120"/>
              </a:rPr>
              <a:t>Implementation Strategy</a:t>
            </a:r>
            <a:endParaRPr lang="en-US" sz="1500" dirty="0"/>
          </a:p>
        </p:txBody>
      </p:sp>
      <p:sp>
        <p:nvSpPr>
          <p:cNvPr id="7" name="Shape 5"/>
          <p:cNvSpPr/>
          <p:nvPr/>
        </p:nvSpPr>
        <p:spPr>
          <a:xfrm>
            <a:off x="457200" y="3584448"/>
            <a:ext cx="347472" cy="310896"/>
          </a:xfrm>
          <a:prstGeom prst="rect">
            <a:avLst/>
          </a:prstGeom>
          <a:solidFill>
            <a:srgbClr val="2C6B8A"/>
          </a:solidFill>
          <a:ln w="12700">
            <a:solidFill>
              <a:srgbClr val="2C6B8A"/>
            </a:solidFill>
            <a:prstDash val="solid"/>
          </a:ln>
        </p:spPr>
      </p:sp>
      <p:sp>
        <p:nvSpPr>
          <p:cNvPr id="8" name="Text 6"/>
          <p:cNvSpPr/>
          <p:nvPr/>
        </p:nvSpPr>
        <p:spPr>
          <a:xfrm>
            <a:off x="457200" y="3584448"/>
            <a:ext cx="34747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914400" y="3566160"/>
            <a:ext cx="4114800" cy="347472"/>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Load VGG16 pre-trained on ImageNet (no top classification layers)</a:t>
            </a:r>
            <a:endParaRPr lang="en-US" sz="1150" dirty="0"/>
          </a:p>
        </p:txBody>
      </p:sp>
      <p:sp>
        <p:nvSpPr>
          <p:cNvPr id="10" name="Shape 8"/>
          <p:cNvSpPr/>
          <p:nvPr/>
        </p:nvSpPr>
        <p:spPr>
          <a:xfrm>
            <a:off x="457200" y="3968496"/>
            <a:ext cx="347472" cy="310896"/>
          </a:xfrm>
          <a:prstGeom prst="rect">
            <a:avLst/>
          </a:prstGeom>
          <a:solidFill>
            <a:srgbClr val="2C6B8A"/>
          </a:solidFill>
          <a:ln w="12700">
            <a:solidFill>
              <a:srgbClr val="2C6B8A"/>
            </a:solidFill>
            <a:prstDash val="solid"/>
          </a:ln>
        </p:spPr>
      </p:sp>
      <p:sp>
        <p:nvSpPr>
          <p:cNvPr id="11" name="Text 9"/>
          <p:cNvSpPr/>
          <p:nvPr/>
        </p:nvSpPr>
        <p:spPr>
          <a:xfrm>
            <a:off x="457200" y="3968496"/>
            <a:ext cx="34747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914400" y="3950208"/>
            <a:ext cx="4114800" cy="347472"/>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Run all images through VGG16 to extract bottleneck features (7×7×512)</a:t>
            </a:r>
            <a:endParaRPr lang="en-US" sz="1150" dirty="0"/>
          </a:p>
        </p:txBody>
      </p:sp>
      <p:sp>
        <p:nvSpPr>
          <p:cNvPr id="13" name="Shape 11"/>
          <p:cNvSpPr/>
          <p:nvPr/>
        </p:nvSpPr>
        <p:spPr>
          <a:xfrm>
            <a:off x="457200" y="4352544"/>
            <a:ext cx="347472" cy="310896"/>
          </a:xfrm>
          <a:prstGeom prst="rect">
            <a:avLst/>
          </a:prstGeom>
          <a:solidFill>
            <a:srgbClr val="2C6B8A"/>
          </a:solidFill>
          <a:ln w="12700">
            <a:solidFill>
              <a:srgbClr val="2C6B8A"/>
            </a:solidFill>
            <a:prstDash val="solid"/>
          </a:ln>
        </p:spPr>
      </p:sp>
      <p:sp>
        <p:nvSpPr>
          <p:cNvPr id="14" name="Text 12"/>
          <p:cNvSpPr/>
          <p:nvPr/>
        </p:nvSpPr>
        <p:spPr>
          <a:xfrm>
            <a:off x="457200" y="4352544"/>
            <a:ext cx="34747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3"/>
          <p:cNvSpPr/>
          <p:nvPr/>
        </p:nvSpPr>
        <p:spPr>
          <a:xfrm>
            <a:off x="914400" y="4334256"/>
            <a:ext cx="4114800" cy="347472"/>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Build and train a lightweight top model on the bottleneck feature tensors</a:t>
            </a:r>
            <a:endParaRPr lang="en-US" sz="1150" dirty="0"/>
          </a:p>
        </p:txBody>
      </p:sp>
      <p:sp>
        <p:nvSpPr>
          <p:cNvPr id="16" name="Shape 14"/>
          <p:cNvSpPr/>
          <p:nvPr/>
        </p:nvSpPr>
        <p:spPr>
          <a:xfrm>
            <a:off x="457200" y="4736592"/>
            <a:ext cx="347472" cy="310896"/>
          </a:xfrm>
          <a:prstGeom prst="rect">
            <a:avLst/>
          </a:prstGeom>
          <a:solidFill>
            <a:srgbClr val="2C6B8A"/>
          </a:solidFill>
          <a:ln w="12700">
            <a:solidFill>
              <a:srgbClr val="2C6B8A"/>
            </a:solidFill>
            <a:prstDash val="solid"/>
          </a:ln>
        </p:spPr>
      </p:sp>
      <p:sp>
        <p:nvSpPr>
          <p:cNvPr id="17" name="Text 15"/>
          <p:cNvSpPr/>
          <p:nvPr/>
        </p:nvSpPr>
        <p:spPr>
          <a:xfrm>
            <a:off x="457200" y="4736592"/>
            <a:ext cx="34747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6"/>
          <p:cNvSpPr/>
          <p:nvPr/>
        </p:nvSpPr>
        <p:spPr>
          <a:xfrm>
            <a:off x="914400" y="4718304"/>
            <a:ext cx="4114800" cy="347472"/>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Fine-tune: unfreeze VGG16 Block 5, retrain end-to-end at very low learning rate</a:t>
            </a:r>
            <a:endParaRPr lang="en-US" sz="1150" dirty="0"/>
          </a:p>
        </p:txBody>
      </p:sp>
      <p:sp>
        <p:nvSpPr>
          <p:cNvPr id="19" name="Text 17"/>
          <p:cNvSpPr/>
          <p:nvPr/>
        </p:nvSpPr>
        <p:spPr>
          <a:xfrm>
            <a:off x="5486400" y="914400"/>
            <a:ext cx="3383280" cy="365760"/>
          </a:xfrm>
          <a:prstGeom prst="rect">
            <a:avLst/>
          </a:prstGeom>
          <a:noFill/>
          <a:ln/>
        </p:spPr>
        <p:txBody>
          <a:bodyPr wrap="square" lIns="0" tIns="0" rIns="0" bIns="0" rtlCol="0" anchor="ctr"/>
          <a:lstStyle/>
          <a:p>
            <a:pPr algn="ctr" indent="0" marL="0">
              <a:buNone/>
            </a:pPr>
            <a:r>
              <a:rPr lang="en-US" sz="1300" b="1" dirty="0">
                <a:solidFill>
                  <a:srgbClr val="2C6B8A"/>
                </a:solidFill>
                <a:latin typeface="Cambria" pitchFamily="34" charset="0"/>
                <a:ea typeface="Cambria" pitchFamily="34" charset="-122"/>
                <a:cs typeface="Cambria" pitchFamily="34" charset="-120"/>
              </a:rPr>
              <a:t>VGG16 Architecture</a:t>
            </a:r>
            <a:endParaRPr lang="en-US" sz="1300" dirty="0"/>
          </a:p>
        </p:txBody>
      </p:sp>
      <p:sp>
        <p:nvSpPr>
          <p:cNvPr id="20" name="Shape 18"/>
          <p:cNvSpPr/>
          <p:nvPr/>
        </p:nvSpPr>
        <p:spPr>
          <a:xfrm>
            <a:off x="5669280" y="1371600"/>
            <a:ext cx="3108960" cy="338328"/>
          </a:xfrm>
          <a:prstGeom prst="rect">
            <a:avLst/>
          </a:prstGeom>
          <a:solidFill>
            <a:srgbClr val="4A7FA8"/>
          </a:solidFill>
          <a:ln w="12700">
            <a:solidFill>
              <a:srgbClr val="4A7FA8"/>
            </a:solidFill>
            <a:prstDash val="solid"/>
          </a:ln>
        </p:spPr>
      </p:sp>
      <p:sp>
        <p:nvSpPr>
          <p:cNvPr id="21" name="Text 19"/>
          <p:cNvSpPr/>
          <p:nvPr/>
        </p:nvSpPr>
        <p:spPr>
          <a:xfrm>
            <a:off x="5669280" y="1371600"/>
            <a:ext cx="3108960" cy="3383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Input  (224 × 224 × 3)</a:t>
            </a:r>
            <a:endParaRPr lang="en-US" sz="1000" dirty="0"/>
          </a:p>
        </p:txBody>
      </p:sp>
      <p:sp>
        <p:nvSpPr>
          <p:cNvPr id="22" name="Shape 20"/>
          <p:cNvSpPr/>
          <p:nvPr/>
        </p:nvSpPr>
        <p:spPr>
          <a:xfrm>
            <a:off x="7205472" y="1709928"/>
            <a:ext cx="45720" cy="82296"/>
          </a:xfrm>
          <a:prstGeom prst="rect">
            <a:avLst/>
          </a:prstGeom>
          <a:solidFill>
            <a:srgbClr val="6B7280"/>
          </a:solidFill>
          <a:ln w="12700">
            <a:solidFill>
              <a:srgbClr val="6B7280"/>
            </a:solidFill>
            <a:prstDash val="solid"/>
          </a:ln>
        </p:spPr>
      </p:sp>
      <p:sp>
        <p:nvSpPr>
          <p:cNvPr id="23" name="Shape 21"/>
          <p:cNvSpPr/>
          <p:nvPr/>
        </p:nvSpPr>
        <p:spPr>
          <a:xfrm>
            <a:off x="5852160" y="1792224"/>
            <a:ext cx="2743200" cy="338328"/>
          </a:xfrm>
          <a:prstGeom prst="rect">
            <a:avLst/>
          </a:prstGeom>
          <a:solidFill>
            <a:srgbClr val="2C6B8A"/>
          </a:solidFill>
          <a:ln w="12700">
            <a:solidFill>
              <a:srgbClr val="2C6B8A"/>
            </a:solidFill>
            <a:prstDash val="solid"/>
          </a:ln>
        </p:spPr>
      </p:sp>
      <p:sp>
        <p:nvSpPr>
          <p:cNvPr id="24" name="Text 22"/>
          <p:cNvSpPr/>
          <p:nvPr/>
        </p:nvSpPr>
        <p:spPr>
          <a:xfrm>
            <a:off x="5852160" y="1792224"/>
            <a:ext cx="2743200" cy="3383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Block 1 — 2× Conv 3×3 (64)</a:t>
            </a:r>
            <a:endParaRPr lang="en-US" sz="1000" dirty="0"/>
          </a:p>
        </p:txBody>
      </p:sp>
      <p:sp>
        <p:nvSpPr>
          <p:cNvPr id="25" name="Shape 23"/>
          <p:cNvSpPr/>
          <p:nvPr/>
        </p:nvSpPr>
        <p:spPr>
          <a:xfrm>
            <a:off x="7205472" y="2130552"/>
            <a:ext cx="45720" cy="82296"/>
          </a:xfrm>
          <a:prstGeom prst="rect">
            <a:avLst/>
          </a:prstGeom>
          <a:solidFill>
            <a:srgbClr val="6B7280"/>
          </a:solidFill>
          <a:ln w="12700">
            <a:solidFill>
              <a:srgbClr val="6B7280"/>
            </a:solidFill>
            <a:prstDash val="solid"/>
          </a:ln>
        </p:spPr>
      </p:sp>
      <p:sp>
        <p:nvSpPr>
          <p:cNvPr id="26" name="Shape 24"/>
          <p:cNvSpPr/>
          <p:nvPr/>
        </p:nvSpPr>
        <p:spPr>
          <a:xfrm>
            <a:off x="5852160" y="2212848"/>
            <a:ext cx="2743200" cy="338328"/>
          </a:xfrm>
          <a:prstGeom prst="rect">
            <a:avLst/>
          </a:prstGeom>
          <a:solidFill>
            <a:srgbClr val="2C6B8A"/>
          </a:solidFill>
          <a:ln w="12700">
            <a:solidFill>
              <a:srgbClr val="2C6B8A"/>
            </a:solidFill>
            <a:prstDash val="solid"/>
          </a:ln>
        </p:spPr>
      </p:sp>
      <p:sp>
        <p:nvSpPr>
          <p:cNvPr id="27" name="Text 25"/>
          <p:cNvSpPr/>
          <p:nvPr/>
        </p:nvSpPr>
        <p:spPr>
          <a:xfrm>
            <a:off x="5852160" y="2212848"/>
            <a:ext cx="2743200" cy="3383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Block 2 — 2× Conv 3×3 (128)</a:t>
            </a:r>
            <a:endParaRPr lang="en-US" sz="1000" dirty="0"/>
          </a:p>
        </p:txBody>
      </p:sp>
      <p:sp>
        <p:nvSpPr>
          <p:cNvPr id="28" name="Shape 26"/>
          <p:cNvSpPr/>
          <p:nvPr/>
        </p:nvSpPr>
        <p:spPr>
          <a:xfrm>
            <a:off x="7205472" y="2551176"/>
            <a:ext cx="45720" cy="82296"/>
          </a:xfrm>
          <a:prstGeom prst="rect">
            <a:avLst/>
          </a:prstGeom>
          <a:solidFill>
            <a:srgbClr val="6B7280"/>
          </a:solidFill>
          <a:ln w="12700">
            <a:solidFill>
              <a:srgbClr val="6B7280"/>
            </a:solidFill>
            <a:prstDash val="solid"/>
          </a:ln>
        </p:spPr>
      </p:sp>
      <p:sp>
        <p:nvSpPr>
          <p:cNvPr id="29" name="Shape 27"/>
          <p:cNvSpPr/>
          <p:nvPr/>
        </p:nvSpPr>
        <p:spPr>
          <a:xfrm>
            <a:off x="5852160" y="2633472"/>
            <a:ext cx="2743200" cy="338328"/>
          </a:xfrm>
          <a:prstGeom prst="rect">
            <a:avLst/>
          </a:prstGeom>
          <a:solidFill>
            <a:srgbClr val="1E5577"/>
          </a:solidFill>
          <a:ln w="12700">
            <a:solidFill>
              <a:srgbClr val="1E5577"/>
            </a:solidFill>
            <a:prstDash val="solid"/>
          </a:ln>
        </p:spPr>
      </p:sp>
      <p:sp>
        <p:nvSpPr>
          <p:cNvPr id="30" name="Text 28"/>
          <p:cNvSpPr/>
          <p:nvPr/>
        </p:nvSpPr>
        <p:spPr>
          <a:xfrm>
            <a:off x="5852160" y="2633472"/>
            <a:ext cx="2743200" cy="3383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Block 3 — 3× Conv 3×3 (256)</a:t>
            </a:r>
            <a:endParaRPr lang="en-US" sz="1000" dirty="0"/>
          </a:p>
        </p:txBody>
      </p:sp>
      <p:sp>
        <p:nvSpPr>
          <p:cNvPr id="31" name="Shape 29"/>
          <p:cNvSpPr/>
          <p:nvPr/>
        </p:nvSpPr>
        <p:spPr>
          <a:xfrm>
            <a:off x="7205472" y="2971800"/>
            <a:ext cx="45720" cy="82296"/>
          </a:xfrm>
          <a:prstGeom prst="rect">
            <a:avLst/>
          </a:prstGeom>
          <a:solidFill>
            <a:srgbClr val="6B7280"/>
          </a:solidFill>
          <a:ln w="12700">
            <a:solidFill>
              <a:srgbClr val="6B7280"/>
            </a:solidFill>
            <a:prstDash val="solid"/>
          </a:ln>
        </p:spPr>
      </p:sp>
      <p:sp>
        <p:nvSpPr>
          <p:cNvPr id="32" name="Shape 30"/>
          <p:cNvSpPr/>
          <p:nvPr/>
        </p:nvSpPr>
        <p:spPr>
          <a:xfrm>
            <a:off x="5852160" y="3054096"/>
            <a:ext cx="2743200" cy="338328"/>
          </a:xfrm>
          <a:prstGeom prst="rect">
            <a:avLst/>
          </a:prstGeom>
          <a:solidFill>
            <a:srgbClr val="1E5577"/>
          </a:solidFill>
          <a:ln w="12700">
            <a:solidFill>
              <a:srgbClr val="1E5577"/>
            </a:solidFill>
            <a:prstDash val="solid"/>
          </a:ln>
        </p:spPr>
      </p:sp>
      <p:sp>
        <p:nvSpPr>
          <p:cNvPr id="33" name="Text 31"/>
          <p:cNvSpPr/>
          <p:nvPr/>
        </p:nvSpPr>
        <p:spPr>
          <a:xfrm>
            <a:off x="5852160" y="3054096"/>
            <a:ext cx="2743200" cy="3383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Block 4 — 3× Conv 3×3 (512)</a:t>
            </a:r>
            <a:endParaRPr lang="en-US" sz="1000" dirty="0"/>
          </a:p>
        </p:txBody>
      </p:sp>
      <p:sp>
        <p:nvSpPr>
          <p:cNvPr id="34" name="Shape 32"/>
          <p:cNvSpPr/>
          <p:nvPr/>
        </p:nvSpPr>
        <p:spPr>
          <a:xfrm>
            <a:off x="7205472" y="3392424"/>
            <a:ext cx="45720" cy="82296"/>
          </a:xfrm>
          <a:prstGeom prst="rect">
            <a:avLst/>
          </a:prstGeom>
          <a:solidFill>
            <a:srgbClr val="6B7280"/>
          </a:solidFill>
          <a:ln w="12700">
            <a:solidFill>
              <a:srgbClr val="6B7280"/>
            </a:solidFill>
            <a:prstDash val="solid"/>
          </a:ln>
        </p:spPr>
      </p:sp>
      <p:sp>
        <p:nvSpPr>
          <p:cNvPr id="35" name="Shape 33"/>
          <p:cNvSpPr/>
          <p:nvPr/>
        </p:nvSpPr>
        <p:spPr>
          <a:xfrm>
            <a:off x="5852160" y="3474720"/>
            <a:ext cx="2743200" cy="338328"/>
          </a:xfrm>
          <a:prstGeom prst="rect">
            <a:avLst/>
          </a:prstGeom>
          <a:solidFill>
            <a:srgbClr val="164863"/>
          </a:solidFill>
          <a:ln w="12700">
            <a:solidFill>
              <a:srgbClr val="164863"/>
            </a:solidFill>
            <a:prstDash val="solid"/>
          </a:ln>
        </p:spPr>
      </p:sp>
      <p:sp>
        <p:nvSpPr>
          <p:cNvPr id="36" name="Text 34"/>
          <p:cNvSpPr/>
          <p:nvPr/>
        </p:nvSpPr>
        <p:spPr>
          <a:xfrm>
            <a:off x="5852160" y="3474720"/>
            <a:ext cx="2743200" cy="3383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Block 5 — 3× Conv 3×3 (512)</a:t>
            </a:r>
            <a:endParaRPr lang="en-US" sz="1000" dirty="0"/>
          </a:p>
        </p:txBody>
      </p:sp>
      <p:sp>
        <p:nvSpPr>
          <p:cNvPr id="37" name="Shape 35"/>
          <p:cNvSpPr/>
          <p:nvPr/>
        </p:nvSpPr>
        <p:spPr>
          <a:xfrm>
            <a:off x="7205472" y="3813048"/>
            <a:ext cx="45720" cy="82296"/>
          </a:xfrm>
          <a:prstGeom prst="rect">
            <a:avLst/>
          </a:prstGeom>
          <a:solidFill>
            <a:srgbClr val="6B7280"/>
          </a:solidFill>
          <a:ln w="12700">
            <a:solidFill>
              <a:srgbClr val="6B7280"/>
            </a:solidFill>
            <a:prstDash val="solid"/>
          </a:ln>
        </p:spPr>
      </p:sp>
      <p:sp>
        <p:nvSpPr>
          <p:cNvPr id="38" name="Shape 36"/>
          <p:cNvSpPr/>
          <p:nvPr/>
        </p:nvSpPr>
        <p:spPr>
          <a:xfrm>
            <a:off x="5669280" y="3895344"/>
            <a:ext cx="3108960" cy="338328"/>
          </a:xfrm>
          <a:prstGeom prst="rect">
            <a:avLst/>
          </a:prstGeom>
          <a:solidFill>
            <a:srgbClr val="D4552A"/>
          </a:solidFill>
          <a:ln w="12700">
            <a:solidFill>
              <a:srgbClr val="D4552A"/>
            </a:solidFill>
            <a:prstDash val="solid"/>
          </a:ln>
        </p:spPr>
      </p:sp>
      <p:sp>
        <p:nvSpPr>
          <p:cNvPr id="39" name="Text 37"/>
          <p:cNvSpPr/>
          <p:nvPr/>
        </p:nvSpPr>
        <p:spPr>
          <a:xfrm>
            <a:off x="5669280" y="3895344"/>
            <a:ext cx="3108960" cy="3383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Bottleneck Output (7×7×512)</a:t>
            </a:r>
            <a:endParaRPr lang="en-US" sz="1000" dirty="0"/>
          </a:p>
        </p:txBody>
      </p:sp>
      <p:sp>
        <p:nvSpPr>
          <p:cNvPr id="40" name="Shape 38"/>
          <p:cNvSpPr/>
          <p:nvPr/>
        </p:nvSpPr>
        <p:spPr>
          <a:xfrm>
            <a:off x="7205472" y="4233672"/>
            <a:ext cx="45720" cy="82296"/>
          </a:xfrm>
          <a:prstGeom prst="rect">
            <a:avLst/>
          </a:prstGeom>
          <a:solidFill>
            <a:srgbClr val="6B7280"/>
          </a:solidFill>
          <a:ln w="12700">
            <a:solidFill>
              <a:srgbClr val="6B7280"/>
            </a:solidFill>
            <a:prstDash val="solid"/>
          </a:ln>
        </p:spPr>
      </p:sp>
      <p:sp>
        <p:nvSpPr>
          <p:cNvPr id="41" name="Shape 39"/>
          <p:cNvSpPr/>
          <p:nvPr/>
        </p:nvSpPr>
        <p:spPr>
          <a:xfrm>
            <a:off x="5760720" y="4315968"/>
            <a:ext cx="2926080" cy="338328"/>
          </a:xfrm>
          <a:prstGeom prst="rect">
            <a:avLst/>
          </a:prstGeom>
          <a:solidFill>
            <a:srgbClr val="2C6B8A"/>
          </a:solidFill>
          <a:ln w="12700">
            <a:solidFill>
              <a:srgbClr val="2C6B8A"/>
            </a:solidFill>
            <a:prstDash val="solid"/>
          </a:ln>
        </p:spPr>
      </p:sp>
      <p:sp>
        <p:nvSpPr>
          <p:cNvPr id="42" name="Text 40"/>
          <p:cNvSpPr/>
          <p:nvPr/>
        </p:nvSpPr>
        <p:spPr>
          <a:xfrm>
            <a:off x="5760720" y="4315968"/>
            <a:ext cx="2926080" cy="3383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GAP → Dense 256 + Dropout</a:t>
            </a:r>
            <a:endParaRPr lang="en-US" sz="1000" dirty="0"/>
          </a:p>
        </p:txBody>
      </p:sp>
      <p:sp>
        <p:nvSpPr>
          <p:cNvPr id="43" name="Shape 41"/>
          <p:cNvSpPr/>
          <p:nvPr/>
        </p:nvSpPr>
        <p:spPr>
          <a:xfrm>
            <a:off x="7205472" y="4654296"/>
            <a:ext cx="45720" cy="82296"/>
          </a:xfrm>
          <a:prstGeom prst="rect">
            <a:avLst/>
          </a:prstGeom>
          <a:solidFill>
            <a:srgbClr val="6B7280"/>
          </a:solidFill>
          <a:ln w="12700">
            <a:solidFill>
              <a:srgbClr val="6B7280"/>
            </a:solidFill>
            <a:prstDash val="solid"/>
          </a:ln>
        </p:spPr>
      </p:sp>
      <p:sp>
        <p:nvSpPr>
          <p:cNvPr id="44" name="Shape 42"/>
          <p:cNvSpPr/>
          <p:nvPr/>
        </p:nvSpPr>
        <p:spPr>
          <a:xfrm>
            <a:off x="5669280" y="4736592"/>
            <a:ext cx="3108960" cy="338328"/>
          </a:xfrm>
          <a:prstGeom prst="rect">
            <a:avLst/>
          </a:prstGeom>
          <a:solidFill>
            <a:srgbClr val="D4552A"/>
          </a:solidFill>
          <a:ln w="12700">
            <a:solidFill>
              <a:srgbClr val="D4552A"/>
            </a:solidFill>
            <a:prstDash val="solid"/>
          </a:ln>
        </p:spPr>
      </p:sp>
      <p:sp>
        <p:nvSpPr>
          <p:cNvPr id="45" name="Text 43"/>
          <p:cNvSpPr/>
          <p:nvPr/>
        </p:nvSpPr>
        <p:spPr>
          <a:xfrm>
            <a:off x="5669280" y="4736592"/>
            <a:ext cx="3108960" cy="3383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Dense 10 + Softmax  →  C0–C9</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533"/>
          </a:solidFill>
          <a:ln w="12700">
            <a:solidFill>
              <a:srgbClr val="1E2533"/>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Bottleneck Feature Extraction</a:t>
            </a:r>
            <a:endParaRPr lang="en-US" sz="2600" dirty="0"/>
          </a:p>
        </p:txBody>
      </p:sp>
      <p:sp>
        <p:nvSpPr>
          <p:cNvPr id="4" name="Text 2"/>
          <p:cNvSpPr/>
          <p:nvPr/>
        </p:nvSpPr>
        <p:spPr>
          <a:xfrm>
            <a:off x="457200" y="960120"/>
            <a:ext cx="4663440" cy="402336"/>
          </a:xfrm>
          <a:prstGeom prst="rect">
            <a:avLst/>
          </a:prstGeom>
          <a:noFill/>
          <a:ln/>
        </p:spPr>
        <p:txBody>
          <a:bodyPr wrap="square" lIns="0" tIns="0" rIns="0" bIns="0" rtlCol="0" anchor="ctr"/>
          <a:lstStyle/>
          <a:p>
            <a:pPr indent="0" marL="0">
              <a:buNone/>
            </a:pPr>
            <a:r>
              <a:rPr lang="en-US" sz="1700" b="1" dirty="0">
                <a:solidFill>
                  <a:srgbClr val="2C6B8A"/>
                </a:solidFill>
                <a:latin typeface="Cambria" pitchFamily="34" charset="0"/>
                <a:ea typeface="Cambria" pitchFamily="34" charset="-122"/>
                <a:cs typeface="Cambria" pitchFamily="34" charset="-120"/>
              </a:rPr>
              <a:t>Why Extract Bottleneck Features?</a:t>
            </a:r>
            <a:endParaRPr lang="en-US" sz="1700" dirty="0"/>
          </a:p>
        </p:txBody>
      </p:sp>
      <p:sp>
        <p:nvSpPr>
          <p:cNvPr id="5" name="Text 3"/>
          <p:cNvSpPr/>
          <p:nvPr/>
        </p:nvSpPr>
        <p:spPr>
          <a:xfrm>
            <a:off x="457200" y="1444752"/>
            <a:ext cx="4663440" cy="1600200"/>
          </a:xfrm>
          <a:prstGeom prst="rect">
            <a:avLst/>
          </a:prstGeom>
          <a:noFill/>
          <a:ln/>
        </p:spPr>
        <p:txBody>
          <a:bodyPr wrap="square" lIns="0" tIns="0" rIns="0" bIns="0" rtlCol="0" anchor="ctr"/>
          <a:lstStyle/>
          <a:p>
            <a:pPr indent="0" marL="0">
              <a:buNone/>
            </a:pPr>
            <a:r>
              <a:rPr lang="en-US" sz="1250" dirty="0">
                <a:solidFill>
                  <a:srgbClr val="2A2A2A"/>
                </a:solidFill>
                <a:latin typeface="Calibri" pitchFamily="34" charset="0"/>
                <a:ea typeface="Calibri" pitchFamily="34" charset="-122"/>
                <a:cs typeface="Calibri" pitchFamily="34" charset="-120"/>
              </a:rPr>
              <a:t>Running all images through the full VGG16 network every training epoch is extremely expensive in computation time. By pre-computing and saving the bottleneck features once, we pass data through the expensive layers only a single time.</a:t>
            </a:r>
            <a:endParaRPr lang="en-US" sz="1250" dirty="0"/>
          </a:p>
          <a:p>
            <a:pPr indent="0" marL="0">
              <a:buNone/>
            </a:pPr>
            <a:r>
              <a:rPr lang="en-US" sz="800" dirty="0">
                <a:solidFill>
                  <a:srgbClr val="2A2A2A"/>
                </a:solidFill>
                <a:latin typeface="Calibri" pitchFamily="34" charset="0"/>
                <a:ea typeface="Calibri" pitchFamily="34" charset="-122"/>
                <a:cs typeface="Calibri" pitchFamily="34" charset="-120"/>
              </a:rPr>
              <a:t> </a:t>
            </a:r>
            <a:endParaRPr lang="en-US" sz="1250" dirty="0"/>
          </a:p>
          <a:p>
            <a:pPr indent="0" marL="0">
              <a:buNone/>
            </a:pPr>
            <a:r>
              <a:rPr lang="en-US" sz="1250" dirty="0">
                <a:solidFill>
                  <a:srgbClr val="2A2A2A"/>
                </a:solidFill>
                <a:latin typeface="Calibri" pitchFamily="34" charset="0"/>
                <a:ea typeface="Calibri" pitchFamily="34" charset="-122"/>
                <a:cs typeface="Calibri" pitchFamily="34" charset="-120"/>
              </a:rPr>
              <a:t>A small, fast 'top model' is then trained on these compact feature vectors — training reduces from hours to minutes with equivalent results.</a:t>
            </a:r>
            <a:endParaRPr lang="en-US" sz="1250" dirty="0"/>
          </a:p>
        </p:txBody>
      </p:sp>
      <p:sp>
        <p:nvSpPr>
          <p:cNvPr id="6" name="Shape 4"/>
          <p:cNvSpPr/>
          <p:nvPr/>
        </p:nvSpPr>
        <p:spPr>
          <a:xfrm>
            <a:off x="457200" y="3154680"/>
            <a:ext cx="4663440" cy="475488"/>
          </a:xfrm>
          <a:prstGeom prst="rect">
            <a:avLst/>
          </a:prstGeom>
          <a:solidFill>
            <a:srgbClr val="EEF4F7"/>
          </a:solidFill>
          <a:ln/>
          <a:effectLst>
            <a:outerShdw sx="100000" sy="100000" kx="0" ky="0" algn="bl" rotWithShape="0" blurRad="50800" dist="12700" dir="8100000">
              <a:srgbClr val="000000">
                <a:alpha val="7000"/>
              </a:srgbClr>
            </a:outerShdw>
          </a:effectLst>
        </p:spPr>
      </p:sp>
      <p:sp>
        <p:nvSpPr>
          <p:cNvPr id="7" name="Text 5"/>
          <p:cNvSpPr/>
          <p:nvPr/>
        </p:nvSpPr>
        <p:spPr>
          <a:xfrm>
            <a:off x="566928" y="3191256"/>
            <a:ext cx="1371600" cy="402336"/>
          </a:xfrm>
          <a:prstGeom prst="rect">
            <a:avLst/>
          </a:prstGeom>
          <a:noFill/>
          <a:ln/>
        </p:spPr>
        <p:txBody>
          <a:bodyPr wrap="square" lIns="0" tIns="0" rIns="0" bIns="0" rtlCol="0" anchor="ctr"/>
          <a:lstStyle/>
          <a:p>
            <a:pPr indent="0" marL="0">
              <a:buNone/>
            </a:pPr>
            <a:r>
              <a:rPr lang="en-US" sz="1800" b="1" dirty="0">
                <a:solidFill>
                  <a:srgbClr val="1E2533"/>
                </a:solidFill>
                <a:latin typeface="Cambria" pitchFamily="34" charset="0"/>
                <a:ea typeface="Cambria" pitchFamily="34" charset="-122"/>
                <a:cs typeface="Cambria" pitchFamily="34" charset="-120"/>
              </a:rPr>
              <a:t>17,939</a:t>
            </a:r>
            <a:endParaRPr lang="en-US" sz="1800" dirty="0"/>
          </a:p>
        </p:txBody>
      </p:sp>
      <p:sp>
        <p:nvSpPr>
          <p:cNvPr id="8" name="Text 6"/>
          <p:cNvSpPr/>
          <p:nvPr/>
        </p:nvSpPr>
        <p:spPr>
          <a:xfrm>
            <a:off x="2011680" y="3227832"/>
            <a:ext cx="2926080" cy="329184"/>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Training bottleneck tensors  (7×7×512 each)</a:t>
            </a:r>
            <a:endParaRPr lang="en-US" sz="1150" dirty="0"/>
          </a:p>
        </p:txBody>
      </p:sp>
      <p:sp>
        <p:nvSpPr>
          <p:cNvPr id="9" name="Shape 7"/>
          <p:cNvSpPr/>
          <p:nvPr/>
        </p:nvSpPr>
        <p:spPr>
          <a:xfrm>
            <a:off x="457200" y="3721608"/>
            <a:ext cx="4663440" cy="475488"/>
          </a:xfrm>
          <a:prstGeom prst="rect">
            <a:avLst/>
          </a:prstGeom>
          <a:solidFill>
            <a:srgbClr val="EEF4F7"/>
          </a:solidFill>
          <a:ln/>
          <a:effectLst>
            <a:outerShdw sx="100000" sy="100000" kx="0" ky="0" algn="bl" rotWithShape="0" blurRad="50800" dist="12700" dir="8100000">
              <a:srgbClr val="000000">
                <a:alpha val="7000"/>
              </a:srgbClr>
            </a:outerShdw>
          </a:effectLst>
        </p:spPr>
      </p:sp>
      <p:sp>
        <p:nvSpPr>
          <p:cNvPr id="10" name="Text 8"/>
          <p:cNvSpPr/>
          <p:nvPr/>
        </p:nvSpPr>
        <p:spPr>
          <a:xfrm>
            <a:off x="566928" y="3758184"/>
            <a:ext cx="1371600" cy="402336"/>
          </a:xfrm>
          <a:prstGeom prst="rect">
            <a:avLst/>
          </a:prstGeom>
          <a:noFill/>
          <a:ln/>
        </p:spPr>
        <p:txBody>
          <a:bodyPr wrap="square" lIns="0" tIns="0" rIns="0" bIns="0" rtlCol="0" anchor="ctr"/>
          <a:lstStyle/>
          <a:p>
            <a:pPr indent="0" marL="0">
              <a:buNone/>
            </a:pPr>
            <a:r>
              <a:rPr lang="en-US" sz="1800" b="1" dirty="0">
                <a:solidFill>
                  <a:srgbClr val="1E2533"/>
                </a:solidFill>
                <a:latin typeface="Cambria" pitchFamily="34" charset="0"/>
                <a:ea typeface="Cambria" pitchFamily="34" charset="-122"/>
                <a:cs typeface="Cambria" pitchFamily="34" charset="-120"/>
              </a:rPr>
              <a:t>4,485</a:t>
            </a:r>
            <a:endParaRPr lang="en-US" sz="1800" dirty="0"/>
          </a:p>
        </p:txBody>
      </p:sp>
      <p:sp>
        <p:nvSpPr>
          <p:cNvPr id="11" name="Text 9"/>
          <p:cNvSpPr/>
          <p:nvPr/>
        </p:nvSpPr>
        <p:spPr>
          <a:xfrm>
            <a:off x="2011680" y="3794760"/>
            <a:ext cx="2926080" cy="329184"/>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Validation bottleneck tensors  (7×7×512 each)</a:t>
            </a:r>
            <a:endParaRPr lang="en-US" sz="1150" dirty="0"/>
          </a:p>
        </p:txBody>
      </p:sp>
      <p:sp>
        <p:nvSpPr>
          <p:cNvPr id="12" name="Shape 10"/>
          <p:cNvSpPr/>
          <p:nvPr/>
        </p:nvSpPr>
        <p:spPr>
          <a:xfrm>
            <a:off x="457200" y="4288536"/>
            <a:ext cx="4663440" cy="475488"/>
          </a:xfrm>
          <a:prstGeom prst="rect">
            <a:avLst/>
          </a:prstGeom>
          <a:solidFill>
            <a:srgbClr val="EEF4F7"/>
          </a:solidFill>
          <a:ln/>
          <a:effectLst>
            <a:outerShdw sx="100000" sy="100000" kx="0" ky="0" algn="bl" rotWithShape="0" blurRad="50800" dist="12700" dir="8100000">
              <a:srgbClr val="000000">
                <a:alpha val="7000"/>
              </a:srgbClr>
            </a:outerShdw>
          </a:effectLst>
        </p:spPr>
      </p:sp>
      <p:sp>
        <p:nvSpPr>
          <p:cNvPr id="13" name="Text 11"/>
          <p:cNvSpPr/>
          <p:nvPr/>
        </p:nvSpPr>
        <p:spPr>
          <a:xfrm>
            <a:off x="566928" y="4325112"/>
            <a:ext cx="1371600" cy="402336"/>
          </a:xfrm>
          <a:prstGeom prst="rect">
            <a:avLst/>
          </a:prstGeom>
          <a:noFill/>
          <a:ln/>
        </p:spPr>
        <p:txBody>
          <a:bodyPr wrap="square" lIns="0" tIns="0" rIns="0" bIns="0" rtlCol="0" anchor="ctr"/>
          <a:lstStyle/>
          <a:p>
            <a:pPr indent="0" marL="0">
              <a:buNone/>
            </a:pPr>
            <a:r>
              <a:rPr lang="en-US" sz="1800" b="1" dirty="0">
                <a:solidFill>
                  <a:srgbClr val="1E2533"/>
                </a:solidFill>
                <a:latin typeface="Cambria" pitchFamily="34" charset="0"/>
                <a:ea typeface="Cambria" pitchFamily="34" charset="-122"/>
                <a:cs typeface="Cambria" pitchFamily="34" charset="-120"/>
              </a:rPr>
              <a:t>79,726</a:t>
            </a:r>
            <a:endParaRPr lang="en-US" sz="1800" dirty="0"/>
          </a:p>
        </p:txBody>
      </p:sp>
      <p:sp>
        <p:nvSpPr>
          <p:cNvPr id="14" name="Text 12"/>
          <p:cNvSpPr/>
          <p:nvPr/>
        </p:nvSpPr>
        <p:spPr>
          <a:xfrm>
            <a:off x="2011680" y="4361688"/>
            <a:ext cx="2926080" cy="329184"/>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Test bottleneck tensors  (7×7×512 each)</a:t>
            </a:r>
            <a:endParaRPr lang="en-US" sz="1150" dirty="0"/>
          </a:p>
        </p:txBody>
      </p:sp>
      <p:sp>
        <p:nvSpPr>
          <p:cNvPr id="15" name="Shape 13"/>
          <p:cNvSpPr/>
          <p:nvPr/>
        </p:nvSpPr>
        <p:spPr>
          <a:xfrm>
            <a:off x="5669280" y="960120"/>
            <a:ext cx="3108960" cy="512064"/>
          </a:xfrm>
          <a:prstGeom prst="rect">
            <a:avLst/>
          </a:prstGeom>
          <a:solidFill>
            <a:srgbClr val="4A7FA8"/>
          </a:solidFill>
          <a:ln w="12700">
            <a:solidFill>
              <a:srgbClr val="4A7FA8"/>
            </a:solidFill>
            <a:prstDash val="solid"/>
          </a:ln>
        </p:spPr>
      </p:sp>
      <p:sp>
        <p:nvSpPr>
          <p:cNvPr id="16" name="Text 14"/>
          <p:cNvSpPr/>
          <p:nvPr/>
        </p:nvSpPr>
        <p:spPr>
          <a:xfrm>
            <a:off x="5669280" y="960120"/>
            <a:ext cx="3108960"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Raw Image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(224 × 224 × 3)</a:t>
            </a:r>
            <a:endParaRPr lang="en-US" sz="1100" dirty="0"/>
          </a:p>
        </p:txBody>
      </p:sp>
      <p:sp>
        <p:nvSpPr>
          <p:cNvPr id="17" name="Shape 15"/>
          <p:cNvSpPr/>
          <p:nvPr/>
        </p:nvSpPr>
        <p:spPr>
          <a:xfrm>
            <a:off x="7205472" y="1472184"/>
            <a:ext cx="54864" cy="164592"/>
          </a:xfrm>
          <a:prstGeom prst="rect">
            <a:avLst/>
          </a:prstGeom>
          <a:solidFill>
            <a:srgbClr val="6B7280"/>
          </a:solidFill>
          <a:ln w="12700">
            <a:solidFill>
              <a:srgbClr val="6B7280"/>
            </a:solidFill>
            <a:prstDash val="solid"/>
          </a:ln>
        </p:spPr>
      </p:sp>
      <p:sp>
        <p:nvSpPr>
          <p:cNvPr id="18" name="Shape 16"/>
          <p:cNvSpPr/>
          <p:nvPr/>
        </p:nvSpPr>
        <p:spPr>
          <a:xfrm>
            <a:off x="5669280" y="1636776"/>
            <a:ext cx="3108960" cy="512064"/>
          </a:xfrm>
          <a:prstGeom prst="rect">
            <a:avLst/>
          </a:prstGeom>
          <a:solidFill>
            <a:srgbClr val="2C6B8A"/>
          </a:solidFill>
          <a:ln w="12700">
            <a:solidFill>
              <a:srgbClr val="2C6B8A"/>
            </a:solidFill>
            <a:prstDash val="solid"/>
          </a:ln>
        </p:spPr>
      </p:sp>
      <p:sp>
        <p:nvSpPr>
          <p:cNvPr id="19" name="Text 17"/>
          <p:cNvSpPr/>
          <p:nvPr/>
        </p:nvSpPr>
        <p:spPr>
          <a:xfrm>
            <a:off x="5669280" y="1636776"/>
            <a:ext cx="3108960"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VGG16 Blocks 1–5</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(frozen weights)</a:t>
            </a:r>
            <a:endParaRPr lang="en-US" sz="1100" dirty="0"/>
          </a:p>
        </p:txBody>
      </p:sp>
      <p:sp>
        <p:nvSpPr>
          <p:cNvPr id="20" name="Shape 18"/>
          <p:cNvSpPr/>
          <p:nvPr/>
        </p:nvSpPr>
        <p:spPr>
          <a:xfrm>
            <a:off x="7205472" y="2148840"/>
            <a:ext cx="54864" cy="164592"/>
          </a:xfrm>
          <a:prstGeom prst="rect">
            <a:avLst/>
          </a:prstGeom>
          <a:solidFill>
            <a:srgbClr val="6B7280"/>
          </a:solidFill>
          <a:ln w="12700">
            <a:solidFill>
              <a:srgbClr val="6B7280"/>
            </a:solidFill>
            <a:prstDash val="solid"/>
          </a:ln>
        </p:spPr>
      </p:sp>
      <p:sp>
        <p:nvSpPr>
          <p:cNvPr id="21" name="Shape 19"/>
          <p:cNvSpPr/>
          <p:nvPr/>
        </p:nvSpPr>
        <p:spPr>
          <a:xfrm>
            <a:off x="5669280" y="2313432"/>
            <a:ext cx="3108960" cy="512064"/>
          </a:xfrm>
          <a:prstGeom prst="rect">
            <a:avLst/>
          </a:prstGeom>
          <a:solidFill>
            <a:srgbClr val="D4552A"/>
          </a:solidFill>
          <a:ln w="12700">
            <a:solidFill>
              <a:srgbClr val="D4552A"/>
            </a:solidFill>
            <a:prstDash val="solid"/>
          </a:ln>
        </p:spPr>
      </p:sp>
      <p:sp>
        <p:nvSpPr>
          <p:cNvPr id="22" name="Text 20"/>
          <p:cNvSpPr/>
          <p:nvPr/>
        </p:nvSpPr>
        <p:spPr>
          <a:xfrm>
            <a:off x="5669280" y="2313432"/>
            <a:ext cx="3108960"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Bottleneck Output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(7 × 7 × 512)</a:t>
            </a:r>
            <a:endParaRPr lang="en-US" sz="1100" dirty="0"/>
          </a:p>
        </p:txBody>
      </p:sp>
      <p:sp>
        <p:nvSpPr>
          <p:cNvPr id="23" name="Shape 21"/>
          <p:cNvSpPr/>
          <p:nvPr/>
        </p:nvSpPr>
        <p:spPr>
          <a:xfrm>
            <a:off x="7205472" y="2825496"/>
            <a:ext cx="54864" cy="164592"/>
          </a:xfrm>
          <a:prstGeom prst="rect">
            <a:avLst/>
          </a:prstGeom>
          <a:solidFill>
            <a:srgbClr val="6B7280"/>
          </a:solidFill>
          <a:ln w="12700">
            <a:solidFill>
              <a:srgbClr val="6B7280"/>
            </a:solidFill>
            <a:prstDash val="solid"/>
          </a:ln>
        </p:spPr>
      </p:sp>
      <p:sp>
        <p:nvSpPr>
          <p:cNvPr id="24" name="Shape 22"/>
          <p:cNvSpPr/>
          <p:nvPr/>
        </p:nvSpPr>
        <p:spPr>
          <a:xfrm>
            <a:off x="5669280" y="2990088"/>
            <a:ext cx="3108960" cy="512064"/>
          </a:xfrm>
          <a:prstGeom prst="rect">
            <a:avLst/>
          </a:prstGeom>
          <a:solidFill>
            <a:srgbClr val="2C6B8A"/>
          </a:solidFill>
          <a:ln w="12700">
            <a:solidFill>
              <a:srgbClr val="2C6B8A"/>
            </a:solidFill>
            <a:prstDash val="solid"/>
          </a:ln>
        </p:spPr>
      </p:sp>
      <p:sp>
        <p:nvSpPr>
          <p:cNvPr id="25" name="Text 23"/>
          <p:cNvSpPr/>
          <p:nvPr/>
        </p:nvSpPr>
        <p:spPr>
          <a:xfrm>
            <a:off x="5669280" y="2990088"/>
            <a:ext cx="3108960"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GlobalAvgPooling2D</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 512-dim vector</a:t>
            </a:r>
            <a:endParaRPr lang="en-US" sz="1100" dirty="0"/>
          </a:p>
        </p:txBody>
      </p:sp>
      <p:sp>
        <p:nvSpPr>
          <p:cNvPr id="26" name="Shape 24"/>
          <p:cNvSpPr/>
          <p:nvPr/>
        </p:nvSpPr>
        <p:spPr>
          <a:xfrm>
            <a:off x="7205472" y="3502152"/>
            <a:ext cx="54864" cy="164592"/>
          </a:xfrm>
          <a:prstGeom prst="rect">
            <a:avLst/>
          </a:prstGeom>
          <a:solidFill>
            <a:srgbClr val="6B7280"/>
          </a:solidFill>
          <a:ln w="12700">
            <a:solidFill>
              <a:srgbClr val="6B7280"/>
            </a:solidFill>
            <a:prstDash val="solid"/>
          </a:ln>
        </p:spPr>
      </p:sp>
      <p:sp>
        <p:nvSpPr>
          <p:cNvPr id="27" name="Shape 25"/>
          <p:cNvSpPr/>
          <p:nvPr/>
        </p:nvSpPr>
        <p:spPr>
          <a:xfrm>
            <a:off x="5669280" y="3666744"/>
            <a:ext cx="3108960" cy="512064"/>
          </a:xfrm>
          <a:prstGeom prst="rect">
            <a:avLst/>
          </a:prstGeom>
          <a:solidFill>
            <a:srgbClr val="1E5577"/>
          </a:solidFill>
          <a:ln w="12700">
            <a:solidFill>
              <a:srgbClr val="1E5577"/>
            </a:solidFill>
            <a:prstDash val="solid"/>
          </a:ln>
        </p:spPr>
      </p:sp>
      <p:sp>
        <p:nvSpPr>
          <p:cNvPr id="28" name="Text 26"/>
          <p:cNvSpPr/>
          <p:nvPr/>
        </p:nvSpPr>
        <p:spPr>
          <a:xfrm>
            <a:off x="5669280" y="3666744"/>
            <a:ext cx="3108960"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Top Model</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(Dense 256 + Softmax)</a:t>
            </a:r>
            <a:endParaRPr lang="en-US" sz="1100" dirty="0"/>
          </a:p>
        </p:txBody>
      </p:sp>
      <p:sp>
        <p:nvSpPr>
          <p:cNvPr id="29" name="Shape 27"/>
          <p:cNvSpPr/>
          <p:nvPr/>
        </p:nvSpPr>
        <p:spPr>
          <a:xfrm>
            <a:off x="7205472" y="4178808"/>
            <a:ext cx="54864" cy="164592"/>
          </a:xfrm>
          <a:prstGeom prst="rect">
            <a:avLst/>
          </a:prstGeom>
          <a:solidFill>
            <a:srgbClr val="6B7280"/>
          </a:solidFill>
          <a:ln w="12700">
            <a:solidFill>
              <a:srgbClr val="6B7280"/>
            </a:solidFill>
            <a:prstDash val="solid"/>
          </a:ln>
        </p:spPr>
      </p:sp>
      <p:sp>
        <p:nvSpPr>
          <p:cNvPr id="30" name="Shape 28"/>
          <p:cNvSpPr/>
          <p:nvPr/>
        </p:nvSpPr>
        <p:spPr>
          <a:xfrm>
            <a:off x="5669280" y="4343400"/>
            <a:ext cx="3108960" cy="512064"/>
          </a:xfrm>
          <a:prstGeom prst="rect">
            <a:avLst/>
          </a:prstGeom>
          <a:solidFill>
            <a:srgbClr val="D4552A"/>
          </a:solidFill>
          <a:ln w="12700">
            <a:solidFill>
              <a:srgbClr val="D4552A"/>
            </a:solidFill>
            <a:prstDash val="solid"/>
          </a:ln>
        </p:spPr>
      </p:sp>
      <p:sp>
        <p:nvSpPr>
          <p:cNvPr id="31" name="Text 29"/>
          <p:cNvSpPr/>
          <p:nvPr/>
        </p:nvSpPr>
        <p:spPr>
          <a:xfrm>
            <a:off x="5669280" y="4343400"/>
            <a:ext cx="3108960"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Prediction</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(Probabilities C0–C9)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533"/>
          </a:solidFill>
          <a:ln w="12700">
            <a:solidFill>
              <a:srgbClr val="1E2533"/>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Model Fine-Tuning</a:t>
            </a:r>
            <a:endParaRPr lang="en-US" sz="2600" dirty="0"/>
          </a:p>
        </p:txBody>
      </p:sp>
      <p:sp>
        <p:nvSpPr>
          <p:cNvPr id="4" name="Text 2"/>
          <p:cNvSpPr/>
          <p:nvPr/>
        </p:nvSpPr>
        <p:spPr>
          <a:xfrm>
            <a:off x="457200" y="960120"/>
            <a:ext cx="4572000" cy="402336"/>
          </a:xfrm>
          <a:prstGeom prst="rect">
            <a:avLst/>
          </a:prstGeom>
          <a:noFill/>
          <a:ln/>
        </p:spPr>
        <p:txBody>
          <a:bodyPr wrap="square" lIns="0" tIns="0" rIns="0" bIns="0" rtlCol="0" anchor="ctr"/>
          <a:lstStyle/>
          <a:p>
            <a:pPr indent="0" marL="0">
              <a:buNone/>
            </a:pPr>
            <a:r>
              <a:rPr lang="en-US" sz="1700" b="1" dirty="0">
                <a:solidFill>
                  <a:srgbClr val="2C6B8A"/>
                </a:solidFill>
                <a:latin typeface="Cambria" pitchFamily="34" charset="0"/>
                <a:ea typeface="Cambria" pitchFamily="34" charset="-122"/>
                <a:cs typeface="Cambria" pitchFamily="34" charset="-120"/>
              </a:rPr>
              <a:t>What is Fine-Tuning?</a:t>
            </a:r>
            <a:endParaRPr lang="en-US" sz="1700" dirty="0"/>
          </a:p>
        </p:txBody>
      </p:sp>
      <p:sp>
        <p:nvSpPr>
          <p:cNvPr id="5" name="Text 3"/>
          <p:cNvSpPr/>
          <p:nvPr/>
        </p:nvSpPr>
        <p:spPr>
          <a:xfrm>
            <a:off x="457200" y="1444752"/>
            <a:ext cx="4572000" cy="1691640"/>
          </a:xfrm>
          <a:prstGeom prst="rect">
            <a:avLst/>
          </a:prstGeom>
          <a:noFill/>
          <a:ln/>
        </p:spPr>
        <p:txBody>
          <a:bodyPr wrap="square" lIns="0" tIns="0" rIns="0" bIns="0" rtlCol="0" anchor="ctr"/>
          <a:lstStyle/>
          <a:p>
            <a:pPr indent="0" marL="0">
              <a:buNone/>
            </a:pPr>
            <a:r>
              <a:rPr lang="en-US" sz="1250" dirty="0">
                <a:solidFill>
                  <a:srgbClr val="2A2A2A"/>
                </a:solidFill>
                <a:latin typeface="Calibri" pitchFamily="34" charset="0"/>
                <a:ea typeface="Calibri" pitchFamily="34" charset="-122"/>
                <a:cs typeface="Calibri" pitchFamily="34" charset="-120"/>
              </a:rPr>
              <a:t>After training the top model on frozen bottleneck features, fine-tuning unfreezes the top convolutional block of VGG16 and retrains both it and the top model jointly at a very low learning rate.</a:t>
            </a:r>
            <a:endParaRPr lang="en-US" sz="1250" dirty="0"/>
          </a:p>
          <a:p>
            <a:pPr indent="0" marL="0">
              <a:buNone/>
            </a:pPr>
            <a:r>
              <a:rPr lang="en-US" sz="800" dirty="0">
                <a:solidFill>
                  <a:srgbClr val="2A2A2A"/>
                </a:solidFill>
                <a:latin typeface="Calibri" pitchFamily="34" charset="0"/>
                <a:ea typeface="Calibri" pitchFamily="34" charset="-122"/>
                <a:cs typeface="Calibri" pitchFamily="34" charset="-120"/>
              </a:rPr>
              <a:t> </a:t>
            </a:r>
            <a:endParaRPr lang="en-US" sz="1250" dirty="0"/>
          </a:p>
          <a:p>
            <a:pPr indent="0" marL="0">
              <a:buNone/>
            </a:pPr>
            <a:r>
              <a:rPr lang="en-US" sz="1250" dirty="0">
                <a:solidFill>
                  <a:srgbClr val="2A2A2A"/>
                </a:solidFill>
                <a:latin typeface="Calibri" pitchFamily="34" charset="0"/>
                <a:ea typeface="Calibri" pitchFamily="34" charset="-122"/>
                <a:cs typeface="Calibri" pitchFamily="34" charset="-120"/>
              </a:rPr>
              <a:t>This allows the high-level VGG16 filters to gradually adapt to the specific visual patterns found in driver dashboard imagery, pushing performance beyond what the fixed-bottleneck approach can achieve.</a:t>
            </a:r>
            <a:endParaRPr lang="en-US" sz="1250" dirty="0"/>
          </a:p>
        </p:txBody>
      </p:sp>
      <p:sp>
        <p:nvSpPr>
          <p:cNvPr id="6" name="Text 4"/>
          <p:cNvSpPr/>
          <p:nvPr/>
        </p:nvSpPr>
        <p:spPr>
          <a:xfrm>
            <a:off x="457200" y="3246120"/>
            <a:ext cx="4572000" cy="365760"/>
          </a:xfrm>
          <a:prstGeom prst="rect">
            <a:avLst/>
          </a:prstGeom>
          <a:noFill/>
          <a:ln/>
        </p:spPr>
        <p:txBody>
          <a:bodyPr wrap="square" lIns="0" tIns="0" rIns="0" bIns="0" rtlCol="0" anchor="ctr"/>
          <a:lstStyle/>
          <a:p>
            <a:pPr indent="0" marL="0">
              <a:buNone/>
            </a:pPr>
            <a:r>
              <a:rPr lang="en-US" sz="1500" b="1" dirty="0">
                <a:solidFill>
                  <a:srgbClr val="2C6B8A"/>
                </a:solidFill>
                <a:latin typeface="Cambria" pitchFamily="34" charset="0"/>
                <a:ea typeface="Cambria" pitchFamily="34" charset="-122"/>
                <a:cs typeface="Cambria" pitchFamily="34" charset="-120"/>
              </a:rPr>
              <a:t>Key Hyperparameters</a:t>
            </a:r>
            <a:endParaRPr lang="en-US" sz="1500" dirty="0"/>
          </a:p>
        </p:txBody>
      </p:sp>
      <p:sp>
        <p:nvSpPr>
          <p:cNvPr id="7" name="Text 5"/>
          <p:cNvSpPr/>
          <p:nvPr/>
        </p:nvSpPr>
        <p:spPr>
          <a:xfrm>
            <a:off x="457200" y="3712464"/>
            <a:ext cx="1508760" cy="256032"/>
          </a:xfrm>
          <a:prstGeom prst="rect">
            <a:avLst/>
          </a:prstGeom>
          <a:noFill/>
          <a:ln/>
        </p:spPr>
        <p:txBody>
          <a:bodyPr wrap="square" lIns="0" tIns="0" rIns="0" bIns="0" rtlCol="0" anchor="ctr"/>
          <a:lstStyle/>
          <a:p>
            <a:pPr indent="0" marL="0">
              <a:buNone/>
            </a:pPr>
            <a:r>
              <a:rPr lang="en-US" sz="1150" b="1" dirty="0">
                <a:solidFill>
                  <a:srgbClr val="1E2533"/>
                </a:solidFill>
                <a:latin typeface="Calibri" pitchFamily="34" charset="0"/>
                <a:ea typeface="Calibri" pitchFamily="34" charset="-122"/>
                <a:cs typeface="Calibri" pitchFamily="34" charset="-120"/>
              </a:rPr>
              <a:t>Frozen Layers:</a:t>
            </a:r>
            <a:endParaRPr lang="en-US" sz="1150" dirty="0"/>
          </a:p>
        </p:txBody>
      </p:sp>
      <p:sp>
        <p:nvSpPr>
          <p:cNvPr id="8" name="Text 6"/>
          <p:cNvSpPr/>
          <p:nvPr/>
        </p:nvSpPr>
        <p:spPr>
          <a:xfrm>
            <a:off x="2011680" y="3712464"/>
            <a:ext cx="2999232" cy="256032"/>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VGG16 Blocks 1–4 remain frozen — preserving core ImageNet features</a:t>
            </a:r>
            <a:endParaRPr lang="en-US" sz="1150" dirty="0"/>
          </a:p>
        </p:txBody>
      </p:sp>
      <p:sp>
        <p:nvSpPr>
          <p:cNvPr id="9" name="Text 7"/>
          <p:cNvSpPr/>
          <p:nvPr/>
        </p:nvSpPr>
        <p:spPr>
          <a:xfrm>
            <a:off x="457200" y="3986784"/>
            <a:ext cx="1508760" cy="256032"/>
          </a:xfrm>
          <a:prstGeom prst="rect">
            <a:avLst/>
          </a:prstGeom>
          <a:noFill/>
          <a:ln/>
        </p:spPr>
        <p:txBody>
          <a:bodyPr wrap="square" lIns="0" tIns="0" rIns="0" bIns="0" rtlCol="0" anchor="ctr"/>
          <a:lstStyle/>
          <a:p>
            <a:pPr indent="0" marL="0">
              <a:buNone/>
            </a:pPr>
            <a:r>
              <a:rPr lang="en-US" sz="1150" b="1" dirty="0">
                <a:solidFill>
                  <a:srgbClr val="1E2533"/>
                </a:solidFill>
                <a:latin typeface="Calibri" pitchFamily="34" charset="0"/>
                <a:ea typeface="Calibri" pitchFamily="34" charset="-122"/>
                <a:cs typeface="Calibri" pitchFamily="34" charset="-120"/>
              </a:rPr>
              <a:t>Unfrozen Block:</a:t>
            </a:r>
            <a:endParaRPr lang="en-US" sz="1150" dirty="0"/>
          </a:p>
        </p:txBody>
      </p:sp>
      <p:sp>
        <p:nvSpPr>
          <p:cNvPr id="10" name="Text 8"/>
          <p:cNvSpPr/>
          <p:nvPr/>
        </p:nvSpPr>
        <p:spPr>
          <a:xfrm>
            <a:off x="2011680" y="3986784"/>
            <a:ext cx="2999232" cy="256032"/>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VGG16 Block 5 (3 convolutional layers) — retrained end-to-end</a:t>
            </a:r>
            <a:endParaRPr lang="en-US" sz="1150" dirty="0"/>
          </a:p>
        </p:txBody>
      </p:sp>
      <p:sp>
        <p:nvSpPr>
          <p:cNvPr id="11" name="Text 9"/>
          <p:cNvSpPr/>
          <p:nvPr/>
        </p:nvSpPr>
        <p:spPr>
          <a:xfrm>
            <a:off x="457200" y="4261104"/>
            <a:ext cx="1508760" cy="256032"/>
          </a:xfrm>
          <a:prstGeom prst="rect">
            <a:avLst/>
          </a:prstGeom>
          <a:noFill/>
          <a:ln/>
        </p:spPr>
        <p:txBody>
          <a:bodyPr wrap="square" lIns="0" tIns="0" rIns="0" bIns="0" rtlCol="0" anchor="ctr"/>
          <a:lstStyle/>
          <a:p>
            <a:pPr indent="0" marL="0">
              <a:buNone/>
            </a:pPr>
            <a:r>
              <a:rPr lang="en-US" sz="1150" b="1" dirty="0">
                <a:solidFill>
                  <a:srgbClr val="1E2533"/>
                </a:solidFill>
                <a:latin typeface="Calibri" pitchFamily="34" charset="0"/>
                <a:ea typeface="Calibri" pitchFamily="34" charset="-122"/>
                <a:cs typeface="Calibri" pitchFamily="34" charset="-120"/>
              </a:rPr>
              <a:t>Learning Rate:</a:t>
            </a:r>
            <a:endParaRPr lang="en-US" sz="1150" dirty="0"/>
          </a:p>
        </p:txBody>
      </p:sp>
      <p:sp>
        <p:nvSpPr>
          <p:cNvPr id="12" name="Text 10"/>
          <p:cNvSpPr/>
          <p:nvPr/>
        </p:nvSpPr>
        <p:spPr>
          <a:xfrm>
            <a:off x="2011680" y="4261104"/>
            <a:ext cx="2999232" cy="256032"/>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Very low (≈ 1×10⁻⁵) to avoid destroying pre-trained weights</a:t>
            </a:r>
            <a:endParaRPr lang="en-US" sz="1150" dirty="0"/>
          </a:p>
        </p:txBody>
      </p:sp>
      <p:sp>
        <p:nvSpPr>
          <p:cNvPr id="13" name="Text 11"/>
          <p:cNvSpPr/>
          <p:nvPr/>
        </p:nvSpPr>
        <p:spPr>
          <a:xfrm>
            <a:off x="457200" y="4535424"/>
            <a:ext cx="1508760" cy="256032"/>
          </a:xfrm>
          <a:prstGeom prst="rect">
            <a:avLst/>
          </a:prstGeom>
          <a:noFill/>
          <a:ln/>
        </p:spPr>
        <p:txBody>
          <a:bodyPr wrap="square" lIns="0" tIns="0" rIns="0" bIns="0" rtlCol="0" anchor="ctr"/>
          <a:lstStyle/>
          <a:p>
            <a:pPr indent="0" marL="0">
              <a:buNone/>
            </a:pPr>
            <a:r>
              <a:rPr lang="en-US" sz="1150" b="1" dirty="0">
                <a:solidFill>
                  <a:srgbClr val="1E2533"/>
                </a:solidFill>
                <a:latin typeface="Calibri" pitchFamily="34" charset="0"/>
                <a:ea typeface="Calibri" pitchFamily="34" charset="-122"/>
                <a:cs typeface="Calibri" pitchFamily="34" charset="-120"/>
              </a:rPr>
              <a:t>Loss Function:</a:t>
            </a:r>
            <a:endParaRPr lang="en-US" sz="1150" dirty="0"/>
          </a:p>
        </p:txBody>
      </p:sp>
      <p:sp>
        <p:nvSpPr>
          <p:cNvPr id="14" name="Text 12"/>
          <p:cNvSpPr/>
          <p:nvPr/>
        </p:nvSpPr>
        <p:spPr>
          <a:xfrm>
            <a:off x="2011680" y="4535424"/>
            <a:ext cx="2999232" cy="256032"/>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Categorical cross-entropy, evaluated via multi-class log-loss</a:t>
            </a:r>
            <a:endParaRPr lang="en-US" sz="1150" dirty="0"/>
          </a:p>
        </p:txBody>
      </p:sp>
      <p:sp>
        <p:nvSpPr>
          <p:cNvPr id="15" name="Text 13"/>
          <p:cNvSpPr/>
          <p:nvPr/>
        </p:nvSpPr>
        <p:spPr>
          <a:xfrm>
            <a:off x="457200" y="4809744"/>
            <a:ext cx="1508760" cy="256032"/>
          </a:xfrm>
          <a:prstGeom prst="rect">
            <a:avLst/>
          </a:prstGeom>
          <a:noFill/>
          <a:ln/>
        </p:spPr>
        <p:txBody>
          <a:bodyPr wrap="square" lIns="0" tIns="0" rIns="0" bIns="0" rtlCol="0" anchor="ctr"/>
          <a:lstStyle/>
          <a:p>
            <a:pPr indent="0" marL="0">
              <a:buNone/>
            </a:pPr>
            <a:r>
              <a:rPr lang="en-US" sz="1150" b="1" dirty="0">
                <a:solidFill>
                  <a:srgbClr val="1E2533"/>
                </a:solidFill>
                <a:latin typeface="Calibri" pitchFamily="34" charset="0"/>
                <a:ea typeface="Calibri" pitchFamily="34" charset="-122"/>
                <a:cs typeface="Calibri" pitchFamily="34" charset="-120"/>
              </a:rPr>
              <a:t>Initialization:</a:t>
            </a:r>
            <a:endParaRPr lang="en-US" sz="1150" dirty="0"/>
          </a:p>
        </p:txBody>
      </p:sp>
      <p:sp>
        <p:nvSpPr>
          <p:cNvPr id="16" name="Text 14"/>
          <p:cNvSpPr/>
          <p:nvPr/>
        </p:nvSpPr>
        <p:spPr>
          <a:xfrm>
            <a:off x="2011680" y="4809744"/>
            <a:ext cx="2999232" cy="256032"/>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Xavier / zero-mean initialization for top layer weights</a:t>
            </a:r>
            <a:endParaRPr lang="en-US" sz="1150" dirty="0"/>
          </a:p>
        </p:txBody>
      </p:sp>
      <p:sp>
        <p:nvSpPr>
          <p:cNvPr id="17" name="Text 15"/>
          <p:cNvSpPr/>
          <p:nvPr/>
        </p:nvSpPr>
        <p:spPr>
          <a:xfrm>
            <a:off x="5303520" y="914400"/>
            <a:ext cx="3657600" cy="365760"/>
          </a:xfrm>
          <a:prstGeom prst="rect">
            <a:avLst/>
          </a:prstGeom>
          <a:noFill/>
          <a:ln/>
        </p:spPr>
        <p:txBody>
          <a:bodyPr wrap="square" lIns="0" tIns="0" rIns="0" bIns="0" rtlCol="0" anchor="ctr"/>
          <a:lstStyle/>
          <a:p>
            <a:pPr algn="ctr" indent="0" marL="0">
              <a:buNone/>
            </a:pPr>
            <a:r>
              <a:rPr lang="en-US" sz="1300" b="1" dirty="0">
                <a:solidFill>
                  <a:srgbClr val="2C6B8A"/>
                </a:solidFill>
                <a:latin typeface="Cambria" pitchFamily="34" charset="0"/>
                <a:ea typeface="Cambria" pitchFamily="34" charset="-122"/>
                <a:cs typeface="Cambria" pitchFamily="34" charset="-120"/>
              </a:rPr>
              <a:t>VGG16 Fine-Tuning Layers</a:t>
            </a:r>
            <a:endParaRPr lang="en-US" sz="1300" dirty="0"/>
          </a:p>
        </p:txBody>
      </p:sp>
      <p:sp>
        <p:nvSpPr>
          <p:cNvPr id="18" name="Shape 16"/>
          <p:cNvSpPr/>
          <p:nvPr/>
        </p:nvSpPr>
        <p:spPr>
          <a:xfrm>
            <a:off x="5394960" y="1371600"/>
            <a:ext cx="3474720" cy="475488"/>
          </a:xfrm>
          <a:prstGeom prst="rect">
            <a:avLst/>
          </a:prstGeom>
          <a:solidFill>
            <a:srgbClr val="C8DAE6"/>
          </a:solidFill>
          <a:ln w="12700">
            <a:solidFill>
              <a:srgbClr val="C8DAE6"/>
            </a:solidFill>
            <a:prstDash val="solid"/>
          </a:ln>
        </p:spPr>
      </p:sp>
      <p:sp>
        <p:nvSpPr>
          <p:cNvPr id="19" name="Text 17"/>
          <p:cNvSpPr/>
          <p:nvPr/>
        </p:nvSpPr>
        <p:spPr>
          <a:xfrm>
            <a:off x="5394960" y="1371600"/>
            <a:ext cx="3474720" cy="475488"/>
          </a:xfrm>
          <a:prstGeom prst="rect">
            <a:avLst/>
          </a:prstGeom>
          <a:noFill/>
          <a:ln/>
        </p:spPr>
        <p:txBody>
          <a:bodyPr wrap="square" lIns="0" tIns="0" rIns="0" bIns="0" rtlCol="0" anchor="ctr"/>
          <a:lstStyle/>
          <a:p>
            <a:pPr algn="ctr" indent="0" marL="0">
              <a:buNone/>
            </a:pPr>
            <a:r>
              <a:rPr lang="en-US" sz="1200" dirty="0">
                <a:solidFill>
                  <a:srgbClr val="3A4D5C"/>
                </a:solidFill>
                <a:latin typeface="Calibri" pitchFamily="34" charset="0"/>
                <a:ea typeface="Calibri" pitchFamily="34" charset="-122"/>
                <a:cs typeface="Calibri" pitchFamily="34" charset="-120"/>
              </a:rPr>
              <a:t>Block 1  —  FROZEN</a:t>
            </a:r>
            <a:endParaRPr lang="en-US" sz="1200" dirty="0"/>
          </a:p>
        </p:txBody>
      </p:sp>
      <p:sp>
        <p:nvSpPr>
          <p:cNvPr id="20" name="Shape 18"/>
          <p:cNvSpPr/>
          <p:nvPr/>
        </p:nvSpPr>
        <p:spPr>
          <a:xfrm>
            <a:off x="5394960" y="1975104"/>
            <a:ext cx="3474720" cy="475488"/>
          </a:xfrm>
          <a:prstGeom prst="rect">
            <a:avLst/>
          </a:prstGeom>
          <a:solidFill>
            <a:srgbClr val="C8DAE6"/>
          </a:solidFill>
          <a:ln w="12700">
            <a:solidFill>
              <a:srgbClr val="C8DAE6"/>
            </a:solidFill>
            <a:prstDash val="solid"/>
          </a:ln>
        </p:spPr>
      </p:sp>
      <p:sp>
        <p:nvSpPr>
          <p:cNvPr id="21" name="Text 19"/>
          <p:cNvSpPr/>
          <p:nvPr/>
        </p:nvSpPr>
        <p:spPr>
          <a:xfrm>
            <a:off x="5394960" y="1975104"/>
            <a:ext cx="3474720" cy="475488"/>
          </a:xfrm>
          <a:prstGeom prst="rect">
            <a:avLst/>
          </a:prstGeom>
          <a:noFill/>
          <a:ln/>
        </p:spPr>
        <p:txBody>
          <a:bodyPr wrap="square" lIns="0" tIns="0" rIns="0" bIns="0" rtlCol="0" anchor="ctr"/>
          <a:lstStyle/>
          <a:p>
            <a:pPr algn="ctr" indent="0" marL="0">
              <a:buNone/>
            </a:pPr>
            <a:r>
              <a:rPr lang="en-US" sz="1200" dirty="0">
                <a:solidFill>
                  <a:srgbClr val="3A4D5C"/>
                </a:solidFill>
                <a:latin typeface="Calibri" pitchFamily="34" charset="0"/>
                <a:ea typeface="Calibri" pitchFamily="34" charset="-122"/>
                <a:cs typeface="Calibri" pitchFamily="34" charset="-120"/>
              </a:rPr>
              <a:t>Block 2  —  FROZEN</a:t>
            </a:r>
            <a:endParaRPr lang="en-US" sz="1200" dirty="0"/>
          </a:p>
        </p:txBody>
      </p:sp>
      <p:sp>
        <p:nvSpPr>
          <p:cNvPr id="22" name="Shape 20"/>
          <p:cNvSpPr/>
          <p:nvPr/>
        </p:nvSpPr>
        <p:spPr>
          <a:xfrm>
            <a:off x="5394960" y="2578608"/>
            <a:ext cx="3474720" cy="475488"/>
          </a:xfrm>
          <a:prstGeom prst="rect">
            <a:avLst/>
          </a:prstGeom>
          <a:solidFill>
            <a:srgbClr val="C8DAE6"/>
          </a:solidFill>
          <a:ln w="12700">
            <a:solidFill>
              <a:srgbClr val="C8DAE6"/>
            </a:solidFill>
            <a:prstDash val="solid"/>
          </a:ln>
        </p:spPr>
      </p:sp>
      <p:sp>
        <p:nvSpPr>
          <p:cNvPr id="23" name="Text 21"/>
          <p:cNvSpPr/>
          <p:nvPr/>
        </p:nvSpPr>
        <p:spPr>
          <a:xfrm>
            <a:off x="5394960" y="2578608"/>
            <a:ext cx="3474720" cy="475488"/>
          </a:xfrm>
          <a:prstGeom prst="rect">
            <a:avLst/>
          </a:prstGeom>
          <a:noFill/>
          <a:ln/>
        </p:spPr>
        <p:txBody>
          <a:bodyPr wrap="square" lIns="0" tIns="0" rIns="0" bIns="0" rtlCol="0" anchor="ctr"/>
          <a:lstStyle/>
          <a:p>
            <a:pPr algn="ctr" indent="0" marL="0">
              <a:buNone/>
            </a:pPr>
            <a:r>
              <a:rPr lang="en-US" sz="1200" dirty="0">
                <a:solidFill>
                  <a:srgbClr val="3A4D5C"/>
                </a:solidFill>
                <a:latin typeface="Calibri" pitchFamily="34" charset="0"/>
                <a:ea typeface="Calibri" pitchFamily="34" charset="-122"/>
                <a:cs typeface="Calibri" pitchFamily="34" charset="-120"/>
              </a:rPr>
              <a:t>Block 3  —  FROZEN</a:t>
            </a:r>
            <a:endParaRPr lang="en-US" sz="1200" dirty="0"/>
          </a:p>
        </p:txBody>
      </p:sp>
      <p:sp>
        <p:nvSpPr>
          <p:cNvPr id="24" name="Shape 22"/>
          <p:cNvSpPr/>
          <p:nvPr/>
        </p:nvSpPr>
        <p:spPr>
          <a:xfrm>
            <a:off x="5394960" y="3182112"/>
            <a:ext cx="3474720" cy="475488"/>
          </a:xfrm>
          <a:prstGeom prst="rect">
            <a:avLst/>
          </a:prstGeom>
          <a:solidFill>
            <a:srgbClr val="C8DAE6"/>
          </a:solidFill>
          <a:ln w="12700">
            <a:solidFill>
              <a:srgbClr val="C8DAE6"/>
            </a:solidFill>
            <a:prstDash val="solid"/>
          </a:ln>
        </p:spPr>
      </p:sp>
      <p:sp>
        <p:nvSpPr>
          <p:cNvPr id="25" name="Text 23"/>
          <p:cNvSpPr/>
          <p:nvPr/>
        </p:nvSpPr>
        <p:spPr>
          <a:xfrm>
            <a:off x="5394960" y="3182112"/>
            <a:ext cx="3474720" cy="475488"/>
          </a:xfrm>
          <a:prstGeom prst="rect">
            <a:avLst/>
          </a:prstGeom>
          <a:noFill/>
          <a:ln/>
        </p:spPr>
        <p:txBody>
          <a:bodyPr wrap="square" lIns="0" tIns="0" rIns="0" bIns="0" rtlCol="0" anchor="ctr"/>
          <a:lstStyle/>
          <a:p>
            <a:pPr algn="ctr" indent="0" marL="0">
              <a:buNone/>
            </a:pPr>
            <a:r>
              <a:rPr lang="en-US" sz="1200" dirty="0">
                <a:solidFill>
                  <a:srgbClr val="3A4D5C"/>
                </a:solidFill>
                <a:latin typeface="Calibri" pitchFamily="34" charset="0"/>
                <a:ea typeface="Calibri" pitchFamily="34" charset="-122"/>
                <a:cs typeface="Calibri" pitchFamily="34" charset="-120"/>
              </a:rPr>
              <a:t>Block 4  —  FROZEN</a:t>
            </a:r>
            <a:endParaRPr lang="en-US" sz="1200" dirty="0"/>
          </a:p>
        </p:txBody>
      </p:sp>
      <p:sp>
        <p:nvSpPr>
          <p:cNvPr id="26" name="Shape 24"/>
          <p:cNvSpPr/>
          <p:nvPr/>
        </p:nvSpPr>
        <p:spPr>
          <a:xfrm>
            <a:off x="5394960" y="3785616"/>
            <a:ext cx="3474720" cy="475488"/>
          </a:xfrm>
          <a:prstGeom prst="rect">
            <a:avLst/>
          </a:prstGeom>
          <a:solidFill>
            <a:srgbClr val="1E2533"/>
          </a:solidFill>
          <a:ln w="12700">
            <a:solidFill>
              <a:srgbClr val="1E2533"/>
            </a:solidFill>
            <a:prstDash val="solid"/>
          </a:ln>
        </p:spPr>
      </p:sp>
      <p:sp>
        <p:nvSpPr>
          <p:cNvPr id="27" name="Text 25"/>
          <p:cNvSpPr/>
          <p:nvPr/>
        </p:nvSpPr>
        <p:spPr>
          <a:xfrm>
            <a:off x="5394960" y="3785616"/>
            <a:ext cx="347472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Block 5  —  TRAINABLE</a:t>
            </a:r>
            <a:endParaRPr lang="en-US" sz="1200" dirty="0"/>
          </a:p>
        </p:txBody>
      </p:sp>
      <p:sp>
        <p:nvSpPr>
          <p:cNvPr id="28" name="Shape 26"/>
          <p:cNvSpPr/>
          <p:nvPr/>
        </p:nvSpPr>
        <p:spPr>
          <a:xfrm>
            <a:off x="5394960" y="4389120"/>
            <a:ext cx="3474720" cy="475488"/>
          </a:xfrm>
          <a:prstGeom prst="rect">
            <a:avLst/>
          </a:prstGeom>
          <a:solidFill>
            <a:srgbClr val="1E2533"/>
          </a:solidFill>
          <a:ln w="12700">
            <a:solidFill>
              <a:srgbClr val="1E2533"/>
            </a:solidFill>
            <a:prstDash val="solid"/>
          </a:ln>
        </p:spPr>
      </p:sp>
      <p:sp>
        <p:nvSpPr>
          <p:cNvPr id="29" name="Text 27"/>
          <p:cNvSpPr/>
          <p:nvPr/>
        </p:nvSpPr>
        <p:spPr>
          <a:xfrm>
            <a:off x="5394960" y="4389120"/>
            <a:ext cx="347472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Top Model  —  TRAINABLE</a:t>
            </a:r>
            <a:endParaRPr lang="en-US" sz="1200" dirty="0"/>
          </a:p>
        </p:txBody>
      </p:sp>
      <p:sp>
        <p:nvSpPr>
          <p:cNvPr id="30" name="Shape 28"/>
          <p:cNvSpPr/>
          <p:nvPr/>
        </p:nvSpPr>
        <p:spPr>
          <a:xfrm>
            <a:off x="5394960" y="4983480"/>
            <a:ext cx="228600" cy="146304"/>
          </a:xfrm>
          <a:prstGeom prst="rect">
            <a:avLst/>
          </a:prstGeom>
          <a:solidFill>
            <a:srgbClr val="C8DAE6"/>
          </a:solidFill>
          <a:ln w="12700">
            <a:solidFill>
              <a:srgbClr val="C8DAE6"/>
            </a:solidFill>
            <a:prstDash val="solid"/>
          </a:ln>
        </p:spPr>
      </p:sp>
      <p:sp>
        <p:nvSpPr>
          <p:cNvPr id="31" name="Text 29"/>
          <p:cNvSpPr/>
          <p:nvPr/>
        </p:nvSpPr>
        <p:spPr>
          <a:xfrm>
            <a:off x="5687568" y="4965192"/>
            <a:ext cx="2011680" cy="18288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Frozen (weights unchanged)</a:t>
            </a:r>
            <a:endParaRPr lang="en-US" sz="950" dirty="0"/>
          </a:p>
        </p:txBody>
      </p:sp>
      <p:sp>
        <p:nvSpPr>
          <p:cNvPr id="32" name="Shape 30"/>
          <p:cNvSpPr/>
          <p:nvPr/>
        </p:nvSpPr>
        <p:spPr>
          <a:xfrm>
            <a:off x="7498080" y="4983480"/>
            <a:ext cx="228600" cy="146304"/>
          </a:xfrm>
          <a:prstGeom prst="rect">
            <a:avLst/>
          </a:prstGeom>
          <a:solidFill>
            <a:srgbClr val="1E2533"/>
          </a:solidFill>
          <a:ln w="12700">
            <a:solidFill>
              <a:srgbClr val="1E2533"/>
            </a:solidFill>
            <a:prstDash val="solid"/>
          </a:ln>
        </p:spPr>
      </p:sp>
      <p:sp>
        <p:nvSpPr>
          <p:cNvPr id="33" name="Text 31"/>
          <p:cNvSpPr/>
          <p:nvPr/>
        </p:nvSpPr>
        <p:spPr>
          <a:xfrm>
            <a:off x="7790688" y="4965192"/>
            <a:ext cx="1005840" cy="18288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Trainable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533"/>
          </a:solidFill>
          <a:ln w="12700">
            <a:solidFill>
              <a:srgbClr val="1E2533"/>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Kaggle Competition &amp; Results</a:t>
            </a:r>
            <a:endParaRPr lang="en-US" sz="2600" dirty="0"/>
          </a:p>
        </p:txBody>
      </p:sp>
      <p:sp>
        <p:nvSpPr>
          <p:cNvPr id="4" name="Text 2"/>
          <p:cNvSpPr/>
          <p:nvPr/>
        </p:nvSpPr>
        <p:spPr>
          <a:xfrm>
            <a:off x="457200" y="960120"/>
            <a:ext cx="4572000" cy="402336"/>
          </a:xfrm>
          <a:prstGeom prst="rect">
            <a:avLst/>
          </a:prstGeom>
          <a:noFill/>
          <a:ln/>
        </p:spPr>
        <p:txBody>
          <a:bodyPr wrap="square" lIns="0" tIns="0" rIns="0" bIns="0" rtlCol="0" anchor="ctr"/>
          <a:lstStyle/>
          <a:p>
            <a:pPr indent="0" marL="0">
              <a:buNone/>
            </a:pPr>
            <a:r>
              <a:rPr lang="en-US" sz="1500" b="1" dirty="0">
                <a:solidFill>
                  <a:srgbClr val="2C6B8A"/>
                </a:solidFill>
                <a:latin typeface="Cambria" pitchFamily="34" charset="0"/>
                <a:ea typeface="Cambria" pitchFamily="34" charset="-122"/>
                <a:cs typeface="Cambria" pitchFamily="34" charset="-120"/>
              </a:rPr>
              <a:t>State Farm Distracted Driver Detection</a:t>
            </a:r>
            <a:endParaRPr lang="en-US" sz="1500" dirty="0"/>
          </a:p>
        </p:txBody>
      </p:sp>
      <p:sp>
        <p:nvSpPr>
          <p:cNvPr id="5" name="Text 3"/>
          <p:cNvSpPr/>
          <p:nvPr/>
        </p:nvSpPr>
        <p:spPr>
          <a:xfrm>
            <a:off x="457200" y="1444752"/>
            <a:ext cx="4572000" cy="822960"/>
          </a:xfrm>
          <a:prstGeom prst="rect">
            <a:avLst/>
          </a:prstGeom>
          <a:noFill/>
          <a:ln/>
        </p:spPr>
        <p:txBody>
          <a:bodyPr wrap="square" lIns="0" tIns="0" rIns="0" bIns="0" rtlCol="0" anchor="ctr"/>
          <a:lstStyle/>
          <a:p>
            <a:pPr indent="0" marL="0">
              <a:buNone/>
            </a:pPr>
            <a:r>
              <a:rPr lang="en-US" sz="1250" dirty="0">
                <a:solidFill>
                  <a:srgbClr val="2A2A2A"/>
                </a:solidFill>
                <a:latin typeface="Calibri" pitchFamily="34" charset="0"/>
                <a:ea typeface="Calibri" pitchFamily="34" charset="-122"/>
                <a:cs typeface="Calibri" pitchFamily="34" charset="-120"/>
              </a:rPr>
              <a:t>The competition scored submissions using multi-class log-loss (lower = better). A perfect model scores 0.00; random guessing on 10 classes scores approximately 2.30.</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2377440"/>
          <a:ext cx="4572000" cy="1920240"/>
        </p:xfrm>
        <a:graphic>
          <a:graphicData uri="http://schemas.openxmlformats.org/drawingml/2006/table">
            <a:tbl>
              <a:tblPr/>
              <a:tblGrid>
                <a:gridCol w="1143000"/>
                <a:gridCol w="1920240"/>
                <a:gridCol w="749808"/>
                <a:gridCol w="749808"/>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Submission</a:t>
                      </a:r>
                      <a:endParaRPr lang="en-US" sz="1050" dirty="0">
                        <a:latin typeface="Calibri" charset="0"/>
                        <a:ea typeface="Calibri" charset="0"/>
                        <a:cs typeface="Calibri" charset="0"/>
                      </a:endParaRPr>
                    </a:p>
                  </a:txBody>
                  <a:tcPr marL="91440" marR="91440" marT="45720" marB="45720">
                    <a:lnL w="6350" cap="flat" cmpd="sng" algn="ctr">
                      <a:solidFill>
                        <a:srgbClr val="D8D3C8"/>
                      </a:solidFill>
                      <a:prstDash val="solid"/>
                      <a:round/>
                      <a:headEnd type="none" w="med" len="med"/>
                      <a:tailEnd type="none" w="med" len="med"/>
                    </a:lnL>
                    <a:lnR w="6350" cap="flat" cmpd="sng" algn="ctr">
                      <a:solidFill>
                        <a:srgbClr val="D8D3C8"/>
                      </a:solidFill>
                      <a:prstDash val="solid"/>
                      <a:round/>
                      <a:headEnd type="none" w="med" len="med"/>
                      <a:tailEnd type="none" w="med" len="med"/>
                    </a:lnR>
                    <a:lnT w="6350" cap="flat" cmpd="sng" algn="ctr">
                      <a:solidFill>
                        <a:srgbClr val="D8D3C8"/>
                      </a:solidFill>
                      <a:prstDash val="solid"/>
                      <a:round/>
                      <a:headEnd type="none" w="med" len="med"/>
                      <a:tailEnd type="none" w="med" len="med"/>
                    </a:lnT>
                    <a:lnB w="6350" cap="flat" cmpd="sng" algn="ctr">
                      <a:solidFill>
                        <a:srgbClr val="D8D3C8"/>
                      </a:solidFill>
                      <a:prstDash val="solid"/>
                      <a:round/>
                      <a:headEnd type="none" w="med" len="med"/>
                      <a:tailEnd type="none" w="med" len="med"/>
                    </a:lnB>
                    <a:solidFill>
                      <a:srgbClr val="1E253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Description</a:t>
                      </a:r>
                      <a:endParaRPr lang="en-US" sz="1050" dirty="0">
                        <a:latin typeface="Calibri" charset="0"/>
                        <a:ea typeface="Calibri" charset="0"/>
                        <a:cs typeface="Calibri" charset="0"/>
                      </a:endParaRPr>
                    </a:p>
                  </a:txBody>
                  <a:tcPr marL="91440" marR="91440" marT="45720" marB="45720">
                    <a:lnL w="6350" cap="flat" cmpd="sng" algn="ctr">
                      <a:solidFill>
                        <a:srgbClr val="D8D3C8"/>
                      </a:solidFill>
                      <a:prstDash val="solid"/>
                      <a:round/>
                      <a:headEnd type="none" w="med" len="med"/>
                      <a:tailEnd type="none" w="med" len="med"/>
                    </a:lnL>
                    <a:lnR w="6350" cap="flat" cmpd="sng" algn="ctr">
                      <a:solidFill>
                        <a:srgbClr val="D8D3C8"/>
                      </a:solidFill>
                      <a:prstDash val="solid"/>
                      <a:round/>
                      <a:headEnd type="none" w="med" len="med"/>
                      <a:tailEnd type="none" w="med" len="med"/>
                    </a:lnR>
                    <a:lnT w="6350" cap="flat" cmpd="sng" algn="ctr">
                      <a:solidFill>
                        <a:srgbClr val="D8D3C8"/>
                      </a:solidFill>
                      <a:prstDash val="solid"/>
                      <a:round/>
                      <a:headEnd type="none" w="med" len="med"/>
                      <a:tailEnd type="none" w="med" len="med"/>
                    </a:lnT>
                    <a:lnB w="6350" cap="flat" cmpd="sng" algn="ctr">
                      <a:solidFill>
                        <a:srgbClr val="D8D3C8"/>
                      </a:solidFill>
                      <a:prstDash val="solid"/>
                      <a:round/>
                      <a:headEnd type="none" w="med" len="med"/>
                      <a:tailEnd type="none" w="med" len="med"/>
                    </a:lnB>
                    <a:solidFill>
                      <a:srgbClr val="1E253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Prv. Score</a:t>
                      </a:r>
                      <a:endParaRPr lang="en-US" sz="1050" dirty="0">
                        <a:latin typeface="Calibri" charset="0"/>
                        <a:ea typeface="Calibri" charset="0"/>
                        <a:cs typeface="Calibri" charset="0"/>
                      </a:endParaRPr>
                    </a:p>
                  </a:txBody>
                  <a:tcPr marL="91440" marR="91440" marT="45720" marB="45720">
                    <a:lnL w="6350" cap="flat" cmpd="sng" algn="ctr">
                      <a:solidFill>
                        <a:srgbClr val="D8D3C8"/>
                      </a:solidFill>
                      <a:prstDash val="solid"/>
                      <a:round/>
                      <a:headEnd type="none" w="med" len="med"/>
                      <a:tailEnd type="none" w="med" len="med"/>
                    </a:lnL>
                    <a:lnR w="6350" cap="flat" cmpd="sng" algn="ctr">
                      <a:solidFill>
                        <a:srgbClr val="D8D3C8"/>
                      </a:solidFill>
                      <a:prstDash val="solid"/>
                      <a:round/>
                      <a:headEnd type="none" w="med" len="med"/>
                      <a:tailEnd type="none" w="med" len="med"/>
                    </a:lnR>
                    <a:lnT w="6350" cap="flat" cmpd="sng" algn="ctr">
                      <a:solidFill>
                        <a:srgbClr val="D8D3C8"/>
                      </a:solidFill>
                      <a:prstDash val="solid"/>
                      <a:round/>
                      <a:headEnd type="none" w="med" len="med"/>
                      <a:tailEnd type="none" w="med" len="med"/>
                    </a:lnT>
                    <a:lnB w="6350" cap="flat" cmpd="sng" algn="ctr">
                      <a:solidFill>
                        <a:srgbClr val="D8D3C8"/>
                      </a:solidFill>
                      <a:prstDash val="solid"/>
                      <a:round/>
                      <a:headEnd type="none" w="med" len="med"/>
                      <a:tailEnd type="none" w="med" len="med"/>
                    </a:lnB>
                    <a:solidFill>
                      <a:srgbClr val="1E253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Pub. Score</a:t>
                      </a:r>
                      <a:endParaRPr lang="en-US" sz="1050" dirty="0">
                        <a:latin typeface="Calibri" charset="0"/>
                        <a:ea typeface="Calibri" charset="0"/>
                        <a:cs typeface="Calibri" charset="0"/>
                      </a:endParaRPr>
                    </a:p>
                  </a:txBody>
                  <a:tcPr marL="91440" marR="91440" marT="45720" marB="45720">
                    <a:lnL w="6350" cap="flat" cmpd="sng" algn="ctr">
                      <a:solidFill>
                        <a:srgbClr val="D8D3C8"/>
                      </a:solidFill>
                      <a:prstDash val="solid"/>
                      <a:round/>
                      <a:headEnd type="none" w="med" len="med"/>
                      <a:tailEnd type="none" w="med" len="med"/>
                    </a:lnL>
                    <a:lnR w="6350" cap="flat" cmpd="sng" algn="ctr">
                      <a:solidFill>
                        <a:srgbClr val="D8D3C8"/>
                      </a:solidFill>
                      <a:prstDash val="solid"/>
                      <a:round/>
                      <a:headEnd type="none" w="med" len="med"/>
                      <a:tailEnd type="none" w="med" len="med"/>
                    </a:lnR>
                    <a:lnT w="6350" cap="flat" cmpd="sng" algn="ctr">
                      <a:solidFill>
                        <a:srgbClr val="D8D3C8"/>
                      </a:solidFill>
                      <a:prstDash val="solid"/>
                      <a:round/>
                      <a:headEnd type="none" w="med" len="med"/>
                      <a:tailEnd type="none" w="med" len="med"/>
                    </a:lnT>
                    <a:lnB w="6350" cap="flat" cmpd="sng" algn="ctr">
                      <a:solidFill>
                        <a:srgbClr val="D8D3C8"/>
                      </a:solidFill>
                      <a:prstDash val="solid"/>
                      <a:round/>
                      <a:headEnd type="none" w="med" len="med"/>
                      <a:tailEnd type="none" w="med" len="med"/>
                    </a:lnB>
                    <a:solidFill>
                      <a:srgbClr val="1E2533"/>
                    </a:solidFill>
                  </a:tcPr>
                </a:tc>
              </a:tr>
              <a:tr h="384048">
                <a:tc>
                  <a:txBody>
                    <a:bodyPr/>
                    <a:lstStyle/>
                    <a:p>
                      <a:pPr indent="0" marL="0">
                        <a:buNone/>
                      </a:pPr>
                      <a:r>
                        <a:rPr lang="en-US" sz="1000" dirty="0">
                          <a:solidFill>
                            <a:srgbClr val="2A2A2A"/>
                          </a:solidFill>
                          <a:latin typeface="Calibri" pitchFamily="34" charset="0"/>
                          <a:ea typeface="Calibri" pitchFamily="34" charset="-122"/>
                          <a:cs typeface="Calibri" pitchFamily="34" charset="-120"/>
                        </a:rPr>
                        <a:t>CNN Scratch</a:t>
                      </a:r>
                      <a:endParaRPr lang="en-US" sz="1000" dirty="0">
                        <a:latin typeface="Calibri" charset="0"/>
                        <a:ea typeface="Calibri" charset="0"/>
                        <a:cs typeface="Calibri" charset="0"/>
                      </a:endParaRPr>
                    </a:p>
                  </a:txBody>
                  <a:tcPr marL="91440" marR="91440" marT="45720" marB="45720">
                    <a:lnL w="6350" cap="flat" cmpd="sng" algn="ctr">
                      <a:solidFill>
                        <a:srgbClr val="D8D3C8"/>
                      </a:solidFill>
                      <a:prstDash val="solid"/>
                      <a:round/>
                      <a:headEnd type="none" w="med" len="med"/>
                      <a:tailEnd type="none" w="med" len="med"/>
                    </a:lnL>
                    <a:lnR w="6350" cap="flat" cmpd="sng" algn="ctr">
                      <a:solidFill>
                        <a:srgbClr val="D8D3C8"/>
                      </a:solidFill>
                      <a:prstDash val="solid"/>
                      <a:round/>
                      <a:headEnd type="none" w="med" len="med"/>
                      <a:tailEnd type="none" w="med" len="med"/>
                    </a:lnR>
                    <a:lnT w="6350" cap="flat" cmpd="sng" algn="ctr">
                      <a:solidFill>
                        <a:srgbClr val="D8D3C8"/>
                      </a:solidFill>
                      <a:prstDash val="solid"/>
                      <a:round/>
                      <a:headEnd type="none" w="med" len="med"/>
                      <a:tailEnd type="none" w="med" len="med"/>
                    </a:lnT>
                    <a:lnB w="6350" cap="flat" cmpd="sng" algn="ctr">
                      <a:solidFill>
                        <a:srgbClr val="D8D3C8"/>
                      </a:solidFill>
                      <a:prstDash val="solid"/>
                      <a:round/>
                      <a:headEnd type="none" w="med" len="med"/>
                      <a:tailEnd type="none" w="med" len="med"/>
                    </a:lnB>
                    <a:solidFill>
                      <a:srgbClr val="F7F6F2"/>
                    </a:solidFill>
                  </a:tcPr>
                </a:tc>
                <a:tc>
                  <a:txBody>
                    <a:bodyPr/>
                    <a:lstStyle/>
                    <a:p>
                      <a:pPr indent="0" marL="0">
                        <a:buNone/>
                      </a:pPr>
                      <a:r>
                        <a:rPr lang="en-US" sz="1000" dirty="0">
                          <a:solidFill>
                            <a:srgbClr val="2A2A2A"/>
                          </a:solidFill>
                          <a:latin typeface="Calibri" pitchFamily="34" charset="0"/>
                          <a:ea typeface="Calibri" pitchFamily="34" charset="-122"/>
                          <a:cs typeface="Calibri" pitchFamily="34" charset="-120"/>
                        </a:rPr>
                        <a:t>Conv from scratch, Xavier init, zero-mean</a:t>
                      </a:r>
                      <a:endParaRPr lang="en-US" sz="1000" dirty="0">
                        <a:latin typeface="Calibri" charset="0"/>
                        <a:ea typeface="Calibri" charset="0"/>
                        <a:cs typeface="Calibri" charset="0"/>
                      </a:endParaRPr>
                    </a:p>
                  </a:txBody>
                  <a:tcPr marL="91440" marR="91440" marT="45720" marB="45720">
                    <a:lnL w="6350" cap="flat" cmpd="sng" algn="ctr">
                      <a:solidFill>
                        <a:srgbClr val="D8D3C8"/>
                      </a:solidFill>
                      <a:prstDash val="solid"/>
                      <a:round/>
                      <a:headEnd type="none" w="med" len="med"/>
                      <a:tailEnd type="none" w="med" len="med"/>
                    </a:lnL>
                    <a:lnR w="6350" cap="flat" cmpd="sng" algn="ctr">
                      <a:solidFill>
                        <a:srgbClr val="D8D3C8"/>
                      </a:solidFill>
                      <a:prstDash val="solid"/>
                      <a:round/>
                      <a:headEnd type="none" w="med" len="med"/>
                      <a:tailEnd type="none" w="med" len="med"/>
                    </a:lnR>
                    <a:lnT w="6350" cap="flat" cmpd="sng" algn="ctr">
                      <a:solidFill>
                        <a:srgbClr val="D8D3C8"/>
                      </a:solidFill>
                      <a:prstDash val="solid"/>
                      <a:round/>
                      <a:headEnd type="none" w="med" len="med"/>
                      <a:tailEnd type="none" w="med" len="med"/>
                    </a:lnT>
                    <a:lnB w="6350" cap="flat" cmpd="sng" algn="ctr">
                      <a:solidFill>
                        <a:srgbClr val="D8D3C8"/>
                      </a:solidFill>
                      <a:prstDash val="solid"/>
                      <a:round/>
                      <a:headEnd type="none" w="med" len="med"/>
                      <a:tailEnd type="none" w="med" len="med"/>
                    </a:lnB>
                    <a:solidFill>
                      <a:srgbClr val="F7F6F2"/>
                    </a:solidFill>
                  </a:tcPr>
                </a:tc>
                <a:tc>
                  <a:txBody>
                    <a:bodyPr/>
                    <a:lstStyle/>
                    <a:p>
                      <a:pPr indent="0" marL="0">
                        <a:buNone/>
                      </a:pPr>
                      <a:r>
                        <a:rPr lang="en-US" sz="1000" dirty="0">
                          <a:solidFill>
                            <a:srgbClr val="2A2A2A"/>
                          </a:solidFill>
                          <a:latin typeface="Calibri" pitchFamily="34" charset="0"/>
                          <a:ea typeface="Calibri" pitchFamily="34" charset="-122"/>
                          <a:cs typeface="Calibri" pitchFamily="34" charset="-120"/>
                        </a:rPr>
                        <a:t>3.109</a:t>
                      </a:r>
                      <a:endParaRPr lang="en-US" sz="1000" dirty="0">
                        <a:latin typeface="Calibri" charset="0"/>
                        <a:ea typeface="Calibri" charset="0"/>
                        <a:cs typeface="Calibri" charset="0"/>
                      </a:endParaRPr>
                    </a:p>
                  </a:txBody>
                  <a:tcPr marL="91440" marR="91440" marT="45720" marB="45720">
                    <a:lnL w="6350" cap="flat" cmpd="sng" algn="ctr">
                      <a:solidFill>
                        <a:srgbClr val="D8D3C8"/>
                      </a:solidFill>
                      <a:prstDash val="solid"/>
                      <a:round/>
                      <a:headEnd type="none" w="med" len="med"/>
                      <a:tailEnd type="none" w="med" len="med"/>
                    </a:lnL>
                    <a:lnR w="6350" cap="flat" cmpd="sng" algn="ctr">
                      <a:solidFill>
                        <a:srgbClr val="D8D3C8"/>
                      </a:solidFill>
                      <a:prstDash val="solid"/>
                      <a:round/>
                      <a:headEnd type="none" w="med" len="med"/>
                      <a:tailEnd type="none" w="med" len="med"/>
                    </a:lnR>
                    <a:lnT w="6350" cap="flat" cmpd="sng" algn="ctr">
                      <a:solidFill>
                        <a:srgbClr val="D8D3C8"/>
                      </a:solidFill>
                      <a:prstDash val="solid"/>
                      <a:round/>
                      <a:headEnd type="none" w="med" len="med"/>
                      <a:tailEnd type="none" w="med" len="med"/>
                    </a:lnT>
                    <a:lnB w="6350" cap="flat" cmpd="sng" algn="ctr">
                      <a:solidFill>
                        <a:srgbClr val="D8D3C8"/>
                      </a:solidFill>
                      <a:prstDash val="solid"/>
                      <a:round/>
                      <a:headEnd type="none" w="med" len="med"/>
                      <a:tailEnd type="none" w="med" len="med"/>
                    </a:lnB>
                    <a:solidFill>
                      <a:srgbClr val="F7F6F2"/>
                    </a:solidFill>
                  </a:tcPr>
                </a:tc>
                <a:tc>
                  <a:txBody>
                    <a:bodyPr/>
                    <a:lstStyle/>
                    <a:p>
                      <a:pPr indent="0" marL="0">
                        <a:buNone/>
                      </a:pPr>
                      <a:r>
                        <a:rPr lang="en-US" sz="1000" dirty="0">
                          <a:solidFill>
                            <a:srgbClr val="2A2A2A"/>
                          </a:solidFill>
                          <a:latin typeface="Calibri" pitchFamily="34" charset="0"/>
                          <a:ea typeface="Calibri" pitchFamily="34" charset="-122"/>
                          <a:cs typeface="Calibri" pitchFamily="34" charset="-120"/>
                        </a:rPr>
                        <a:t>2.671</a:t>
                      </a:r>
                      <a:endParaRPr lang="en-US" sz="1000" dirty="0">
                        <a:latin typeface="Calibri" charset="0"/>
                        <a:ea typeface="Calibri" charset="0"/>
                        <a:cs typeface="Calibri" charset="0"/>
                      </a:endParaRPr>
                    </a:p>
                  </a:txBody>
                  <a:tcPr marL="91440" marR="91440" marT="45720" marB="45720">
                    <a:lnL w="6350" cap="flat" cmpd="sng" algn="ctr">
                      <a:solidFill>
                        <a:srgbClr val="D8D3C8"/>
                      </a:solidFill>
                      <a:prstDash val="solid"/>
                      <a:round/>
                      <a:headEnd type="none" w="med" len="med"/>
                      <a:tailEnd type="none" w="med" len="med"/>
                    </a:lnL>
                    <a:lnR w="6350" cap="flat" cmpd="sng" algn="ctr">
                      <a:solidFill>
                        <a:srgbClr val="D8D3C8"/>
                      </a:solidFill>
                      <a:prstDash val="solid"/>
                      <a:round/>
                      <a:headEnd type="none" w="med" len="med"/>
                      <a:tailEnd type="none" w="med" len="med"/>
                    </a:lnR>
                    <a:lnT w="6350" cap="flat" cmpd="sng" algn="ctr">
                      <a:solidFill>
                        <a:srgbClr val="D8D3C8"/>
                      </a:solidFill>
                      <a:prstDash val="solid"/>
                      <a:round/>
                      <a:headEnd type="none" w="med" len="med"/>
                      <a:tailEnd type="none" w="med" len="med"/>
                    </a:lnT>
                    <a:lnB w="6350" cap="flat" cmpd="sng" algn="ctr">
                      <a:solidFill>
                        <a:srgbClr val="D8D3C8"/>
                      </a:solidFill>
                      <a:prstDash val="solid"/>
                      <a:round/>
                      <a:headEnd type="none" w="med" len="med"/>
                      <a:tailEnd type="none" w="med" len="med"/>
                    </a:lnB>
                    <a:solidFill>
                      <a:srgbClr val="F7F6F2"/>
                    </a:solidFill>
                  </a:tcPr>
                </a:tc>
              </a:tr>
              <a:tr h="384048">
                <a:tc>
                  <a:txBody>
                    <a:bodyPr/>
                    <a:lstStyle/>
                    <a:p>
                      <a:pPr indent="0" marL="0">
                        <a:buNone/>
                      </a:pPr>
                      <a:r>
                        <a:rPr lang="en-US" sz="1000" dirty="0">
                          <a:solidFill>
                            <a:srgbClr val="2A2A2A"/>
                          </a:solidFill>
                          <a:latin typeface="Calibri" pitchFamily="34" charset="0"/>
                          <a:ea typeface="Calibri" pitchFamily="34" charset="-122"/>
                          <a:cs typeface="Calibri" pitchFamily="34" charset="-120"/>
                        </a:rPr>
                        <a:t>VGG16 Sub 1</a:t>
                      </a:r>
                      <a:endParaRPr lang="en-US" sz="1000" dirty="0">
                        <a:latin typeface="Calibri" charset="0"/>
                        <a:ea typeface="Calibri" charset="0"/>
                        <a:cs typeface="Calibri" charset="0"/>
                      </a:endParaRPr>
                    </a:p>
                  </a:txBody>
                  <a:tcPr marL="91440" marR="91440" marT="45720" marB="45720">
                    <a:lnL w="6350" cap="flat" cmpd="sng" algn="ctr">
                      <a:solidFill>
                        <a:srgbClr val="D8D3C8"/>
                      </a:solidFill>
                      <a:prstDash val="solid"/>
                      <a:round/>
                      <a:headEnd type="none" w="med" len="med"/>
                      <a:tailEnd type="none" w="med" len="med"/>
                    </a:lnL>
                    <a:lnR w="6350" cap="flat" cmpd="sng" algn="ctr">
                      <a:solidFill>
                        <a:srgbClr val="D8D3C8"/>
                      </a:solidFill>
                      <a:prstDash val="solid"/>
                      <a:round/>
                      <a:headEnd type="none" w="med" len="med"/>
                      <a:tailEnd type="none" w="med" len="med"/>
                    </a:lnR>
                    <a:lnT w="6350" cap="flat" cmpd="sng" algn="ctr">
                      <a:solidFill>
                        <a:srgbClr val="D8D3C8"/>
                      </a:solidFill>
                      <a:prstDash val="solid"/>
                      <a:round/>
                      <a:headEnd type="none" w="med" len="med"/>
                      <a:tailEnd type="none" w="med" len="med"/>
                    </a:lnT>
                    <a:lnB w="6350" cap="flat" cmpd="sng" algn="ctr">
                      <a:solidFill>
                        <a:srgbClr val="D8D3C8"/>
                      </a:solidFill>
                      <a:prstDash val="solid"/>
                      <a:round/>
                      <a:headEnd type="none" w="med" len="med"/>
                      <a:tailEnd type="none" w="med" len="med"/>
                    </a:lnB>
                    <a:solidFill>
                      <a:srgbClr val="FFFFFF"/>
                    </a:solidFill>
                  </a:tcPr>
                </a:tc>
                <a:tc>
                  <a:txBody>
                    <a:bodyPr/>
                    <a:lstStyle/>
                    <a:p>
                      <a:pPr indent="0" marL="0">
                        <a:buNone/>
                      </a:pPr>
                      <a:r>
                        <a:rPr lang="en-US" sz="1000" dirty="0">
                          <a:solidFill>
                            <a:srgbClr val="2A2A2A"/>
                          </a:solidFill>
                          <a:latin typeface="Calibri" pitchFamily="34" charset="0"/>
                          <a:ea typeface="Calibri" pitchFamily="34" charset="-122"/>
                          <a:cs typeface="Calibri" pitchFamily="34" charset="-120"/>
                        </a:rPr>
                        <a:t>Bottleneck + GAP + 1 Dense</a:t>
                      </a:r>
                      <a:endParaRPr lang="en-US" sz="1000" dirty="0">
                        <a:latin typeface="Calibri" charset="0"/>
                        <a:ea typeface="Calibri" charset="0"/>
                        <a:cs typeface="Calibri" charset="0"/>
                      </a:endParaRPr>
                    </a:p>
                  </a:txBody>
                  <a:tcPr marL="91440" marR="91440" marT="45720" marB="45720">
                    <a:lnL w="6350" cap="flat" cmpd="sng" algn="ctr">
                      <a:solidFill>
                        <a:srgbClr val="D8D3C8"/>
                      </a:solidFill>
                      <a:prstDash val="solid"/>
                      <a:round/>
                      <a:headEnd type="none" w="med" len="med"/>
                      <a:tailEnd type="none" w="med" len="med"/>
                    </a:lnL>
                    <a:lnR w="6350" cap="flat" cmpd="sng" algn="ctr">
                      <a:solidFill>
                        <a:srgbClr val="D8D3C8"/>
                      </a:solidFill>
                      <a:prstDash val="solid"/>
                      <a:round/>
                      <a:headEnd type="none" w="med" len="med"/>
                      <a:tailEnd type="none" w="med" len="med"/>
                    </a:lnR>
                    <a:lnT w="6350" cap="flat" cmpd="sng" algn="ctr">
                      <a:solidFill>
                        <a:srgbClr val="D8D3C8"/>
                      </a:solidFill>
                      <a:prstDash val="solid"/>
                      <a:round/>
                      <a:headEnd type="none" w="med" len="med"/>
                      <a:tailEnd type="none" w="med" len="med"/>
                    </a:lnT>
                    <a:lnB w="6350" cap="flat" cmpd="sng" algn="ctr">
                      <a:solidFill>
                        <a:srgbClr val="D8D3C8"/>
                      </a:solidFill>
                      <a:prstDash val="solid"/>
                      <a:round/>
                      <a:headEnd type="none" w="med" len="med"/>
                      <a:tailEnd type="none" w="med" len="med"/>
                    </a:lnB>
                    <a:solidFill>
                      <a:srgbClr val="FFFFFF"/>
                    </a:solidFill>
                  </a:tcPr>
                </a:tc>
                <a:tc>
                  <a:txBody>
                    <a:bodyPr/>
                    <a:lstStyle/>
                    <a:p>
                      <a:pPr indent="0" marL="0">
                        <a:buNone/>
                      </a:pPr>
                      <a:r>
                        <a:rPr lang="en-US" sz="1000" dirty="0">
                          <a:solidFill>
                            <a:srgbClr val="2A2A2A"/>
                          </a:solidFill>
                          <a:latin typeface="Calibri" pitchFamily="34" charset="0"/>
                          <a:ea typeface="Calibri" pitchFamily="34" charset="-122"/>
                          <a:cs typeface="Calibri" pitchFamily="34" charset="-120"/>
                        </a:rPr>
                        <a:t>1.821</a:t>
                      </a:r>
                      <a:endParaRPr lang="en-US" sz="1000" dirty="0">
                        <a:latin typeface="Calibri" charset="0"/>
                        <a:ea typeface="Calibri" charset="0"/>
                        <a:cs typeface="Calibri" charset="0"/>
                      </a:endParaRPr>
                    </a:p>
                  </a:txBody>
                  <a:tcPr marL="91440" marR="91440" marT="45720" marB="45720">
                    <a:lnL w="6350" cap="flat" cmpd="sng" algn="ctr">
                      <a:solidFill>
                        <a:srgbClr val="D8D3C8"/>
                      </a:solidFill>
                      <a:prstDash val="solid"/>
                      <a:round/>
                      <a:headEnd type="none" w="med" len="med"/>
                      <a:tailEnd type="none" w="med" len="med"/>
                    </a:lnL>
                    <a:lnR w="6350" cap="flat" cmpd="sng" algn="ctr">
                      <a:solidFill>
                        <a:srgbClr val="D8D3C8"/>
                      </a:solidFill>
                      <a:prstDash val="solid"/>
                      <a:round/>
                      <a:headEnd type="none" w="med" len="med"/>
                      <a:tailEnd type="none" w="med" len="med"/>
                    </a:lnR>
                    <a:lnT w="6350" cap="flat" cmpd="sng" algn="ctr">
                      <a:solidFill>
                        <a:srgbClr val="D8D3C8"/>
                      </a:solidFill>
                      <a:prstDash val="solid"/>
                      <a:round/>
                      <a:headEnd type="none" w="med" len="med"/>
                      <a:tailEnd type="none" w="med" len="med"/>
                    </a:lnT>
                    <a:lnB w="6350" cap="flat" cmpd="sng" algn="ctr">
                      <a:solidFill>
                        <a:srgbClr val="D8D3C8"/>
                      </a:solidFill>
                      <a:prstDash val="solid"/>
                      <a:round/>
                      <a:headEnd type="none" w="med" len="med"/>
                      <a:tailEnd type="none" w="med" len="med"/>
                    </a:lnB>
                    <a:solidFill>
                      <a:srgbClr val="FFFFFF"/>
                    </a:solidFill>
                  </a:tcPr>
                </a:tc>
                <a:tc>
                  <a:txBody>
                    <a:bodyPr/>
                    <a:lstStyle/>
                    <a:p>
                      <a:pPr indent="0" marL="0">
                        <a:buNone/>
                      </a:pPr>
                      <a:r>
                        <a:rPr lang="en-US" sz="1000" dirty="0">
                          <a:solidFill>
                            <a:srgbClr val="2A2A2A"/>
                          </a:solidFill>
                          <a:latin typeface="Calibri" pitchFamily="34" charset="0"/>
                          <a:ea typeface="Calibri" pitchFamily="34" charset="-122"/>
                          <a:cs typeface="Calibri" pitchFamily="34" charset="-120"/>
                        </a:rPr>
                        <a:t>1.932</a:t>
                      </a:r>
                      <a:endParaRPr lang="en-US" sz="1000" dirty="0">
                        <a:latin typeface="Calibri" charset="0"/>
                        <a:ea typeface="Calibri" charset="0"/>
                        <a:cs typeface="Calibri" charset="0"/>
                      </a:endParaRPr>
                    </a:p>
                  </a:txBody>
                  <a:tcPr marL="91440" marR="91440" marT="45720" marB="45720">
                    <a:lnL w="6350" cap="flat" cmpd="sng" algn="ctr">
                      <a:solidFill>
                        <a:srgbClr val="D8D3C8"/>
                      </a:solidFill>
                      <a:prstDash val="solid"/>
                      <a:round/>
                      <a:headEnd type="none" w="med" len="med"/>
                      <a:tailEnd type="none" w="med" len="med"/>
                    </a:lnL>
                    <a:lnR w="6350" cap="flat" cmpd="sng" algn="ctr">
                      <a:solidFill>
                        <a:srgbClr val="D8D3C8"/>
                      </a:solidFill>
                      <a:prstDash val="solid"/>
                      <a:round/>
                      <a:headEnd type="none" w="med" len="med"/>
                      <a:tailEnd type="none" w="med" len="med"/>
                    </a:lnR>
                    <a:lnT w="6350" cap="flat" cmpd="sng" algn="ctr">
                      <a:solidFill>
                        <a:srgbClr val="D8D3C8"/>
                      </a:solidFill>
                      <a:prstDash val="solid"/>
                      <a:round/>
                      <a:headEnd type="none" w="med" len="med"/>
                      <a:tailEnd type="none" w="med" len="med"/>
                    </a:lnT>
                    <a:lnB w="6350" cap="flat" cmpd="sng" algn="ctr">
                      <a:solidFill>
                        <a:srgbClr val="D8D3C8"/>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2A2A2A"/>
                          </a:solidFill>
                          <a:latin typeface="Calibri" pitchFamily="34" charset="0"/>
                          <a:ea typeface="Calibri" pitchFamily="34" charset="-122"/>
                          <a:cs typeface="Calibri" pitchFamily="34" charset="-120"/>
                        </a:rPr>
                        <a:t>VGG16 Sub 2</a:t>
                      </a:r>
                      <a:endParaRPr lang="en-US" sz="1000" dirty="0">
                        <a:latin typeface="Calibri" charset="0"/>
                        <a:ea typeface="Calibri" charset="0"/>
                        <a:cs typeface="Calibri" charset="0"/>
                      </a:endParaRPr>
                    </a:p>
                  </a:txBody>
                  <a:tcPr marL="91440" marR="91440" marT="45720" marB="45720">
                    <a:lnL w="6350" cap="flat" cmpd="sng" algn="ctr">
                      <a:solidFill>
                        <a:srgbClr val="D8D3C8"/>
                      </a:solidFill>
                      <a:prstDash val="solid"/>
                      <a:round/>
                      <a:headEnd type="none" w="med" len="med"/>
                      <a:tailEnd type="none" w="med" len="med"/>
                    </a:lnL>
                    <a:lnR w="6350" cap="flat" cmpd="sng" algn="ctr">
                      <a:solidFill>
                        <a:srgbClr val="D8D3C8"/>
                      </a:solidFill>
                      <a:prstDash val="solid"/>
                      <a:round/>
                      <a:headEnd type="none" w="med" len="med"/>
                      <a:tailEnd type="none" w="med" len="med"/>
                    </a:lnR>
                    <a:lnT w="6350" cap="flat" cmpd="sng" algn="ctr">
                      <a:solidFill>
                        <a:srgbClr val="D8D3C8"/>
                      </a:solidFill>
                      <a:prstDash val="solid"/>
                      <a:round/>
                      <a:headEnd type="none" w="med" len="med"/>
                      <a:tailEnd type="none" w="med" len="med"/>
                    </a:lnT>
                    <a:lnB w="6350" cap="flat" cmpd="sng" algn="ctr">
                      <a:solidFill>
                        <a:srgbClr val="D8D3C8"/>
                      </a:solidFill>
                      <a:prstDash val="solid"/>
                      <a:round/>
                      <a:headEnd type="none" w="med" len="med"/>
                      <a:tailEnd type="none" w="med" len="med"/>
                    </a:lnB>
                    <a:solidFill>
                      <a:srgbClr val="F7F6F2"/>
                    </a:solidFill>
                  </a:tcPr>
                </a:tc>
                <a:tc>
                  <a:txBody>
                    <a:bodyPr/>
                    <a:lstStyle/>
                    <a:p>
                      <a:pPr indent="0" marL="0">
                        <a:buNone/>
                      </a:pPr>
                      <a:r>
                        <a:rPr lang="en-US" sz="1000" dirty="0">
                          <a:solidFill>
                            <a:srgbClr val="2A2A2A"/>
                          </a:solidFill>
                          <a:latin typeface="Calibri" pitchFamily="34" charset="0"/>
                          <a:ea typeface="Calibri" pitchFamily="34" charset="-122"/>
                          <a:cs typeface="Calibri" pitchFamily="34" charset="-120"/>
                        </a:rPr>
                        <a:t>Bottleneck + Flatten + 2 Dense</a:t>
                      </a:r>
                      <a:endParaRPr lang="en-US" sz="1000" dirty="0">
                        <a:latin typeface="Calibri" charset="0"/>
                        <a:ea typeface="Calibri" charset="0"/>
                        <a:cs typeface="Calibri" charset="0"/>
                      </a:endParaRPr>
                    </a:p>
                  </a:txBody>
                  <a:tcPr marL="91440" marR="91440" marT="45720" marB="45720">
                    <a:lnL w="6350" cap="flat" cmpd="sng" algn="ctr">
                      <a:solidFill>
                        <a:srgbClr val="D8D3C8"/>
                      </a:solidFill>
                      <a:prstDash val="solid"/>
                      <a:round/>
                      <a:headEnd type="none" w="med" len="med"/>
                      <a:tailEnd type="none" w="med" len="med"/>
                    </a:lnL>
                    <a:lnR w="6350" cap="flat" cmpd="sng" algn="ctr">
                      <a:solidFill>
                        <a:srgbClr val="D8D3C8"/>
                      </a:solidFill>
                      <a:prstDash val="solid"/>
                      <a:round/>
                      <a:headEnd type="none" w="med" len="med"/>
                      <a:tailEnd type="none" w="med" len="med"/>
                    </a:lnR>
                    <a:lnT w="6350" cap="flat" cmpd="sng" algn="ctr">
                      <a:solidFill>
                        <a:srgbClr val="D8D3C8"/>
                      </a:solidFill>
                      <a:prstDash val="solid"/>
                      <a:round/>
                      <a:headEnd type="none" w="med" len="med"/>
                      <a:tailEnd type="none" w="med" len="med"/>
                    </a:lnT>
                    <a:lnB w="6350" cap="flat" cmpd="sng" algn="ctr">
                      <a:solidFill>
                        <a:srgbClr val="D8D3C8"/>
                      </a:solidFill>
                      <a:prstDash val="solid"/>
                      <a:round/>
                      <a:headEnd type="none" w="med" len="med"/>
                      <a:tailEnd type="none" w="med" len="med"/>
                    </a:lnB>
                    <a:solidFill>
                      <a:srgbClr val="F7F6F2"/>
                    </a:solidFill>
                  </a:tcPr>
                </a:tc>
                <a:tc>
                  <a:txBody>
                    <a:bodyPr/>
                    <a:lstStyle/>
                    <a:p>
                      <a:pPr indent="0" marL="0">
                        <a:buNone/>
                      </a:pPr>
                      <a:r>
                        <a:rPr lang="en-US" sz="1000" dirty="0">
                          <a:solidFill>
                            <a:srgbClr val="2A2A2A"/>
                          </a:solidFill>
                          <a:latin typeface="Calibri" pitchFamily="34" charset="0"/>
                          <a:ea typeface="Calibri" pitchFamily="34" charset="-122"/>
                          <a:cs typeface="Calibri" pitchFamily="34" charset="-120"/>
                        </a:rPr>
                        <a:t>5.052</a:t>
                      </a:r>
                      <a:endParaRPr lang="en-US" sz="1000" dirty="0">
                        <a:latin typeface="Calibri" charset="0"/>
                        <a:ea typeface="Calibri" charset="0"/>
                        <a:cs typeface="Calibri" charset="0"/>
                      </a:endParaRPr>
                    </a:p>
                  </a:txBody>
                  <a:tcPr marL="91440" marR="91440" marT="45720" marB="45720">
                    <a:lnL w="6350" cap="flat" cmpd="sng" algn="ctr">
                      <a:solidFill>
                        <a:srgbClr val="D8D3C8"/>
                      </a:solidFill>
                      <a:prstDash val="solid"/>
                      <a:round/>
                      <a:headEnd type="none" w="med" len="med"/>
                      <a:tailEnd type="none" w="med" len="med"/>
                    </a:lnL>
                    <a:lnR w="6350" cap="flat" cmpd="sng" algn="ctr">
                      <a:solidFill>
                        <a:srgbClr val="D8D3C8"/>
                      </a:solidFill>
                      <a:prstDash val="solid"/>
                      <a:round/>
                      <a:headEnd type="none" w="med" len="med"/>
                      <a:tailEnd type="none" w="med" len="med"/>
                    </a:lnR>
                    <a:lnT w="6350" cap="flat" cmpd="sng" algn="ctr">
                      <a:solidFill>
                        <a:srgbClr val="D8D3C8"/>
                      </a:solidFill>
                      <a:prstDash val="solid"/>
                      <a:round/>
                      <a:headEnd type="none" w="med" len="med"/>
                      <a:tailEnd type="none" w="med" len="med"/>
                    </a:lnT>
                    <a:lnB w="6350" cap="flat" cmpd="sng" algn="ctr">
                      <a:solidFill>
                        <a:srgbClr val="D8D3C8"/>
                      </a:solidFill>
                      <a:prstDash val="solid"/>
                      <a:round/>
                      <a:headEnd type="none" w="med" len="med"/>
                      <a:tailEnd type="none" w="med" len="med"/>
                    </a:lnB>
                    <a:solidFill>
                      <a:srgbClr val="F7F6F2"/>
                    </a:solidFill>
                  </a:tcPr>
                </a:tc>
                <a:tc>
                  <a:txBody>
                    <a:bodyPr/>
                    <a:lstStyle/>
                    <a:p>
                      <a:pPr indent="0" marL="0">
                        <a:buNone/>
                      </a:pPr>
                      <a:r>
                        <a:rPr lang="en-US" sz="1000" dirty="0">
                          <a:solidFill>
                            <a:srgbClr val="2A2A2A"/>
                          </a:solidFill>
                          <a:latin typeface="Calibri" pitchFamily="34" charset="0"/>
                          <a:ea typeface="Calibri" pitchFamily="34" charset="-122"/>
                          <a:cs typeface="Calibri" pitchFamily="34" charset="-120"/>
                        </a:rPr>
                        <a:t>5.216</a:t>
                      </a:r>
                      <a:endParaRPr lang="en-US" sz="1000" dirty="0">
                        <a:latin typeface="Calibri" charset="0"/>
                        <a:ea typeface="Calibri" charset="0"/>
                        <a:cs typeface="Calibri" charset="0"/>
                      </a:endParaRPr>
                    </a:p>
                  </a:txBody>
                  <a:tcPr marL="91440" marR="91440" marT="45720" marB="45720">
                    <a:lnL w="6350" cap="flat" cmpd="sng" algn="ctr">
                      <a:solidFill>
                        <a:srgbClr val="D8D3C8"/>
                      </a:solidFill>
                      <a:prstDash val="solid"/>
                      <a:round/>
                      <a:headEnd type="none" w="med" len="med"/>
                      <a:tailEnd type="none" w="med" len="med"/>
                    </a:lnL>
                    <a:lnR w="6350" cap="flat" cmpd="sng" algn="ctr">
                      <a:solidFill>
                        <a:srgbClr val="D8D3C8"/>
                      </a:solidFill>
                      <a:prstDash val="solid"/>
                      <a:round/>
                      <a:headEnd type="none" w="med" len="med"/>
                      <a:tailEnd type="none" w="med" len="med"/>
                    </a:lnR>
                    <a:lnT w="6350" cap="flat" cmpd="sng" algn="ctr">
                      <a:solidFill>
                        <a:srgbClr val="D8D3C8"/>
                      </a:solidFill>
                      <a:prstDash val="solid"/>
                      <a:round/>
                      <a:headEnd type="none" w="med" len="med"/>
                      <a:tailEnd type="none" w="med" len="med"/>
                    </a:lnT>
                    <a:lnB w="6350" cap="flat" cmpd="sng" algn="ctr">
                      <a:solidFill>
                        <a:srgbClr val="D8D3C8"/>
                      </a:solidFill>
                      <a:prstDash val="solid"/>
                      <a:round/>
                      <a:headEnd type="none" w="med" len="med"/>
                      <a:tailEnd type="none" w="med" len="med"/>
                    </a:lnB>
                    <a:solidFill>
                      <a:srgbClr val="F7F6F2"/>
                    </a:solidFill>
                  </a:tcPr>
                </a:tc>
              </a:tr>
              <a:tr h="384048">
                <a:tc>
                  <a:txBody>
                    <a:bodyPr/>
                    <a:lstStyle/>
                    <a:p>
                      <a:pPr indent="0" marL="0">
                        <a:buNone/>
                      </a:pPr>
                      <a:r>
                        <a:rPr lang="en-US" sz="1000" b="1" dirty="0">
                          <a:solidFill>
                            <a:srgbClr val="D4552A"/>
                          </a:solidFill>
                          <a:latin typeface="Calibri" pitchFamily="34" charset="0"/>
                          <a:ea typeface="Calibri" pitchFamily="34" charset="-122"/>
                          <a:cs typeface="Calibri" pitchFamily="34" charset="-120"/>
                        </a:rPr>
                        <a:t>Fine-Tuned (BEST)</a:t>
                      </a:r>
                      <a:endParaRPr lang="en-US" sz="1000" dirty="0">
                        <a:latin typeface="Calibri" charset="0"/>
                        <a:ea typeface="Calibri" charset="0"/>
                        <a:cs typeface="Calibri" charset="0"/>
                      </a:endParaRPr>
                    </a:p>
                  </a:txBody>
                  <a:tcPr marL="91440" marR="91440" marT="45720" marB="45720">
                    <a:lnL w="6350" cap="flat" cmpd="sng" algn="ctr">
                      <a:solidFill>
                        <a:srgbClr val="D8D3C8"/>
                      </a:solidFill>
                      <a:prstDash val="solid"/>
                      <a:round/>
                      <a:headEnd type="none" w="med" len="med"/>
                      <a:tailEnd type="none" w="med" len="med"/>
                    </a:lnL>
                    <a:lnR w="6350" cap="flat" cmpd="sng" algn="ctr">
                      <a:solidFill>
                        <a:srgbClr val="D8D3C8"/>
                      </a:solidFill>
                      <a:prstDash val="solid"/>
                      <a:round/>
                      <a:headEnd type="none" w="med" len="med"/>
                      <a:tailEnd type="none" w="med" len="med"/>
                    </a:lnR>
                    <a:lnT w="6350" cap="flat" cmpd="sng" algn="ctr">
                      <a:solidFill>
                        <a:srgbClr val="D8D3C8"/>
                      </a:solidFill>
                      <a:prstDash val="solid"/>
                      <a:round/>
                      <a:headEnd type="none" w="med" len="med"/>
                      <a:tailEnd type="none" w="med" len="med"/>
                    </a:lnT>
                    <a:lnB w="6350" cap="flat" cmpd="sng" algn="ctr">
                      <a:solidFill>
                        <a:srgbClr val="D8D3C8"/>
                      </a:solidFill>
                      <a:prstDash val="solid"/>
                      <a:round/>
                      <a:headEnd type="none" w="med" len="med"/>
                      <a:tailEnd type="none" w="med" len="med"/>
                    </a:lnB>
                    <a:solidFill>
                      <a:srgbClr val="FFF0EB"/>
                    </a:solidFill>
                  </a:tcPr>
                </a:tc>
                <a:tc>
                  <a:txBody>
                    <a:bodyPr/>
                    <a:lstStyle/>
                    <a:p>
                      <a:pPr indent="0" marL="0">
                        <a:buNone/>
                      </a:pPr>
                      <a:r>
                        <a:rPr lang="en-US" sz="1000" b="1" dirty="0">
                          <a:solidFill>
                            <a:srgbClr val="D4552A"/>
                          </a:solidFill>
                          <a:latin typeface="Calibri" pitchFamily="34" charset="0"/>
                          <a:ea typeface="Calibri" pitchFamily="34" charset="-122"/>
                          <a:cs typeface="Calibri" pitchFamily="34" charset="-120"/>
                        </a:rPr>
                        <a:t>VGG16 fine-tuned, Xavier + zero-mean</a:t>
                      </a:r>
                      <a:endParaRPr lang="en-US" sz="1000" dirty="0">
                        <a:latin typeface="Calibri" charset="0"/>
                        <a:ea typeface="Calibri" charset="0"/>
                        <a:cs typeface="Calibri" charset="0"/>
                      </a:endParaRPr>
                    </a:p>
                  </a:txBody>
                  <a:tcPr marL="91440" marR="91440" marT="45720" marB="45720">
                    <a:lnL w="6350" cap="flat" cmpd="sng" algn="ctr">
                      <a:solidFill>
                        <a:srgbClr val="D8D3C8"/>
                      </a:solidFill>
                      <a:prstDash val="solid"/>
                      <a:round/>
                      <a:headEnd type="none" w="med" len="med"/>
                      <a:tailEnd type="none" w="med" len="med"/>
                    </a:lnL>
                    <a:lnR w="6350" cap="flat" cmpd="sng" algn="ctr">
                      <a:solidFill>
                        <a:srgbClr val="D8D3C8"/>
                      </a:solidFill>
                      <a:prstDash val="solid"/>
                      <a:round/>
                      <a:headEnd type="none" w="med" len="med"/>
                      <a:tailEnd type="none" w="med" len="med"/>
                    </a:lnR>
                    <a:lnT w="6350" cap="flat" cmpd="sng" algn="ctr">
                      <a:solidFill>
                        <a:srgbClr val="D8D3C8"/>
                      </a:solidFill>
                      <a:prstDash val="solid"/>
                      <a:round/>
                      <a:headEnd type="none" w="med" len="med"/>
                      <a:tailEnd type="none" w="med" len="med"/>
                    </a:lnT>
                    <a:lnB w="6350" cap="flat" cmpd="sng" algn="ctr">
                      <a:solidFill>
                        <a:srgbClr val="D8D3C8"/>
                      </a:solidFill>
                      <a:prstDash val="solid"/>
                      <a:round/>
                      <a:headEnd type="none" w="med" len="med"/>
                      <a:tailEnd type="none" w="med" len="med"/>
                    </a:lnB>
                    <a:solidFill>
                      <a:srgbClr val="FFF0EB"/>
                    </a:solidFill>
                  </a:tcPr>
                </a:tc>
                <a:tc>
                  <a:txBody>
                    <a:bodyPr/>
                    <a:lstStyle/>
                    <a:p>
                      <a:pPr indent="0" marL="0">
                        <a:buNone/>
                      </a:pPr>
                      <a:r>
                        <a:rPr lang="en-US" sz="1000" b="1" dirty="0">
                          <a:solidFill>
                            <a:srgbClr val="D4552A"/>
                          </a:solidFill>
                          <a:latin typeface="Calibri" pitchFamily="34" charset="0"/>
                          <a:ea typeface="Calibri" pitchFamily="34" charset="-122"/>
                          <a:cs typeface="Calibri" pitchFamily="34" charset="-120"/>
                        </a:rPr>
                        <a:t>1.125</a:t>
                      </a:r>
                      <a:endParaRPr lang="en-US" sz="1000" dirty="0">
                        <a:latin typeface="Calibri" charset="0"/>
                        <a:ea typeface="Calibri" charset="0"/>
                        <a:cs typeface="Calibri" charset="0"/>
                      </a:endParaRPr>
                    </a:p>
                  </a:txBody>
                  <a:tcPr marL="91440" marR="91440" marT="45720" marB="45720">
                    <a:lnL w="6350" cap="flat" cmpd="sng" algn="ctr">
                      <a:solidFill>
                        <a:srgbClr val="D8D3C8"/>
                      </a:solidFill>
                      <a:prstDash val="solid"/>
                      <a:round/>
                      <a:headEnd type="none" w="med" len="med"/>
                      <a:tailEnd type="none" w="med" len="med"/>
                    </a:lnL>
                    <a:lnR w="6350" cap="flat" cmpd="sng" algn="ctr">
                      <a:solidFill>
                        <a:srgbClr val="D8D3C8"/>
                      </a:solidFill>
                      <a:prstDash val="solid"/>
                      <a:round/>
                      <a:headEnd type="none" w="med" len="med"/>
                      <a:tailEnd type="none" w="med" len="med"/>
                    </a:lnR>
                    <a:lnT w="6350" cap="flat" cmpd="sng" algn="ctr">
                      <a:solidFill>
                        <a:srgbClr val="D8D3C8"/>
                      </a:solidFill>
                      <a:prstDash val="solid"/>
                      <a:round/>
                      <a:headEnd type="none" w="med" len="med"/>
                      <a:tailEnd type="none" w="med" len="med"/>
                    </a:lnT>
                    <a:lnB w="6350" cap="flat" cmpd="sng" algn="ctr">
                      <a:solidFill>
                        <a:srgbClr val="D8D3C8"/>
                      </a:solidFill>
                      <a:prstDash val="solid"/>
                      <a:round/>
                      <a:headEnd type="none" w="med" len="med"/>
                      <a:tailEnd type="none" w="med" len="med"/>
                    </a:lnB>
                    <a:solidFill>
                      <a:srgbClr val="FFF0EB"/>
                    </a:solidFill>
                  </a:tcPr>
                </a:tc>
                <a:tc>
                  <a:txBody>
                    <a:bodyPr/>
                    <a:lstStyle/>
                    <a:p>
                      <a:pPr indent="0" marL="0">
                        <a:buNone/>
                      </a:pPr>
                      <a:r>
                        <a:rPr lang="en-US" sz="1000" b="1" dirty="0">
                          <a:solidFill>
                            <a:srgbClr val="D4552A"/>
                          </a:solidFill>
                          <a:latin typeface="Calibri" pitchFamily="34" charset="0"/>
                          <a:ea typeface="Calibri" pitchFamily="34" charset="-122"/>
                          <a:cs typeface="Calibri" pitchFamily="34" charset="-120"/>
                        </a:rPr>
                        <a:t>1.264</a:t>
                      </a:r>
                      <a:endParaRPr lang="en-US" sz="1000" dirty="0">
                        <a:latin typeface="Calibri" charset="0"/>
                        <a:ea typeface="Calibri" charset="0"/>
                        <a:cs typeface="Calibri" charset="0"/>
                      </a:endParaRPr>
                    </a:p>
                  </a:txBody>
                  <a:tcPr marL="91440" marR="91440" marT="45720" marB="45720">
                    <a:lnL w="6350" cap="flat" cmpd="sng" algn="ctr">
                      <a:solidFill>
                        <a:srgbClr val="D8D3C8"/>
                      </a:solidFill>
                      <a:prstDash val="solid"/>
                      <a:round/>
                      <a:headEnd type="none" w="med" len="med"/>
                      <a:tailEnd type="none" w="med" len="med"/>
                    </a:lnL>
                    <a:lnR w="6350" cap="flat" cmpd="sng" algn="ctr">
                      <a:solidFill>
                        <a:srgbClr val="D8D3C8"/>
                      </a:solidFill>
                      <a:prstDash val="solid"/>
                      <a:round/>
                      <a:headEnd type="none" w="med" len="med"/>
                      <a:tailEnd type="none" w="med" len="med"/>
                    </a:lnR>
                    <a:lnT w="6350" cap="flat" cmpd="sng" algn="ctr">
                      <a:solidFill>
                        <a:srgbClr val="D8D3C8"/>
                      </a:solidFill>
                      <a:prstDash val="solid"/>
                      <a:round/>
                      <a:headEnd type="none" w="med" len="med"/>
                      <a:tailEnd type="none" w="med" len="med"/>
                    </a:lnT>
                    <a:lnB w="6350" cap="flat" cmpd="sng" algn="ctr">
                      <a:solidFill>
                        <a:srgbClr val="D8D3C8"/>
                      </a:solidFill>
                      <a:prstDash val="solid"/>
                      <a:round/>
                      <a:headEnd type="none" w="med" len="med"/>
                      <a:tailEnd type="none" w="med" len="med"/>
                    </a:lnB>
                    <a:solidFill>
                      <a:srgbClr val="FFF0EB"/>
                    </a:solidFill>
                  </a:tcPr>
                </a:tc>
              </a:tr>
            </a:tbl>
          </a:graphicData>
        </a:graphic>
      </p:graphicFrame>
      <p:sp>
        <p:nvSpPr>
          <p:cNvPr id="7" name="Text 4"/>
          <p:cNvSpPr/>
          <p:nvPr/>
        </p:nvSpPr>
        <p:spPr>
          <a:xfrm>
            <a:off x="5303520" y="914400"/>
            <a:ext cx="3657600" cy="365760"/>
          </a:xfrm>
          <a:prstGeom prst="rect">
            <a:avLst/>
          </a:prstGeom>
          <a:noFill/>
          <a:ln/>
        </p:spPr>
        <p:txBody>
          <a:bodyPr wrap="square" lIns="0" tIns="0" rIns="0" bIns="0" rtlCol="0" anchor="ctr"/>
          <a:lstStyle/>
          <a:p>
            <a:pPr algn="ctr" indent="0" marL="0">
              <a:buNone/>
            </a:pPr>
            <a:r>
              <a:rPr lang="en-US" sz="1300" b="1" dirty="0">
                <a:solidFill>
                  <a:srgbClr val="2C6B8A"/>
                </a:solidFill>
                <a:latin typeface="Cambria" pitchFamily="34" charset="0"/>
                <a:ea typeface="Cambria" pitchFamily="34" charset="-122"/>
                <a:cs typeface="Cambria" pitchFamily="34" charset="-120"/>
              </a:rPr>
              <a:t>Log-Loss Score per Submission</a:t>
            </a:r>
            <a:endParaRPr lang="en-US" sz="1300" dirty="0"/>
          </a:p>
        </p:txBody>
      </p:sp>
      <p:graphicFrame>
        <p:nvGraphicFramePr>
          <p:cNvPr id="8" name="Chart 0" descr=""/>
          <p:cNvGraphicFramePr/>
          <p:nvPr/>
        </p:nvGraphicFramePr>
        <p:xfrm>
          <a:off x="5212080" y="1325880"/>
          <a:ext cx="3749040" cy="37490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533"/>
          </a:solidFill>
          <a:ln w="12700">
            <a:solidFill>
              <a:srgbClr val="1E2533"/>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Model Performance Comparison</a:t>
            </a:r>
            <a:endParaRPr lang="en-US" sz="2600" dirty="0"/>
          </a:p>
        </p:txBody>
      </p:sp>
      <p:sp>
        <p:nvSpPr>
          <p:cNvPr id="4" name="Shape 2"/>
          <p:cNvSpPr/>
          <p:nvPr/>
        </p:nvSpPr>
        <p:spPr>
          <a:xfrm>
            <a:off x="292608" y="914400"/>
            <a:ext cx="2715768" cy="4041648"/>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5" name="Shape 3"/>
          <p:cNvSpPr/>
          <p:nvPr/>
        </p:nvSpPr>
        <p:spPr>
          <a:xfrm>
            <a:off x="292608" y="914400"/>
            <a:ext cx="2715768" cy="804672"/>
          </a:xfrm>
          <a:prstGeom prst="rect">
            <a:avLst/>
          </a:prstGeom>
          <a:solidFill>
            <a:srgbClr val="A8C5D8"/>
          </a:solidFill>
          <a:ln w="12700">
            <a:solidFill>
              <a:srgbClr val="A8C5D8"/>
            </a:solidFill>
            <a:prstDash val="solid"/>
          </a:ln>
        </p:spPr>
      </p:sp>
      <p:sp>
        <p:nvSpPr>
          <p:cNvPr id="6" name="Text 4"/>
          <p:cNvSpPr/>
          <p:nvPr/>
        </p:nvSpPr>
        <p:spPr>
          <a:xfrm>
            <a:off x="384048" y="914400"/>
            <a:ext cx="2532888" cy="804672"/>
          </a:xfrm>
          <a:prstGeom prst="rect">
            <a:avLst/>
          </a:prstGeom>
          <a:noFill/>
          <a:ln/>
        </p:spPr>
        <p:txBody>
          <a:bodyPr wrap="square" lIns="0" tIns="0" rIns="0" bIns="0" rtlCol="0" anchor="ctr"/>
          <a:lstStyle/>
          <a:p>
            <a:pPr algn="ctr" indent="0" marL="0">
              <a:buNone/>
            </a:pPr>
            <a:r>
              <a:rPr lang="en-US" sz="1300" b="1" dirty="0">
                <a:solidFill>
                  <a:srgbClr val="1E2533"/>
                </a:solidFill>
                <a:latin typeface="Cambria" pitchFamily="34" charset="0"/>
                <a:ea typeface="Cambria" pitchFamily="34" charset="-122"/>
                <a:cs typeface="Cambria" pitchFamily="34" charset="-120"/>
              </a:rPr>
              <a:t>CNN from Scratch</a:t>
            </a:r>
            <a:endParaRPr lang="en-US" sz="1300" dirty="0"/>
          </a:p>
        </p:txBody>
      </p:sp>
      <p:sp>
        <p:nvSpPr>
          <p:cNvPr id="7" name="Text 5"/>
          <p:cNvSpPr/>
          <p:nvPr/>
        </p:nvSpPr>
        <p:spPr>
          <a:xfrm>
            <a:off x="384048" y="1810512"/>
            <a:ext cx="253288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Log-Loss Score</a:t>
            </a:r>
            <a:endParaRPr lang="en-US" sz="1050" dirty="0"/>
          </a:p>
        </p:txBody>
      </p:sp>
      <p:sp>
        <p:nvSpPr>
          <p:cNvPr id="8" name="Text 6"/>
          <p:cNvSpPr/>
          <p:nvPr/>
        </p:nvSpPr>
        <p:spPr>
          <a:xfrm>
            <a:off x="384048" y="2048256"/>
            <a:ext cx="2532888" cy="658368"/>
          </a:xfrm>
          <a:prstGeom prst="rect">
            <a:avLst/>
          </a:prstGeom>
          <a:noFill/>
          <a:ln/>
        </p:spPr>
        <p:txBody>
          <a:bodyPr wrap="square" lIns="0" tIns="0" rIns="0" bIns="0" rtlCol="0" anchor="ctr"/>
          <a:lstStyle/>
          <a:p>
            <a:pPr algn="ctr" indent="0" marL="0">
              <a:buNone/>
            </a:pPr>
            <a:r>
              <a:rPr lang="en-US" sz="4200" b="1" dirty="0">
                <a:solidFill>
                  <a:srgbClr val="1E2533"/>
                </a:solidFill>
                <a:latin typeface="Cambria" pitchFamily="34" charset="0"/>
                <a:ea typeface="Cambria" pitchFamily="34" charset="-122"/>
                <a:cs typeface="Cambria" pitchFamily="34" charset="-120"/>
              </a:rPr>
              <a:t>2.671</a:t>
            </a:r>
            <a:endParaRPr lang="en-US" sz="4200" dirty="0"/>
          </a:p>
        </p:txBody>
      </p:sp>
      <p:sp>
        <p:nvSpPr>
          <p:cNvPr id="9" name="Shape 7"/>
          <p:cNvSpPr/>
          <p:nvPr/>
        </p:nvSpPr>
        <p:spPr>
          <a:xfrm>
            <a:off x="493776" y="2862072"/>
            <a:ext cx="109728" cy="109728"/>
          </a:xfrm>
          <a:prstGeom prst="ellipse">
            <a:avLst/>
          </a:prstGeom>
          <a:solidFill>
            <a:srgbClr val="2C6B8A"/>
          </a:solidFill>
          <a:ln w="12700">
            <a:solidFill>
              <a:srgbClr val="2C6B8A"/>
            </a:solidFill>
            <a:prstDash val="solid"/>
          </a:ln>
        </p:spPr>
      </p:sp>
      <p:sp>
        <p:nvSpPr>
          <p:cNvPr id="10" name="Text 8"/>
          <p:cNvSpPr/>
          <p:nvPr/>
        </p:nvSpPr>
        <p:spPr>
          <a:xfrm>
            <a:off x="676656" y="2807208"/>
            <a:ext cx="2240280" cy="402336"/>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Simple 2-block CNN</a:t>
            </a:r>
            <a:endParaRPr lang="en-US" sz="1150" dirty="0"/>
          </a:p>
        </p:txBody>
      </p:sp>
      <p:sp>
        <p:nvSpPr>
          <p:cNvPr id="11" name="Shape 9"/>
          <p:cNvSpPr/>
          <p:nvPr/>
        </p:nvSpPr>
        <p:spPr>
          <a:xfrm>
            <a:off x="493776" y="3364992"/>
            <a:ext cx="109728" cy="109728"/>
          </a:xfrm>
          <a:prstGeom prst="ellipse">
            <a:avLst/>
          </a:prstGeom>
          <a:solidFill>
            <a:srgbClr val="2C6B8A"/>
          </a:solidFill>
          <a:ln w="12700">
            <a:solidFill>
              <a:srgbClr val="2C6B8A"/>
            </a:solidFill>
            <a:prstDash val="solid"/>
          </a:ln>
        </p:spPr>
      </p:sp>
      <p:sp>
        <p:nvSpPr>
          <p:cNvPr id="12" name="Text 10"/>
          <p:cNvSpPr/>
          <p:nvPr/>
        </p:nvSpPr>
        <p:spPr>
          <a:xfrm>
            <a:off x="676656" y="3310128"/>
            <a:ext cx="2240280" cy="402336"/>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Trained from random init</a:t>
            </a:r>
            <a:endParaRPr lang="en-US" sz="1150" dirty="0"/>
          </a:p>
        </p:txBody>
      </p:sp>
      <p:sp>
        <p:nvSpPr>
          <p:cNvPr id="13" name="Shape 11"/>
          <p:cNvSpPr/>
          <p:nvPr/>
        </p:nvSpPr>
        <p:spPr>
          <a:xfrm>
            <a:off x="493776" y="3867912"/>
            <a:ext cx="109728" cy="109728"/>
          </a:xfrm>
          <a:prstGeom prst="ellipse">
            <a:avLst/>
          </a:prstGeom>
          <a:solidFill>
            <a:srgbClr val="2C6B8A"/>
          </a:solidFill>
          <a:ln w="12700">
            <a:solidFill>
              <a:srgbClr val="2C6B8A"/>
            </a:solidFill>
            <a:prstDash val="solid"/>
          </a:ln>
        </p:spPr>
      </p:sp>
      <p:sp>
        <p:nvSpPr>
          <p:cNvPr id="14" name="Text 12"/>
          <p:cNvSpPr/>
          <p:nvPr/>
        </p:nvSpPr>
        <p:spPr>
          <a:xfrm>
            <a:off x="676656" y="3813048"/>
            <a:ext cx="2240280" cy="402336"/>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No pre-trained knowledge</a:t>
            </a:r>
            <a:endParaRPr lang="en-US" sz="1150" dirty="0"/>
          </a:p>
        </p:txBody>
      </p:sp>
      <p:sp>
        <p:nvSpPr>
          <p:cNvPr id="15" name="Shape 13"/>
          <p:cNvSpPr/>
          <p:nvPr/>
        </p:nvSpPr>
        <p:spPr>
          <a:xfrm>
            <a:off x="493776" y="4370832"/>
            <a:ext cx="109728" cy="109728"/>
          </a:xfrm>
          <a:prstGeom prst="ellipse">
            <a:avLst/>
          </a:prstGeom>
          <a:solidFill>
            <a:srgbClr val="2C6B8A"/>
          </a:solidFill>
          <a:ln w="12700">
            <a:solidFill>
              <a:srgbClr val="2C6B8A"/>
            </a:solidFill>
            <a:prstDash val="solid"/>
          </a:ln>
        </p:spPr>
      </p:sp>
      <p:sp>
        <p:nvSpPr>
          <p:cNvPr id="16" name="Text 14"/>
          <p:cNvSpPr/>
          <p:nvPr/>
        </p:nvSpPr>
        <p:spPr>
          <a:xfrm>
            <a:off x="676656" y="4315968"/>
            <a:ext cx="2240280" cy="402336"/>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Fastest to build &amp; train</a:t>
            </a:r>
            <a:endParaRPr lang="en-US" sz="1150" dirty="0"/>
          </a:p>
        </p:txBody>
      </p:sp>
      <p:sp>
        <p:nvSpPr>
          <p:cNvPr id="17" name="Shape 15"/>
          <p:cNvSpPr/>
          <p:nvPr/>
        </p:nvSpPr>
        <p:spPr>
          <a:xfrm>
            <a:off x="3246120" y="914400"/>
            <a:ext cx="2715768" cy="4041648"/>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8" name="Shape 16"/>
          <p:cNvSpPr/>
          <p:nvPr/>
        </p:nvSpPr>
        <p:spPr>
          <a:xfrm>
            <a:off x="3246120" y="914400"/>
            <a:ext cx="2715768" cy="804672"/>
          </a:xfrm>
          <a:prstGeom prst="rect">
            <a:avLst/>
          </a:prstGeom>
          <a:solidFill>
            <a:srgbClr val="2C6B8A"/>
          </a:solidFill>
          <a:ln w="12700">
            <a:solidFill>
              <a:srgbClr val="2C6B8A"/>
            </a:solidFill>
            <a:prstDash val="solid"/>
          </a:ln>
        </p:spPr>
      </p:sp>
      <p:sp>
        <p:nvSpPr>
          <p:cNvPr id="19" name="Text 17"/>
          <p:cNvSpPr/>
          <p:nvPr/>
        </p:nvSpPr>
        <p:spPr>
          <a:xfrm>
            <a:off x="3337560" y="914400"/>
            <a:ext cx="2532888" cy="8046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VGG16 Transfer (Bottleneck)</a:t>
            </a:r>
            <a:endParaRPr lang="en-US" sz="1300" dirty="0"/>
          </a:p>
        </p:txBody>
      </p:sp>
      <p:sp>
        <p:nvSpPr>
          <p:cNvPr id="20" name="Text 18"/>
          <p:cNvSpPr/>
          <p:nvPr/>
        </p:nvSpPr>
        <p:spPr>
          <a:xfrm>
            <a:off x="3337560" y="1810512"/>
            <a:ext cx="253288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Log-Loss Score</a:t>
            </a:r>
            <a:endParaRPr lang="en-US" sz="1050" dirty="0"/>
          </a:p>
        </p:txBody>
      </p:sp>
      <p:sp>
        <p:nvSpPr>
          <p:cNvPr id="21" name="Text 19"/>
          <p:cNvSpPr/>
          <p:nvPr/>
        </p:nvSpPr>
        <p:spPr>
          <a:xfrm>
            <a:off x="3337560" y="2048256"/>
            <a:ext cx="2532888" cy="658368"/>
          </a:xfrm>
          <a:prstGeom prst="rect">
            <a:avLst/>
          </a:prstGeom>
          <a:noFill/>
          <a:ln/>
        </p:spPr>
        <p:txBody>
          <a:bodyPr wrap="square" lIns="0" tIns="0" rIns="0" bIns="0" rtlCol="0" anchor="ctr"/>
          <a:lstStyle/>
          <a:p>
            <a:pPr algn="ctr" indent="0" marL="0">
              <a:buNone/>
            </a:pPr>
            <a:r>
              <a:rPr lang="en-US" sz="4200" b="1" dirty="0">
                <a:solidFill>
                  <a:srgbClr val="2C6B8A"/>
                </a:solidFill>
                <a:latin typeface="Cambria" pitchFamily="34" charset="0"/>
                <a:ea typeface="Cambria" pitchFamily="34" charset="-122"/>
                <a:cs typeface="Cambria" pitchFamily="34" charset="-120"/>
              </a:rPr>
              <a:t>1.932</a:t>
            </a:r>
            <a:endParaRPr lang="en-US" sz="4200" dirty="0"/>
          </a:p>
        </p:txBody>
      </p:sp>
      <p:sp>
        <p:nvSpPr>
          <p:cNvPr id="22" name="Shape 20"/>
          <p:cNvSpPr/>
          <p:nvPr/>
        </p:nvSpPr>
        <p:spPr>
          <a:xfrm>
            <a:off x="3447288" y="2862072"/>
            <a:ext cx="109728" cy="109728"/>
          </a:xfrm>
          <a:prstGeom prst="ellipse">
            <a:avLst/>
          </a:prstGeom>
          <a:solidFill>
            <a:srgbClr val="2C6B8A"/>
          </a:solidFill>
          <a:ln w="12700">
            <a:solidFill>
              <a:srgbClr val="2C6B8A"/>
            </a:solidFill>
            <a:prstDash val="solid"/>
          </a:ln>
        </p:spPr>
      </p:sp>
      <p:sp>
        <p:nvSpPr>
          <p:cNvPr id="23" name="Text 21"/>
          <p:cNvSpPr/>
          <p:nvPr/>
        </p:nvSpPr>
        <p:spPr>
          <a:xfrm>
            <a:off x="3630168" y="2807208"/>
            <a:ext cx="2240280" cy="402336"/>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Pre-trained ImageNet features</a:t>
            </a:r>
            <a:endParaRPr lang="en-US" sz="1150" dirty="0"/>
          </a:p>
        </p:txBody>
      </p:sp>
      <p:sp>
        <p:nvSpPr>
          <p:cNvPr id="24" name="Shape 22"/>
          <p:cNvSpPr/>
          <p:nvPr/>
        </p:nvSpPr>
        <p:spPr>
          <a:xfrm>
            <a:off x="3447288" y="3364992"/>
            <a:ext cx="109728" cy="109728"/>
          </a:xfrm>
          <a:prstGeom prst="ellipse">
            <a:avLst/>
          </a:prstGeom>
          <a:solidFill>
            <a:srgbClr val="2C6B8A"/>
          </a:solidFill>
          <a:ln w="12700">
            <a:solidFill>
              <a:srgbClr val="2C6B8A"/>
            </a:solidFill>
            <a:prstDash val="solid"/>
          </a:ln>
        </p:spPr>
      </p:sp>
      <p:sp>
        <p:nvSpPr>
          <p:cNvPr id="25" name="Text 23"/>
          <p:cNvSpPr/>
          <p:nvPr/>
        </p:nvSpPr>
        <p:spPr>
          <a:xfrm>
            <a:off x="3630168" y="3310128"/>
            <a:ext cx="2240280" cy="402336"/>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Fixed bottleneck + custom top</a:t>
            </a:r>
            <a:endParaRPr lang="en-US" sz="1150" dirty="0"/>
          </a:p>
        </p:txBody>
      </p:sp>
      <p:sp>
        <p:nvSpPr>
          <p:cNvPr id="26" name="Shape 24"/>
          <p:cNvSpPr/>
          <p:nvPr/>
        </p:nvSpPr>
        <p:spPr>
          <a:xfrm>
            <a:off x="3447288" y="3867912"/>
            <a:ext cx="109728" cy="109728"/>
          </a:xfrm>
          <a:prstGeom prst="ellipse">
            <a:avLst/>
          </a:prstGeom>
          <a:solidFill>
            <a:srgbClr val="2C6B8A"/>
          </a:solidFill>
          <a:ln w="12700">
            <a:solidFill>
              <a:srgbClr val="2C6B8A"/>
            </a:solidFill>
            <a:prstDash val="solid"/>
          </a:ln>
        </p:spPr>
      </p:sp>
      <p:sp>
        <p:nvSpPr>
          <p:cNvPr id="27" name="Text 25"/>
          <p:cNvSpPr/>
          <p:nvPr/>
        </p:nvSpPr>
        <p:spPr>
          <a:xfrm>
            <a:off x="3630168" y="3813048"/>
            <a:ext cx="2240280" cy="402336"/>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42% better than scratch CNN</a:t>
            </a:r>
            <a:endParaRPr lang="en-US" sz="1150" dirty="0"/>
          </a:p>
        </p:txBody>
      </p:sp>
      <p:sp>
        <p:nvSpPr>
          <p:cNvPr id="28" name="Shape 26"/>
          <p:cNvSpPr/>
          <p:nvPr/>
        </p:nvSpPr>
        <p:spPr>
          <a:xfrm>
            <a:off x="3447288" y="4370832"/>
            <a:ext cx="109728" cy="109728"/>
          </a:xfrm>
          <a:prstGeom prst="ellipse">
            <a:avLst/>
          </a:prstGeom>
          <a:solidFill>
            <a:srgbClr val="2C6B8A"/>
          </a:solidFill>
          <a:ln w="12700">
            <a:solidFill>
              <a:srgbClr val="2C6B8A"/>
            </a:solidFill>
            <a:prstDash val="solid"/>
          </a:ln>
        </p:spPr>
      </p:sp>
      <p:sp>
        <p:nvSpPr>
          <p:cNvPr id="29" name="Text 27"/>
          <p:cNvSpPr/>
          <p:nvPr/>
        </p:nvSpPr>
        <p:spPr>
          <a:xfrm>
            <a:off x="3630168" y="4315968"/>
            <a:ext cx="2240280" cy="402336"/>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Very fast top-model training</a:t>
            </a:r>
            <a:endParaRPr lang="en-US" sz="1150" dirty="0"/>
          </a:p>
        </p:txBody>
      </p:sp>
      <p:sp>
        <p:nvSpPr>
          <p:cNvPr id="30" name="Shape 28"/>
          <p:cNvSpPr/>
          <p:nvPr/>
        </p:nvSpPr>
        <p:spPr>
          <a:xfrm>
            <a:off x="6199632" y="914400"/>
            <a:ext cx="2715768" cy="4041648"/>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31" name="Shape 29"/>
          <p:cNvSpPr/>
          <p:nvPr/>
        </p:nvSpPr>
        <p:spPr>
          <a:xfrm>
            <a:off x="6199632" y="914400"/>
            <a:ext cx="2715768" cy="804672"/>
          </a:xfrm>
          <a:prstGeom prst="rect">
            <a:avLst/>
          </a:prstGeom>
          <a:solidFill>
            <a:srgbClr val="D4552A"/>
          </a:solidFill>
          <a:ln w="12700">
            <a:solidFill>
              <a:srgbClr val="D4552A"/>
            </a:solidFill>
            <a:prstDash val="solid"/>
          </a:ln>
        </p:spPr>
      </p:sp>
      <p:sp>
        <p:nvSpPr>
          <p:cNvPr id="32" name="Text 30"/>
          <p:cNvSpPr/>
          <p:nvPr/>
        </p:nvSpPr>
        <p:spPr>
          <a:xfrm>
            <a:off x="6291072" y="914400"/>
            <a:ext cx="2532888" cy="8046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VGG16 Fine-Tuned  ★ BEST</a:t>
            </a:r>
            <a:endParaRPr lang="en-US" sz="1300" dirty="0"/>
          </a:p>
        </p:txBody>
      </p:sp>
      <p:sp>
        <p:nvSpPr>
          <p:cNvPr id="33" name="Text 31"/>
          <p:cNvSpPr/>
          <p:nvPr/>
        </p:nvSpPr>
        <p:spPr>
          <a:xfrm>
            <a:off x="6291072" y="1810512"/>
            <a:ext cx="253288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Log-Loss Score</a:t>
            </a:r>
            <a:endParaRPr lang="en-US" sz="1050" dirty="0"/>
          </a:p>
        </p:txBody>
      </p:sp>
      <p:sp>
        <p:nvSpPr>
          <p:cNvPr id="34" name="Text 32"/>
          <p:cNvSpPr/>
          <p:nvPr/>
        </p:nvSpPr>
        <p:spPr>
          <a:xfrm>
            <a:off x="6291072" y="2048256"/>
            <a:ext cx="2532888" cy="658368"/>
          </a:xfrm>
          <a:prstGeom prst="rect">
            <a:avLst/>
          </a:prstGeom>
          <a:noFill/>
          <a:ln/>
        </p:spPr>
        <p:txBody>
          <a:bodyPr wrap="square" lIns="0" tIns="0" rIns="0" bIns="0" rtlCol="0" anchor="ctr"/>
          <a:lstStyle/>
          <a:p>
            <a:pPr algn="ctr" indent="0" marL="0">
              <a:buNone/>
            </a:pPr>
            <a:r>
              <a:rPr lang="en-US" sz="4200" b="1" dirty="0">
                <a:solidFill>
                  <a:srgbClr val="D4552A"/>
                </a:solidFill>
                <a:latin typeface="Cambria" pitchFamily="34" charset="0"/>
                <a:ea typeface="Cambria" pitchFamily="34" charset="-122"/>
                <a:cs typeface="Cambria" pitchFamily="34" charset="-120"/>
              </a:rPr>
              <a:t>1.125</a:t>
            </a:r>
            <a:endParaRPr lang="en-US" sz="4200" dirty="0"/>
          </a:p>
        </p:txBody>
      </p:sp>
      <p:sp>
        <p:nvSpPr>
          <p:cNvPr id="35" name="Shape 33"/>
          <p:cNvSpPr/>
          <p:nvPr/>
        </p:nvSpPr>
        <p:spPr>
          <a:xfrm>
            <a:off x="6400800" y="2862072"/>
            <a:ext cx="109728" cy="109728"/>
          </a:xfrm>
          <a:prstGeom prst="ellipse">
            <a:avLst/>
          </a:prstGeom>
          <a:solidFill>
            <a:srgbClr val="D4552A"/>
          </a:solidFill>
          <a:ln w="12700">
            <a:solidFill>
              <a:srgbClr val="D4552A"/>
            </a:solidFill>
            <a:prstDash val="solid"/>
          </a:ln>
        </p:spPr>
      </p:sp>
      <p:sp>
        <p:nvSpPr>
          <p:cNvPr id="36" name="Text 34"/>
          <p:cNvSpPr/>
          <p:nvPr/>
        </p:nvSpPr>
        <p:spPr>
          <a:xfrm>
            <a:off x="6583680" y="2807208"/>
            <a:ext cx="2240280" cy="402336"/>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Block 5 unfrozen + retrained</a:t>
            </a:r>
            <a:endParaRPr lang="en-US" sz="1150" dirty="0"/>
          </a:p>
        </p:txBody>
      </p:sp>
      <p:sp>
        <p:nvSpPr>
          <p:cNvPr id="37" name="Shape 35"/>
          <p:cNvSpPr/>
          <p:nvPr/>
        </p:nvSpPr>
        <p:spPr>
          <a:xfrm>
            <a:off x="6400800" y="3364992"/>
            <a:ext cx="109728" cy="109728"/>
          </a:xfrm>
          <a:prstGeom prst="ellipse">
            <a:avLst/>
          </a:prstGeom>
          <a:solidFill>
            <a:srgbClr val="D4552A"/>
          </a:solidFill>
          <a:ln w="12700">
            <a:solidFill>
              <a:srgbClr val="D4552A"/>
            </a:solidFill>
            <a:prstDash val="solid"/>
          </a:ln>
        </p:spPr>
      </p:sp>
      <p:sp>
        <p:nvSpPr>
          <p:cNvPr id="38" name="Text 36"/>
          <p:cNvSpPr/>
          <p:nvPr/>
        </p:nvSpPr>
        <p:spPr>
          <a:xfrm>
            <a:off x="6583680" y="3310128"/>
            <a:ext cx="2240280" cy="402336"/>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End-to-end fine-tuning</a:t>
            </a:r>
            <a:endParaRPr lang="en-US" sz="1150" dirty="0"/>
          </a:p>
        </p:txBody>
      </p:sp>
      <p:sp>
        <p:nvSpPr>
          <p:cNvPr id="39" name="Shape 37"/>
          <p:cNvSpPr/>
          <p:nvPr/>
        </p:nvSpPr>
        <p:spPr>
          <a:xfrm>
            <a:off x="6400800" y="3867912"/>
            <a:ext cx="109728" cy="109728"/>
          </a:xfrm>
          <a:prstGeom prst="ellipse">
            <a:avLst/>
          </a:prstGeom>
          <a:solidFill>
            <a:srgbClr val="D4552A"/>
          </a:solidFill>
          <a:ln w="12700">
            <a:solidFill>
              <a:srgbClr val="D4552A"/>
            </a:solidFill>
            <a:prstDash val="solid"/>
          </a:ln>
        </p:spPr>
      </p:sp>
      <p:sp>
        <p:nvSpPr>
          <p:cNvPr id="40" name="Text 38"/>
          <p:cNvSpPr/>
          <p:nvPr/>
        </p:nvSpPr>
        <p:spPr>
          <a:xfrm>
            <a:off x="6583680" y="3813048"/>
            <a:ext cx="2240280" cy="402336"/>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Best log-loss: 1.125 private</a:t>
            </a:r>
            <a:endParaRPr lang="en-US" sz="1150" dirty="0"/>
          </a:p>
        </p:txBody>
      </p:sp>
      <p:sp>
        <p:nvSpPr>
          <p:cNvPr id="41" name="Shape 39"/>
          <p:cNvSpPr/>
          <p:nvPr/>
        </p:nvSpPr>
        <p:spPr>
          <a:xfrm>
            <a:off x="6400800" y="4370832"/>
            <a:ext cx="109728" cy="109728"/>
          </a:xfrm>
          <a:prstGeom prst="ellipse">
            <a:avLst/>
          </a:prstGeom>
          <a:solidFill>
            <a:srgbClr val="D4552A"/>
          </a:solidFill>
          <a:ln w="12700">
            <a:solidFill>
              <a:srgbClr val="D4552A"/>
            </a:solidFill>
            <a:prstDash val="solid"/>
          </a:ln>
        </p:spPr>
      </p:sp>
      <p:sp>
        <p:nvSpPr>
          <p:cNvPr id="42" name="Text 40"/>
          <p:cNvSpPr/>
          <p:nvPr/>
        </p:nvSpPr>
        <p:spPr>
          <a:xfrm>
            <a:off x="6583680" y="4315968"/>
            <a:ext cx="2240280" cy="402336"/>
          </a:xfrm>
          <a:prstGeom prst="rect">
            <a:avLst/>
          </a:prstGeom>
          <a:noFill/>
          <a:ln/>
        </p:spPr>
        <p:txBody>
          <a:bodyPr wrap="square" lIns="0" tIns="0" rIns="0" bIns="0" rtlCol="0" anchor="ctr"/>
          <a:lstStyle/>
          <a:p>
            <a:pPr indent="0" marL="0">
              <a:buNone/>
            </a:pPr>
            <a:r>
              <a:rPr lang="en-US" sz="1150" dirty="0">
                <a:solidFill>
                  <a:srgbClr val="2A2A2A"/>
                </a:solidFill>
                <a:latin typeface="Calibri" pitchFamily="34" charset="0"/>
                <a:ea typeface="Calibri" pitchFamily="34" charset="-122"/>
                <a:cs typeface="Calibri" pitchFamily="34" charset="-120"/>
              </a:rPr>
              <a:t>58% improvement over scratch</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533"/>
          </a:solidFill>
          <a:ln w="12700">
            <a:solidFill>
              <a:srgbClr val="1E2533"/>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Summary</a:t>
            </a:r>
            <a:endParaRPr lang="en-US" sz="2600" dirty="0"/>
          </a:p>
        </p:txBody>
      </p:sp>
      <p:sp>
        <p:nvSpPr>
          <p:cNvPr id="4" name="Shape 2"/>
          <p:cNvSpPr/>
          <p:nvPr/>
        </p:nvSpPr>
        <p:spPr>
          <a:xfrm>
            <a:off x="347472" y="960120"/>
            <a:ext cx="4160520" cy="169164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5" name="Shape 3"/>
          <p:cNvSpPr/>
          <p:nvPr/>
        </p:nvSpPr>
        <p:spPr>
          <a:xfrm>
            <a:off x="347472" y="960120"/>
            <a:ext cx="4160520" cy="64008"/>
          </a:xfrm>
          <a:prstGeom prst="rect">
            <a:avLst/>
          </a:prstGeom>
          <a:solidFill>
            <a:srgbClr val="2C6B8A"/>
          </a:solidFill>
          <a:ln w="12700">
            <a:solidFill>
              <a:srgbClr val="2C6B8A"/>
            </a:solidFill>
            <a:prstDash val="solid"/>
          </a:ln>
        </p:spPr>
      </p:sp>
      <p:sp>
        <p:nvSpPr>
          <p:cNvPr id="6" name="Text 4"/>
          <p:cNvSpPr/>
          <p:nvPr/>
        </p:nvSpPr>
        <p:spPr>
          <a:xfrm>
            <a:off x="576072" y="1088136"/>
            <a:ext cx="3749040" cy="384048"/>
          </a:xfrm>
          <a:prstGeom prst="rect">
            <a:avLst/>
          </a:prstGeom>
          <a:noFill/>
          <a:ln/>
        </p:spPr>
        <p:txBody>
          <a:bodyPr wrap="square" lIns="0" tIns="0" rIns="0" bIns="0" rtlCol="0" anchor="ctr"/>
          <a:lstStyle/>
          <a:p>
            <a:pPr indent="0" marL="0">
              <a:buNone/>
            </a:pPr>
            <a:r>
              <a:rPr lang="en-US" sz="1500" b="1" dirty="0">
                <a:solidFill>
                  <a:srgbClr val="1E2533"/>
                </a:solidFill>
                <a:latin typeface="Cambria" pitchFamily="34" charset="0"/>
                <a:ea typeface="Cambria" pitchFamily="34" charset="-122"/>
                <a:cs typeface="Cambria" pitchFamily="34" charset="-120"/>
              </a:rPr>
              <a:t>Problem Addressed</a:t>
            </a:r>
            <a:endParaRPr lang="en-US" sz="1500" dirty="0"/>
          </a:p>
        </p:txBody>
      </p:sp>
      <p:sp>
        <p:nvSpPr>
          <p:cNvPr id="7" name="Text 5"/>
          <p:cNvSpPr/>
          <p:nvPr/>
        </p:nvSpPr>
        <p:spPr>
          <a:xfrm>
            <a:off x="576072" y="1508760"/>
            <a:ext cx="3749040" cy="1005840"/>
          </a:xfrm>
          <a:prstGeom prst="rect">
            <a:avLst/>
          </a:prstGeom>
          <a:noFill/>
          <a:ln/>
        </p:spPr>
        <p:txBody>
          <a:bodyPr wrap="square" lIns="0" tIns="0" rIns="0" bIns="0" rtlCol="0" anchor="ctr"/>
          <a:lstStyle/>
          <a:p>
            <a:pPr indent="0" marL="0">
              <a:buNone/>
            </a:pPr>
            <a:r>
              <a:rPr lang="en-US" sz="1200" dirty="0">
                <a:solidFill>
                  <a:srgbClr val="2A2A2A"/>
                </a:solidFill>
                <a:latin typeface="Calibri" pitchFamily="34" charset="0"/>
                <a:ea typeface="Calibri" pitchFamily="34" charset="-122"/>
                <a:cs typeface="Calibri" pitchFamily="34" charset="-120"/>
              </a:rPr>
              <a:t>Developed a system to automatically classify driver behavior from dashboard images into 10 distinct categories, directly supporting road safety and automated driver monitoring systems.</a:t>
            </a:r>
            <a:endParaRPr lang="en-US" sz="1200" dirty="0"/>
          </a:p>
        </p:txBody>
      </p:sp>
      <p:sp>
        <p:nvSpPr>
          <p:cNvPr id="8" name="Shape 6"/>
          <p:cNvSpPr/>
          <p:nvPr/>
        </p:nvSpPr>
        <p:spPr>
          <a:xfrm>
            <a:off x="4846320" y="960120"/>
            <a:ext cx="4160520" cy="169164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9" name="Shape 7"/>
          <p:cNvSpPr/>
          <p:nvPr/>
        </p:nvSpPr>
        <p:spPr>
          <a:xfrm>
            <a:off x="4846320" y="960120"/>
            <a:ext cx="4160520" cy="64008"/>
          </a:xfrm>
          <a:prstGeom prst="rect">
            <a:avLst/>
          </a:prstGeom>
          <a:solidFill>
            <a:srgbClr val="D4552A"/>
          </a:solidFill>
          <a:ln w="12700">
            <a:solidFill>
              <a:srgbClr val="D4552A"/>
            </a:solidFill>
            <a:prstDash val="solid"/>
          </a:ln>
        </p:spPr>
      </p:sp>
      <p:sp>
        <p:nvSpPr>
          <p:cNvPr id="10" name="Text 8"/>
          <p:cNvSpPr/>
          <p:nvPr/>
        </p:nvSpPr>
        <p:spPr>
          <a:xfrm>
            <a:off x="5074920" y="1088136"/>
            <a:ext cx="3749040" cy="384048"/>
          </a:xfrm>
          <a:prstGeom prst="rect">
            <a:avLst/>
          </a:prstGeom>
          <a:noFill/>
          <a:ln/>
        </p:spPr>
        <p:txBody>
          <a:bodyPr wrap="square" lIns="0" tIns="0" rIns="0" bIns="0" rtlCol="0" anchor="ctr"/>
          <a:lstStyle/>
          <a:p>
            <a:pPr indent="0" marL="0">
              <a:buNone/>
            </a:pPr>
            <a:r>
              <a:rPr lang="en-US" sz="1500" b="1" dirty="0">
                <a:solidFill>
                  <a:srgbClr val="1E2533"/>
                </a:solidFill>
                <a:latin typeface="Cambria" pitchFamily="34" charset="0"/>
                <a:ea typeface="Cambria" pitchFamily="34" charset="-122"/>
                <a:cs typeface="Cambria" pitchFamily="34" charset="-120"/>
              </a:rPr>
              <a:t>Large-Scale Dataset</a:t>
            </a:r>
            <a:endParaRPr lang="en-US" sz="1500" dirty="0"/>
          </a:p>
        </p:txBody>
      </p:sp>
      <p:sp>
        <p:nvSpPr>
          <p:cNvPr id="11" name="Text 9"/>
          <p:cNvSpPr/>
          <p:nvPr/>
        </p:nvSpPr>
        <p:spPr>
          <a:xfrm>
            <a:off x="5074920" y="1508760"/>
            <a:ext cx="3749040" cy="1005840"/>
          </a:xfrm>
          <a:prstGeom prst="rect">
            <a:avLst/>
          </a:prstGeom>
          <a:noFill/>
          <a:ln/>
        </p:spPr>
        <p:txBody>
          <a:bodyPr wrap="square" lIns="0" tIns="0" rIns="0" bIns="0" rtlCol="0" anchor="ctr"/>
          <a:lstStyle/>
          <a:p>
            <a:pPr indent="0" marL="0">
              <a:buNone/>
            </a:pPr>
            <a:r>
              <a:rPr lang="en-US" sz="1200" dirty="0">
                <a:solidFill>
                  <a:srgbClr val="2A2A2A"/>
                </a:solidFill>
                <a:latin typeface="Calibri" pitchFamily="34" charset="0"/>
                <a:ea typeface="Calibri" pitchFamily="34" charset="-122"/>
                <a:cs typeface="Calibri" pitchFamily="34" charset="-120"/>
              </a:rPr>
              <a:t>Worked with 102,150 labeled images across 10 classes from the Kaggle State Farm competition, applying rigorous train/validation/test splits for unbiased evaluation.</a:t>
            </a:r>
            <a:endParaRPr lang="en-US" sz="1200" dirty="0"/>
          </a:p>
        </p:txBody>
      </p:sp>
      <p:sp>
        <p:nvSpPr>
          <p:cNvPr id="12" name="Shape 10"/>
          <p:cNvSpPr/>
          <p:nvPr/>
        </p:nvSpPr>
        <p:spPr>
          <a:xfrm>
            <a:off x="347472" y="2880360"/>
            <a:ext cx="4160520" cy="169164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3" name="Shape 11"/>
          <p:cNvSpPr/>
          <p:nvPr/>
        </p:nvSpPr>
        <p:spPr>
          <a:xfrm>
            <a:off x="347472" y="2880360"/>
            <a:ext cx="4160520" cy="64008"/>
          </a:xfrm>
          <a:prstGeom prst="rect">
            <a:avLst/>
          </a:prstGeom>
          <a:solidFill>
            <a:srgbClr val="2C6B8A"/>
          </a:solidFill>
          <a:ln w="12700">
            <a:solidFill>
              <a:srgbClr val="2C6B8A"/>
            </a:solidFill>
            <a:prstDash val="solid"/>
          </a:ln>
        </p:spPr>
      </p:sp>
      <p:sp>
        <p:nvSpPr>
          <p:cNvPr id="14" name="Text 12"/>
          <p:cNvSpPr/>
          <p:nvPr/>
        </p:nvSpPr>
        <p:spPr>
          <a:xfrm>
            <a:off x="576072" y="3008376"/>
            <a:ext cx="3749040" cy="384048"/>
          </a:xfrm>
          <a:prstGeom prst="rect">
            <a:avLst/>
          </a:prstGeom>
          <a:noFill/>
          <a:ln/>
        </p:spPr>
        <p:txBody>
          <a:bodyPr wrap="square" lIns="0" tIns="0" rIns="0" bIns="0" rtlCol="0" anchor="ctr"/>
          <a:lstStyle/>
          <a:p>
            <a:pPr indent="0" marL="0">
              <a:buNone/>
            </a:pPr>
            <a:r>
              <a:rPr lang="en-US" sz="1500" b="1" dirty="0">
                <a:solidFill>
                  <a:srgbClr val="1E2533"/>
                </a:solidFill>
                <a:latin typeface="Cambria" pitchFamily="34" charset="0"/>
                <a:ea typeface="Cambria" pitchFamily="34" charset="-122"/>
                <a:cs typeface="Cambria" pitchFamily="34" charset="-120"/>
              </a:rPr>
              <a:t>Two Modeling Approaches</a:t>
            </a:r>
            <a:endParaRPr lang="en-US" sz="1500" dirty="0"/>
          </a:p>
        </p:txBody>
      </p:sp>
      <p:sp>
        <p:nvSpPr>
          <p:cNvPr id="15" name="Text 13"/>
          <p:cNvSpPr/>
          <p:nvPr/>
        </p:nvSpPr>
        <p:spPr>
          <a:xfrm>
            <a:off x="576072" y="3429000"/>
            <a:ext cx="3749040" cy="1005840"/>
          </a:xfrm>
          <a:prstGeom prst="rect">
            <a:avLst/>
          </a:prstGeom>
          <a:noFill/>
          <a:ln/>
        </p:spPr>
        <p:txBody>
          <a:bodyPr wrap="square" lIns="0" tIns="0" rIns="0" bIns="0" rtlCol="0" anchor="ctr"/>
          <a:lstStyle/>
          <a:p>
            <a:pPr indent="0" marL="0">
              <a:buNone/>
            </a:pPr>
            <a:r>
              <a:rPr lang="en-US" sz="1200" dirty="0">
                <a:solidFill>
                  <a:srgbClr val="2A2A2A"/>
                </a:solidFill>
                <a:latin typeface="Calibri" pitchFamily="34" charset="0"/>
                <a:ea typeface="Calibri" pitchFamily="34" charset="-122"/>
                <a:cs typeface="Calibri" pitchFamily="34" charset="-120"/>
              </a:rPr>
              <a:t>Designed a CNN from scratch as a baseline, then applied VGG16 transfer learning — clearly demonstrating the value of pre-trained features on domain-specific visual classification.</a:t>
            </a:r>
            <a:endParaRPr lang="en-US" sz="1200" dirty="0"/>
          </a:p>
        </p:txBody>
      </p:sp>
      <p:sp>
        <p:nvSpPr>
          <p:cNvPr id="16" name="Shape 14"/>
          <p:cNvSpPr/>
          <p:nvPr/>
        </p:nvSpPr>
        <p:spPr>
          <a:xfrm>
            <a:off x="4846320" y="2880360"/>
            <a:ext cx="4160520" cy="169164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7" name="Shape 15"/>
          <p:cNvSpPr/>
          <p:nvPr/>
        </p:nvSpPr>
        <p:spPr>
          <a:xfrm>
            <a:off x="4846320" y="2880360"/>
            <a:ext cx="4160520" cy="64008"/>
          </a:xfrm>
          <a:prstGeom prst="rect">
            <a:avLst/>
          </a:prstGeom>
          <a:solidFill>
            <a:srgbClr val="D4552A"/>
          </a:solidFill>
          <a:ln w="12700">
            <a:solidFill>
              <a:srgbClr val="D4552A"/>
            </a:solidFill>
            <a:prstDash val="solid"/>
          </a:ln>
        </p:spPr>
      </p:sp>
      <p:sp>
        <p:nvSpPr>
          <p:cNvPr id="18" name="Text 16"/>
          <p:cNvSpPr/>
          <p:nvPr/>
        </p:nvSpPr>
        <p:spPr>
          <a:xfrm>
            <a:off x="5074920" y="3008376"/>
            <a:ext cx="3749040" cy="384048"/>
          </a:xfrm>
          <a:prstGeom prst="rect">
            <a:avLst/>
          </a:prstGeom>
          <a:noFill/>
          <a:ln/>
        </p:spPr>
        <p:txBody>
          <a:bodyPr wrap="square" lIns="0" tIns="0" rIns="0" bIns="0" rtlCol="0" anchor="ctr"/>
          <a:lstStyle/>
          <a:p>
            <a:pPr indent="0" marL="0">
              <a:buNone/>
            </a:pPr>
            <a:r>
              <a:rPr lang="en-US" sz="1500" b="1" dirty="0">
                <a:solidFill>
                  <a:srgbClr val="1E2533"/>
                </a:solidFill>
                <a:latin typeface="Cambria" pitchFamily="34" charset="0"/>
                <a:ea typeface="Cambria" pitchFamily="34" charset="-122"/>
                <a:cs typeface="Cambria" pitchFamily="34" charset="-120"/>
              </a:rPr>
              <a:t>Best Result Achieved</a:t>
            </a:r>
            <a:endParaRPr lang="en-US" sz="1500" dirty="0"/>
          </a:p>
        </p:txBody>
      </p:sp>
      <p:sp>
        <p:nvSpPr>
          <p:cNvPr id="19" name="Text 17"/>
          <p:cNvSpPr/>
          <p:nvPr/>
        </p:nvSpPr>
        <p:spPr>
          <a:xfrm>
            <a:off x="5074920" y="3429000"/>
            <a:ext cx="3749040" cy="1005840"/>
          </a:xfrm>
          <a:prstGeom prst="rect">
            <a:avLst/>
          </a:prstGeom>
          <a:noFill/>
          <a:ln/>
        </p:spPr>
        <p:txBody>
          <a:bodyPr wrap="square" lIns="0" tIns="0" rIns="0" bIns="0" rtlCol="0" anchor="ctr"/>
          <a:lstStyle/>
          <a:p>
            <a:pPr indent="0" marL="0">
              <a:buNone/>
            </a:pPr>
            <a:r>
              <a:rPr lang="en-US" sz="1200" dirty="0">
                <a:solidFill>
                  <a:srgbClr val="2A2A2A"/>
                </a:solidFill>
                <a:latin typeface="Calibri" pitchFamily="34" charset="0"/>
                <a:ea typeface="Calibri" pitchFamily="34" charset="-122"/>
                <a:cs typeface="Calibri" pitchFamily="34" charset="-120"/>
              </a:rPr>
              <a:t>Fine-tuned VGG16 achieved a Kaggle log-loss of 1.125 on the private leaderboard — a 58% improvement over the scratch-built CNN baseline (2.671 log-loss).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533"/>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552A"/>
          </a:solidFill>
          <a:ln w="12700">
            <a:solidFill>
              <a:srgbClr val="D4552A"/>
            </a:solidFill>
            <a:prstDash val="solid"/>
          </a:ln>
        </p:spPr>
      </p:sp>
      <p:sp>
        <p:nvSpPr>
          <p:cNvPr id="3" name="Text 1"/>
          <p:cNvSpPr/>
          <p:nvPr/>
        </p:nvSpPr>
        <p:spPr>
          <a:xfrm>
            <a:off x="457200" y="411480"/>
            <a:ext cx="8229600" cy="68580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Conclusion</a:t>
            </a:r>
            <a:endParaRPr lang="en-US" sz="3800" dirty="0"/>
          </a:p>
        </p:txBody>
      </p:sp>
      <p:sp>
        <p:nvSpPr>
          <p:cNvPr id="4" name="Shape 2"/>
          <p:cNvSpPr/>
          <p:nvPr/>
        </p:nvSpPr>
        <p:spPr>
          <a:xfrm>
            <a:off x="3200400" y="1234440"/>
            <a:ext cx="2743200" cy="45720"/>
          </a:xfrm>
          <a:prstGeom prst="rect">
            <a:avLst/>
          </a:prstGeom>
          <a:solidFill>
            <a:srgbClr val="D4552A"/>
          </a:solidFill>
          <a:ln w="12700">
            <a:solidFill>
              <a:srgbClr val="D4552A"/>
            </a:solidFill>
            <a:prstDash val="solid"/>
          </a:ln>
        </p:spPr>
      </p:sp>
      <p:sp>
        <p:nvSpPr>
          <p:cNvPr id="5" name="Shape 3"/>
          <p:cNvSpPr/>
          <p:nvPr/>
        </p:nvSpPr>
        <p:spPr>
          <a:xfrm>
            <a:off x="594360" y="1508760"/>
            <a:ext cx="420624" cy="420624"/>
          </a:xfrm>
          <a:prstGeom prst="rect">
            <a:avLst/>
          </a:prstGeom>
          <a:solidFill>
            <a:srgbClr val="D4552A"/>
          </a:solidFill>
          <a:ln w="12700">
            <a:solidFill>
              <a:srgbClr val="D4552A"/>
            </a:solidFill>
            <a:prstDash val="solid"/>
          </a:ln>
        </p:spPr>
      </p:sp>
      <p:sp>
        <p:nvSpPr>
          <p:cNvPr id="6" name="Text 4"/>
          <p:cNvSpPr/>
          <p:nvPr/>
        </p:nvSpPr>
        <p:spPr>
          <a:xfrm>
            <a:off x="594360" y="15087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143000" y="1481328"/>
            <a:ext cx="7589520" cy="475488"/>
          </a:xfrm>
          <a:prstGeom prst="rect">
            <a:avLst/>
          </a:prstGeom>
          <a:noFill/>
          <a:ln/>
        </p:spPr>
        <p:txBody>
          <a:bodyPr wrap="square" lIns="0" tIns="0" rIns="0" bIns="0" rtlCol="0" anchor="ctr"/>
          <a:lstStyle/>
          <a:p>
            <a:pPr indent="0" marL="0">
              <a:buNone/>
            </a:pPr>
            <a:r>
              <a:rPr lang="en-US" sz="1250" dirty="0">
                <a:solidFill>
                  <a:srgbClr val="D0D8E4"/>
                </a:solidFill>
                <a:latin typeface="Calibri" pitchFamily="34" charset="0"/>
                <a:ea typeface="Calibri" pitchFamily="34" charset="-122"/>
                <a:cs typeface="Calibri" pitchFamily="34" charset="-120"/>
              </a:rPr>
              <a:t>Transfer learning with VGG16 significantly outperformed a CNN built from scratch — validating the power of large pre-trained models for domain-specific visual classification tasks.</a:t>
            </a:r>
            <a:endParaRPr lang="en-US" sz="1250" dirty="0"/>
          </a:p>
        </p:txBody>
      </p:sp>
      <p:sp>
        <p:nvSpPr>
          <p:cNvPr id="8" name="Shape 6"/>
          <p:cNvSpPr/>
          <p:nvPr/>
        </p:nvSpPr>
        <p:spPr>
          <a:xfrm>
            <a:off x="594360" y="2350008"/>
            <a:ext cx="420624" cy="420624"/>
          </a:xfrm>
          <a:prstGeom prst="rect">
            <a:avLst/>
          </a:prstGeom>
          <a:solidFill>
            <a:srgbClr val="D4552A"/>
          </a:solidFill>
          <a:ln w="12700">
            <a:solidFill>
              <a:srgbClr val="D4552A"/>
            </a:solidFill>
            <a:prstDash val="solid"/>
          </a:ln>
        </p:spPr>
      </p:sp>
      <p:sp>
        <p:nvSpPr>
          <p:cNvPr id="9" name="Text 7"/>
          <p:cNvSpPr/>
          <p:nvPr/>
        </p:nvSpPr>
        <p:spPr>
          <a:xfrm>
            <a:off x="594360" y="23500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0" name="Text 8"/>
          <p:cNvSpPr/>
          <p:nvPr/>
        </p:nvSpPr>
        <p:spPr>
          <a:xfrm>
            <a:off x="1143000" y="2322576"/>
            <a:ext cx="7589520" cy="475488"/>
          </a:xfrm>
          <a:prstGeom prst="rect">
            <a:avLst/>
          </a:prstGeom>
          <a:noFill/>
          <a:ln/>
        </p:spPr>
        <p:txBody>
          <a:bodyPr wrap="square" lIns="0" tIns="0" rIns="0" bIns="0" rtlCol="0" anchor="ctr"/>
          <a:lstStyle/>
          <a:p>
            <a:pPr indent="0" marL="0">
              <a:buNone/>
            </a:pPr>
            <a:r>
              <a:rPr lang="en-US" sz="1250" dirty="0">
                <a:solidFill>
                  <a:srgbClr val="D0D8E4"/>
                </a:solidFill>
                <a:latin typeface="Calibri" pitchFamily="34" charset="0"/>
                <a:ea typeface="Calibri" pitchFamily="34" charset="-122"/>
                <a:cs typeface="Calibri" pitchFamily="34" charset="-120"/>
              </a:rPr>
              <a:t>Fine-tuning the top convolutional block delivered measurable gains beyond fixed bottleneck transfer learning, confirming that domain adaptation at the feature extraction level is crucial.</a:t>
            </a:r>
            <a:endParaRPr lang="en-US" sz="1250" dirty="0"/>
          </a:p>
        </p:txBody>
      </p:sp>
      <p:sp>
        <p:nvSpPr>
          <p:cNvPr id="11" name="Shape 9"/>
          <p:cNvSpPr/>
          <p:nvPr/>
        </p:nvSpPr>
        <p:spPr>
          <a:xfrm>
            <a:off x="594360" y="3191256"/>
            <a:ext cx="420624" cy="420624"/>
          </a:xfrm>
          <a:prstGeom prst="rect">
            <a:avLst/>
          </a:prstGeom>
          <a:solidFill>
            <a:srgbClr val="D4552A"/>
          </a:solidFill>
          <a:ln w="12700">
            <a:solidFill>
              <a:srgbClr val="D4552A"/>
            </a:solidFill>
            <a:prstDash val="solid"/>
          </a:ln>
        </p:spPr>
      </p:sp>
      <p:sp>
        <p:nvSpPr>
          <p:cNvPr id="12" name="Text 10"/>
          <p:cNvSpPr/>
          <p:nvPr/>
        </p:nvSpPr>
        <p:spPr>
          <a:xfrm>
            <a:off x="594360" y="31912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3" name="Text 11"/>
          <p:cNvSpPr/>
          <p:nvPr/>
        </p:nvSpPr>
        <p:spPr>
          <a:xfrm>
            <a:off x="1143000" y="3163824"/>
            <a:ext cx="7589520" cy="475488"/>
          </a:xfrm>
          <a:prstGeom prst="rect">
            <a:avLst/>
          </a:prstGeom>
          <a:noFill/>
          <a:ln/>
        </p:spPr>
        <p:txBody>
          <a:bodyPr wrap="square" lIns="0" tIns="0" rIns="0" bIns="0" rtlCol="0" anchor="ctr"/>
          <a:lstStyle/>
          <a:p>
            <a:pPr indent="0" marL="0">
              <a:buNone/>
            </a:pPr>
            <a:r>
              <a:rPr lang="en-US" sz="1250" dirty="0">
                <a:solidFill>
                  <a:srgbClr val="D0D8E4"/>
                </a:solidFill>
                <a:latin typeface="Calibri" pitchFamily="34" charset="0"/>
                <a:ea typeface="Calibri" pitchFamily="34" charset="-122"/>
                <a:cs typeface="Calibri" pitchFamily="34" charset="-120"/>
              </a:rPr>
              <a:t>The complete end-to-end ML pipeline — data preprocessing, model design, iterative training, and Kaggle submission — was executed and documented in a reproducible Jupyter notebook.</a:t>
            </a:r>
            <a:endParaRPr lang="en-US" sz="1250" dirty="0"/>
          </a:p>
        </p:txBody>
      </p:sp>
      <p:sp>
        <p:nvSpPr>
          <p:cNvPr id="14" name="Shape 12"/>
          <p:cNvSpPr/>
          <p:nvPr/>
        </p:nvSpPr>
        <p:spPr>
          <a:xfrm>
            <a:off x="594360" y="4032504"/>
            <a:ext cx="420624" cy="420624"/>
          </a:xfrm>
          <a:prstGeom prst="rect">
            <a:avLst/>
          </a:prstGeom>
          <a:solidFill>
            <a:srgbClr val="D4552A"/>
          </a:solidFill>
          <a:ln w="12700">
            <a:solidFill>
              <a:srgbClr val="D4552A"/>
            </a:solidFill>
            <a:prstDash val="solid"/>
          </a:ln>
        </p:spPr>
      </p:sp>
      <p:sp>
        <p:nvSpPr>
          <p:cNvPr id="15" name="Text 13"/>
          <p:cNvSpPr/>
          <p:nvPr/>
        </p:nvSpPr>
        <p:spPr>
          <a:xfrm>
            <a:off x="594360" y="40325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6" name="Text 14"/>
          <p:cNvSpPr/>
          <p:nvPr/>
        </p:nvSpPr>
        <p:spPr>
          <a:xfrm>
            <a:off x="1143000" y="4005072"/>
            <a:ext cx="7589520" cy="475488"/>
          </a:xfrm>
          <a:prstGeom prst="rect">
            <a:avLst/>
          </a:prstGeom>
          <a:noFill/>
          <a:ln/>
        </p:spPr>
        <p:txBody>
          <a:bodyPr wrap="square" lIns="0" tIns="0" rIns="0" bIns="0" rtlCol="0" anchor="ctr"/>
          <a:lstStyle/>
          <a:p>
            <a:pPr indent="0" marL="0">
              <a:buNone/>
            </a:pPr>
            <a:r>
              <a:rPr lang="en-US" sz="1250" dirty="0">
                <a:solidFill>
                  <a:srgbClr val="D0D8E4"/>
                </a:solidFill>
                <a:latin typeface="Calibri" pitchFamily="34" charset="0"/>
                <a:ea typeface="Calibri" pitchFamily="34" charset="-122"/>
                <a:cs typeface="Calibri" pitchFamily="34" charset="-120"/>
              </a:rPr>
              <a:t>Future work could explore modern architectures (ResNet, EfficientNet), data augmentation pipelines, or ensemble strategies to further improve the log-loss score below 1.0.</a:t>
            </a:r>
            <a:endParaRPr lang="en-US" sz="1250" dirty="0"/>
          </a:p>
        </p:txBody>
      </p:sp>
      <p:sp>
        <p:nvSpPr>
          <p:cNvPr id="17" name="Shape 15"/>
          <p:cNvSpPr/>
          <p:nvPr/>
        </p:nvSpPr>
        <p:spPr>
          <a:xfrm>
            <a:off x="0" y="5047488"/>
            <a:ext cx="9144000" cy="91440"/>
          </a:xfrm>
          <a:prstGeom prst="rect">
            <a:avLst/>
          </a:prstGeom>
          <a:solidFill>
            <a:srgbClr val="D4552A"/>
          </a:solidFill>
          <a:ln w="12700">
            <a:solidFill>
              <a:srgbClr val="D4552A"/>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533"/>
          </a:solidFill>
          <a:ln w="12700">
            <a:solidFill>
              <a:srgbClr val="1E2533"/>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References</a:t>
            </a:r>
            <a:endParaRPr lang="en-US" sz="2600" dirty="0"/>
          </a:p>
        </p:txBody>
      </p:sp>
      <p:sp>
        <p:nvSpPr>
          <p:cNvPr id="4" name="Text 2"/>
          <p:cNvSpPr/>
          <p:nvPr/>
        </p:nvSpPr>
        <p:spPr>
          <a:xfrm>
            <a:off x="457200" y="841248"/>
            <a:ext cx="8229600" cy="292608"/>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APA 7th Edition Format</a:t>
            </a:r>
            <a:endParaRPr lang="en-US" sz="1200" dirty="0"/>
          </a:p>
        </p:txBody>
      </p:sp>
      <p:sp>
        <p:nvSpPr>
          <p:cNvPr id="5" name="Text 3"/>
          <p:cNvSpPr/>
          <p:nvPr/>
        </p:nvSpPr>
        <p:spPr>
          <a:xfrm>
            <a:off x="347472" y="1207008"/>
            <a:ext cx="347472" cy="457200"/>
          </a:xfrm>
          <a:prstGeom prst="rect">
            <a:avLst/>
          </a:prstGeom>
          <a:noFill/>
          <a:ln/>
        </p:spPr>
        <p:txBody>
          <a:bodyPr wrap="square" lIns="0" tIns="0" rIns="0" bIns="0" rtlCol="0" anchor="t"/>
          <a:lstStyle/>
          <a:p>
            <a:pPr indent="0" marL="0">
              <a:buNone/>
            </a:pPr>
            <a:r>
              <a:rPr lang="en-US" sz="1100" b="1" dirty="0">
                <a:solidFill>
                  <a:srgbClr val="D4552A"/>
                </a:solidFill>
                <a:latin typeface="Calibri" pitchFamily="34" charset="0"/>
                <a:ea typeface="Calibri" pitchFamily="34" charset="-122"/>
                <a:cs typeface="Calibri" pitchFamily="34" charset="-120"/>
              </a:rPr>
              <a:t>[1]</a:t>
            </a:r>
            <a:endParaRPr lang="en-US" sz="1100" dirty="0"/>
          </a:p>
        </p:txBody>
      </p:sp>
      <p:sp>
        <p:nvSpPr>
          <p:cNvPr id="6" name="Text 4"/>
          <p:cNvSpPr/>
          <p:nvPr/>
        </p:nvSpPr>
        <p:spPr>
          <a:xfrm>
            <a:off x="768096" y="1207008"/>
            <a:ext cx="8092440" cy="475488"/>
          </a:xfrm>
          <a:prstGeom prst="rect">
            <a:avLst/>
          </a:prstGeom>
          <a:noFill/>
          <a:ln/>
        </p:spPr>
        <p:txBody>
          <a:bodyPr wrap="square" lIns="0" tIns="0" rIns="0" bIns="0" rtlCol="0" anchor="ctr"/>
          <a:lstStyle/>
          <a:p>
            <a:pPr indent="0" marL="0">
              <a:buNone/>
            </a:pPr>
            <a:r>
              <a:rPr lang="en-US" sz="1000" dirty="0">
                <a:solidFill>
                  <a:srgbClr val="2A2A2A"/>
                </a:solidFill>
                <a:latin typeface="Calibri" pitchFamily="34" charset="0"/>
                <a:ea typeface="Calibri" pitchFamily="34" charset="-122"/>
                <a:cs typeface="Calibri" pitchFamily="34" charset="-120"/>
              </a:rPr>
              <a:t>Simonyan, K., &amp; Zisserman, A. (2014). Very deep convolutional networks for large-scale image recognition. arXiv preprint arXiv:1409.1556. https://arxiv.org/abs/1409.1556</a:t>
            </a:r>
            <a:endParaRPr lang="en-US" sz="1000" dirty="0"/>
          </a:p>
        </p:txBody>
      </p:sp>
      <p:sp>
        <p:nvSpPr>
          <p:cNvPr id="7" name="Text 5"/>
          <p:cNvSpPr/>
          <p:nvPr/>
        </p:nvSpPr>
        <p:spPr>
          <a:xfrm>
            <a:off x="347472" y="1737360"/>
            <a:ext cx="347472" cy="457200"/>
          </a:xfrm>
          <a:prstGeom prst="rect">
            <a:avLst/>
          </a:prstGeom>
          <a:noFill/>
          <a:ln/>
        </p:spPr>
        <p:txBody>
          <a:bodyPr wrap="square" lIns="0" tIns="0" rIns="0" bIns="0" rtlCol="0" anchor="t"/>
          <a:lstStyle/>
          <a:p>
            <a:pPr indent="0" marL="0">
              <a:buNone/>
            </a:pPr>
            <a:r>
              <a:rPr lang="en-US" sz="1100" b="1" dirty="0">
                <a:solidFill>
                  <a:srgbClr val="D4552A"/>
                </a:solidFill>
                <a:latin typeface="Calibri" pitchFamily="34" charset="0"/>
                <a:ea typeface="Calibri" pitchFamily="34" charset="-122"/>
                <a:cs typeface="Calibri" pitchFamily="34" charset="-120"/>
              </a:rPr>
              <a:t>[2]</a:t>
            </a:r>
            <a:endParaRPr lang="en-US" sz="1100" dirty="0"/>
          </a:p>
        </p:txBody>
      </p:sp>
      <p:sp>
        <p:nvSpPr>
          <p:cNvPr id="8" name="Text 6"/>
          <p:cNvSpPr/>
          <p:nvPr/>
        </p:nvSpPr>
        <p:spPr>
          <a:xfrm>
            <a:off x="768096" y="1737360"/>
            <a:ext cx="8092440" cy="475488"/>
          </a:xfrm>
          <a:prstGeom prst="rect">
            <a:avLst/>
          </a:prstGeom>
          <a:noFill/>
          <a:ln/>
        </p:spPr>
        <p:txBody>
          <a:bodyPr wrap="square" lIns="0" tIns="0" rIns="0" bIns="0" rtlCol="0" anchor="ctr"/>
          <a:lstStyle/>
          <a:p>
            <a:pPr indent="0" marL="0">
              <a:buNone/>
            </a:pPr>
            <a:r>
              <a:rPr lang="en-US" sz="1000" dirty="0">
                <a:solidFill>
                  <a:srgbClr val="2A2A2A"/>
                </a:solidFill>
                <a:latin typeface="Calibri" pitchFamily="34" charset="0"/>
                <a:ea typeface="Calibri" pitchFamily="34" charset="-122"/>
                <a:cs typeface="Calibri" pitchFamily="34" charset="-120"/>
              </a:rPr>
              <a:t>State Farm. (2016). State Farm distracted driver detection [Kaggle competition dataset]. Kaggle. https://www.kaggle.com/c/state-farm-distracted-driver-detection</a:t>
            </a:r>
            <a:endParaRPr lang="en-US" sz="1000" dirty="0"/>
          </a:p>
        </p:txBody>
      </p:sp>
      <p:sp>
        <p:nvSpPr>
          <p:cNvPr id="9" name="Text 7"/>
          <p:cNvSpPr/>
          <p:nvPr/>
        </p:nvSpPr>
        <p:spPr>
          <a:xfrm>
            <a:off x="347472" y="2267712"/>
            <a:ext cx="347472" cy="457200"/>
          </a:xfrm>
          <a:prstGeom prst="rect">
            <a:avLst/>
          </a:prstGeom>
          <a:noFill/>
          <a:ln/>
        </p:spPr>
        <p:txBody>
          <a:bodyPr wrap="square" lIns="0" tIns="0" rIns="0" bIns="0" rtlCol="0" anchor="t"/>
          <a:lstStyle/>
          <a:p>
            <a:pPr indent="0" marL="0">
              <a:buNone/>
            </a:pPr>
            <a:r>
              <a:rPr lang="en-US" sz="1100" b="1" dirty="0">
                <a:solidFill>
                  <a:srgbClr val="D4552A"/>
                </a:solidFill>
                <a:latin typeface="Calibri" pitchFamily="34" charset="0"/>
                <a:ea typeface="Calibri" pitchFamily="34" charset="-122"/>
                <a:cs typeface="Calibri" pitchFamily="34" charset="-120"/>
              </a:rPr>
              <a:t>[3]</a:t>
            </a:r>
            <a:endParaRPr lang="en-US" sz="1100" dirty="0"/>
          </a:p>
        </p:txBody>
      </p:sp>
      <p:sp>
        <p:nvSpPr>
          <p:cNvPr id="10" name="Text 8"/>
          <p:cNvSpPr/>
          <p:nvPr/>
        </p:nvSpPr>
        <p:spPr>
          <a:xfrm>
            <a:off x="768096" y="2267712"/>
            <a:ext cx="8092440" cy="475488"/>
          </a:xfrm>
          <a:prstGeom prst="rect">
            <a:avLst/>
          </a:prstGeom>
          <a:noFill/>
          <a:ln/>
        </p:spPr>
        <p:txBody>
          <a:bodyPr wrap="square" lIns="0" tIns="0" rIns="0" bIns="0" rtlCol="0" anchor="ctr"/>
          <a:lstStyle/>
          <a:p>
            <a:pPr indent="0" marL="0">
              <a:buNone/>
            </a:pPr>
            <a:r>
              <a:rPr lang="en-US" sz="1000" dirty="0">
                <a:solidFill>
                  <a:srgbClr val="2A2A2A"/>
                </a:solidFill>
                <a:latin typeface="Calibri" pitchFamily="34" charset="0"/>
                <a:ea typeface="Calibri" pitchFamily="34" charset="-122"/>
                <a:cs typeface="Calibri" pitchFamily="34" charset="-120"/>
              </a:rPr>
              <a:t>Chollet, F. (2015). Keras: Deep learning library for Theano and TensorFlow [Software]. GitHub. https://github.com/keras-team/keras</a:t>
            </a:r>
            <a:endParaRPr lang="en-US" sz="1000" dirty="0"/>
          </a:p>
        </p:txBody>
      </p:sp>
      <p:sp>
        <p:nvSpPr>
          <p:cNvPr id="11" name="Text 9"/>
          <p:cNvSpPr/>
          <p:nvPr/>
        </p:nvSpPr>
        <p:spPr>
          <a:xfrm>
            <a:off x="347472" y="2798064"/>
            <a:ext cx="347472" cy="457200"/>
          </a:xfrm>
          <a:prstGeom prst="rect">
            <a:avLst/>
          </a:prstGeom>
          <a:noFill/>
          <a:ln/>
        </p:spPr>
        <p:txBody>
          <a:bodyPr wrap="square" lIns="0" tIns="0" rIns="0" bIns="0" rtlCol="0" anchor="t"/>
          <a:lstStyle/>
          <a:p>
            <a:pPr indent="0" marL="0">
              <a:buNone/>
            </a:pPr>
            <a:r>
              <a:rPr lang="en-US" sz="1100" b="1" dirty="0">
                <a:solidFill>
                  <a:srgbClr val="D4552A"/>
                </a:solidFill>
                <a:latin typeface="Calibri" pitchFamily="34" charset="0"/>
                <a:ea typeface="Calibri" pitchFamily="34" charset="-122"/>
                <a:cs typeface="Calibri" pitchFamily="34" charset="-120"/>
              </a:rPr>
              <a:t>[4]</a:t>
            </a:r>
            <a:endParaRPr lang="en-US" sz="1100" dirty="0"/>
          </a:p>
        </p:txBody>
      </p:sp>
      <p:sp>
        <p:nvSpPr>
          <p:cNvPr id="12" name="Text 10"/>
          <p:cNvSpPr/>
          <p:nvPr/>
        </p:nvSpPr>
        <p:spPr>
          <a:xfrm>
            <a:off x="768096" y="2798064"/>
            <a:ext cx="8092440" cy="475488"/>
          </a:xfrm>
          <a:prstGeom prst="rect">
            <a:avLst/>
          </a:prstGeom>
          <a:noFill/>
          <a:ln/>
        </p:spPr>
        <p:txBody>
          <a:bodyPr wrap="square" lIns="0" tIns="0" rIns="0" bIns="0" rtlCol="0" anchor="ctr"/>
          <a:lstStyle/>
          <a:p>
            <a:pPr indent="0" marL="0">
              <a:buNone/>
            </a:pPr>
            <a:r>
              <a:rPr lang="en-US" sz="1000" dirty="0">
                <a:solidFill>
                  <a:srgbClr val="2A2A2A"/>
                </a:solidFill>
                <a:latin typeface="Calibri" pitchFamily="34" charset="0"/>
                <a:ea typeface="Calibri" pitchFamily="34" charset="-122"/>
                <a:cs typeface="Calibri" pitchFamily="34" charset="-120"/>
              </a:rPr>
              <a:t>Abadi, M., Barham, P., Chen, J., Chen, Z., Davis, A., Dean, J., ... &amp; Zheng, X. (2016). TensorFlow: A system for large-scale machine learning. OSDI, 16, 265–283.</a:t>
            </a:r>
            <a:endParaRPr lang="en-US" sz="1000" dirty="0"/>
          </a:p>
        </p:txBody>
      </p:sp>
      <p:sp>
        <p:nvSpPr>
          <p:cNvPr id="13" name="Text 11"/>
          <p:cNvSpPr/>
          <p:nvPr/>
        </p:nvSpPr>
        <p:spPr>
          <a:xfrm>
            <a:off x="347472" y="3328416"/>
            <a:ext cx="347472" cy="457200"/>
          </a:xfrm>
          <a:prstGeom prst="rect">
            <a:avLst/>
          </a:prstGeom>
          <a:noFill/>
          <a:ln/>
        </p:spPr>
        <p:txBody>
          <a:bodyPr wrap="square" lIns="0" tIns="0" rIns="0" bIns="0" rtlCol="0" anchor="t"/>
          <a:lstStyle/>
          <a:p>
            <a:pPr indent="0" marL="0">
              <a:buNone/>
            </a:pPr>
            <a:r>
              <a:rPr lang="en-US" sz="1100" b="1" dirty="0">
                <a:solidFill>
                  <a:srgbClr val="D4552A"/>
                </a:solidFill>
                <a:latin typeface="Calibri" pitchFamily="34" charset="0"/>
                <a:ea typeface="Calibri" pitchFamily="34" charset="-122"/>
                <a:cs typeface="Calibri" pitchFamily="34" charset="-120"/>
              </a:rPr>
              <a:t>[5]</a:t>
            </a:r>
            <a:endParaRPr lang="en-US" sz="1100" dirty="0"/>
          </a:p>
        </p:txBody>
      </p:sp>
      <p:sp>
        <p:nvSpPr>
          <p:cNvPr id="14" name="Text 12"/>
          <p:cNvSpPr/>
          <p:nvPr/>
        </p:nvSpPr>
        <p:spPr>
          <a:xfrm>
            <a:off x="768096" y="3328416"/>
            <a:ext cx="8092440" cy="475488"/>
          </a:xfrm>
          <a:prstGeom prst="rect">
            <a:avLst/>
          </a:prstGeom>
          <a:noFill/>
          <a:ln/>
        </p:spPr>
        <p:txBody>
          <a:bodyPr wrap="square" lIns="0" tIns="0" rIns="0" bIns="0" rtlCol="0" anchor="ctr"/>
          <a:lstStyle/>
          <a:p>
            <a:pPr indent="0" marL="0">
              <a:buNone/>
            </a:pPr>
            <a:r>
              <a:rPr lang="en-US" sz="1000" dirty="0">
                <a:solidFill>
                  <a:srgbClr val="2A2A2A"/>
                </a:solidFill>
                <a:latin typeface="Calibri" pitchFamily="34" charset="0"/>
                <a:ea typeface="Calibri" pitchFamily="34" charset="-122"/>
                <a:cs typeface="Calibri" pitchFamily="34" charset="-120"/>
              </a:rPr>
              <a:t>Krizhevsky, A., Sutskever, I., &amp; Hinton, G. E. (2012). ImageNet classification with deep convolutional neural networks. Advances in Neural Information Processing Systems, 25.</a:t>
            </a:r>
            <a:endParaRPr lang="en-US" sz="1000" dirty="0"/>
          </a:p>
        </p:txBody>
      </p:sp>
      <p:sp>
        <p:nvSpPr>
          <p:cNvPr id="15" name="Text 13"/>
          <p:cNvSpPr/>
          <p:nvPr/>
        </p:nvSpPr>
        <p:spPr>
          <a:xfrm>
            <a:off x="347472" y="3858768"/>
            <a:ext cx="347472" cy="457200"/>
          </a:xfrm>
          <a:prstGeom prst="rect">
            <a:avLst/>
          </a:prstGeom>
          <a:noFill/>
          <a:ln/>
        </p:spPr>
        <p:txBody>
          <a:bodyPr wrap="square" lIns="0" tIns="0" rIns="0" bIns="0" rtlCol="0" anchor="t"/>
          <a:lstStyle/>
          <a:p>
            <a:pPr indent="0" marL="0">
              <a:buNone/>
            </a:pPr>
            <a:r>
              <a:rPr lang="en-US" sz="1100" b="1" dirty="0">
                <a:solidFill>
                  <a:srgbClr val="D4552A"/>
                </a:solidFill>
                <a:latin typeface="Calibri" pitchFamily="34" charset="0"/>
                <a:ea typeface="Calibri" pitchFamily="34" charset="-122"/>
                <a:cs typeface="Calibri" pitchFamily="34" charset="-120"/>
              </a:rPr>
              <a:t>[6]</a:t>
            </a:r>
            <a:endParaRPr lang="en-US" sz="1100" dirty="0"/>
          </a:p>
        </p:txBody>
      </p:sp>
      <p:sp>
        <p:nvSpPr>
          <p:cNvPr id="16" name="Text 14"/>
          <p:cNvSpPr/>
          <p:nvPr/>
        </p:nvSpPr>
        <p:spPr>
          <a:xfrm>
            <a:off x="768096" y="3858768"/>
            <a:ext cx="8092440" cy="475488"/>
          </a:xfrm>
          <a:prstGeom prst="rect">
            <a:avLst/>
          </a:prstGeom>
          <a:noFill/>
          <a:ln/>
        </p:spPr>
        <p:txBody>
          <a:bodyPr wrap="square" lIns="0" tIns="0" rIns="0" bIns="0" rtlCol="0" anchor="ctr"/>
          <a:lstStyle/>
          <a:p>
            <a:pPr indent="0" marL="0">
              <a:buNone/>
            </a:pPr>
            <a:r>
              <a:rPr lang="en-US" sz="1000" dirty="0">
                <a:solidFill>
                  <a:srgbClr val="2A2A2A"/>
                </a:solidFill>
                <a:latin typeface="Calibri" pitchFamily="34" charset="0"/>
                <a:ea typeface="Calibri" pitchFamily="34" charset="-122"/>
                <a:cs typeface="Calibri" pitchFamily="34" charset="-120"/>
              </a:rPr>
              <a:t>Udacity. (2017). Machine learning engineer nanodegree [Online program]. Udacity, Inc. https://www.udacity.com/course/machine-learning-engineer-nanodegree--nd009t</a:t>
            </a:r>
            <a:endParaRPr lang="en-US" sz="1000" dirty="0"/>
          </a:p>
        </p:txBody>
      </p:sp>
      <p:sp>
        <p:nvSpPr>
          <p:cNvPr id="17" name="Text 15"/>
          <p:cNvSpPr/>
          <p:nvPr/>
        </p:nvSpPr>
        <p:spPr>
          <a:xfrm>
            <a:off x="347472" y="4389120"/>
            <a:ext cx="347472" cy="457200"/>
          </a:xfrm>
          <a:prstGeom prst="rect">
            <a:avLst/>
          </a:prstGeom>
          <a:noFill/>
          <a:ln/>
        </p:spPr>
        <p:txBody>
          <a:bodyPr wrap="square" lIns="0" tIns="0" rIns="0" bIns="0" rtlCol="0" anchor="t"/>
          <a:lstStyle/>
          <a:p>
            <a:pPr indent="0" marL="0">
              <a:buNone/>
            </a:pPr>
            <a:r>
              <a:rPr lang="en-US" sz="1100" b="1" dirty="0">
                <a:solidFill>
                  <a:srgbClr val="D4552A"/>
                </a:solidFill>
                <a:latin typeface="Calibri" pitchFamily="34" charset="0"/>
                <a:ea typeface="Calibri" pitchFamily="34" charset="-122"/>
                <a:cs typeface="Calibri" pitchFamily="34" charset="-120"/>
              </a:rPr>
              <a:t>[7]</a:t>
            </a:r>
            <a:endParaRPr lang="en-US" sz="1100" dirty="0"/>
          </a:p>
        </p:txBody>
      </p:sp>
      <p:sp>
        <p:nvSpPr>
          <p:cNvPr id="18" name="Text 16"/>
          <p:cNvSpPr/>
          <p:nvPr/>
        </p:nvSpPr>
        <p:spPr>
          <a:xfrm>
            <a:off x="768096" y="4389120"/>
            <a:ext cx="8092440" cy="475488"/>
          </a:xfrm>
          <a:prstGeom prst="rect">
            <a:avLst/>
          </a:prstGeom>
          <a:noFill/>
          <a:ln/>
        </p:spPr>
        <p:txBody>
          <a:bodyPr wrap="square" lIns="0" tIns="0" rIns="0" bIns="0" rtlCol="0" anchor="ctr"/>
          <a:lstStyle/>
          <a:p>
            <a:pPr indent="0" marL="0">
              <a:buNone/>
            </a:pPr>
            <a:r>
              <a:rPr lang="en-US" sz="1000" dirty="0">
                <a:solidFill>
                  <a:srgbClr val="2A2A2A"/>
                </a:solidFill>
                <a:latin typeface="Calibri" pitchFamily="34" charset="0"/>
                <a:ea typeface="Calibri" pitchFamily="34" charset="-122"/>
                <a:cs typeface="Calibri" pitchFamily="34" charset="-120"/>
              </a:rPr>
              <a:t>Centers for Disease Control and Prevention. (2023). Distracted driving. National Center for Injury Prevention and Control. https://www.cdc.gov/transportationsafety/distracted_driving</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533"/>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552A"/>
          </a:solidFill>
          <a:ln w="12700">
            <a:solidFill>
              <a:srgbClr val="D4552A"/>
            </a:solidFill>
            <a:prstDash val="solid"/>
          </a:ln>
        </p:spPr>
      </p:sp>
      <p:sp>
        <p:nvSpPr>
          <p:cNvPr id="3" name="Text 1"/>
          <p:cNvSpPr/>
          <p:nvPr/>
        </p:nvSpPr>
        <p:spPr>
          <a:xfrm>
            <a:off x="457200" y="1097280"/>
            <a:ext cx="8229600" cy="1188720"/>
          </a:xfrm>
          <a:prstGeom prst="rect">
            <a:avLst/>
          </a:prstGeom>
          <a:noFill/>
          <a:ln/>
        </p:spPr>
        <p:txBody>
          <a:bodyPr wrap="square" lIns="0" tIns="0" rIns="0" bIns="0" rtlCol="0" anchor="ctr"/>
          <a:lstStyle/>
          <a:p>
            <a:pPr algn="ctr" indent="0" marL="0">
              <a:buNone/>
            </a:pPr>
            <a:r>
              <a:rPr lang="en-US" sz="5800" b="1" dirty="0">
                <a:solidFill>
                  <a:srgbClr val="FFFFFF"/>
                </a:solidFill>
                <a:latin typeface="Cambria" pitchFamily="34" charset="0"/>
                <a:ea typeface="Cambria" pitchFamily="34" charset="-122"/>
                <a:cs typeface="Cambria" pitchFamily="34" charset="-120"/>
              </a:rPr>
              <a:t>Thank You</a:t>
            </a:r>
            <a:endParaRPr lang="en-US" sz="5800" dirty="0"/>
          </a:p>
        </p:txBody>
      </p:sp>
      <p:sp>
        <p:nvSpPr>
          <p:cNvPr id="4" name="Shape 2"/>
          <p:cNvSpPr/>
          <p:nvPr/>
        </p:nvSpPr>
        <p:spPr>
          <a:xfrm>
            <a:off x="3200400" y="2450592"/>
            <a:ext cx="2743200" cy="45720"/>
          </a:xfrm>
          <a:prstGeom prst="rect">
            <a:avLst/>
          </a:prstGeom>
          <a:solidFill>
            <a:srgbClr val="D4552A"/>
          </a:solidFill>
          <a:ln w="12700">
            <a:solidFill>
              <a:srgbClr val="D4552A"/>
            </a:solidFill>
            <a:prstDash val="solid"/>
          </a:ln>
        </p:spPr>
      </p:sp>
      <p:sp>
        <p:nvSpPr>
          <p:cNvPr id="5" name="Text 3"/>
          <p:cNvSpPr/>
          <p:nvPr/>
        </p:nvSpPr>
        <p:spPr>
          <a:xfrm>
            <a:off x="457200" y="2606040"/>
            <a:ext cx="8229600" cy="411480"/>
          </a:xfrm>
          <a:prstGeom prst="rect">
            <a:avLst/>
          </a:prstGeom>
          <a:noFill/>
          <a:ln/>
        </p:spPr>
        <p:txBody>
          <a:bodyPr wrap="square" lIns="0" tIns="0" rIns="0" bIns="0" rtlCol="0" anchor="ctr"/>
          <a:lstStyle/>
          <a:p>
            <a:pPr algn="ctr" indent="0" marL="0">
              <a:buNone/>
            </a:pPr>
            <a:r>
              <a:rPr lang="en-US" sz="1600" i="1" dirty="0">
                <a:solidFill>
                  <a:srgbClr val="A8C5D8"/>
                </a:solidFill>
                <a:latin typeface="Calibri" pitchFamily="34" charset="0"/>
                <a:ea typeface="Calibri" pitchFamily="34" charset="-122"/>
                <a:cs typeface="Calibri" pitchFamily="34" charset="-120"/>
              </a:rPr>
              <a:t>Distracted Driver Detection — Capstone Project</a:t>
            </a:r>
            <a:endParaRPr lang="en-US" sz="1600" dirty="0"/>
          </a:p>
        </p:txBody>
      </p:sp>
      <p:sp>
        <p:nvSpPr>
          <p:cNvPr id="6" name="Text 4"/>
          <p:cNvSpPr/>
          <p:nvPr/>
        </p:nvSpPr>
        <p:spPr>
          <a:xfrm>
            <a:off x="457200" y="3108960"/>
            <a:ext cx="8229600" cy="320040"/>
          </a:xfrm>
          <a:prstGeom prst="rect">
            <a:avLst/>
          </a:prstGeom>
          <a:noFill/>
          <a:ln/>
        </p:spPr>
        <p:txBody>
          <a:bodyPr wrap="square" lIns="0" tIns="0" rIns="0" bIns="0" rtlCol="0" anchor="ctr"/>
          <a:lstStyle/>
          <a:p>
            <a:pPr algn="ctr" indent="0" marL="0">
              <a:buNone/>
            </a:pPr>
            <a:r>
              <a:rPr lang="en-US" sz="1300" dirty="0">
                <a:solidFill>
                  <a:srgbClr val="6B7280"/>
                </a:solidFill>
                <a:latin typeface="Calibri" pitchFamily="34" charset="0"/>
                <a:ea typeface="Calibri" pitchFamily="34" charset="-122"/>
                <a:cs typeface="Calibri" pitchFamily="34" charset="-120"/>
              </a:rPr>
              <a:t>Arun Teja Vemula  ·  Udacity ML Nanodegree  ·  June 2026</a:t>
            </a:r>
            <a:endParaRPr lang="en-US" sz="1300" dirty="0"/>
          </a:p>
        </p:txBody>
      </p:sp>
      <p:sp>
        <p:nvSpPr>
          <p:cNvPr id="7" name="Shape 5"/>
          <p:cNvSpPr/>
          <p:nvPr/>
        </p:nvSpPr>
        <p:spPr>
          <a:xfrm>
            <a:off x="2743200" y="3749040"/>
            <a:ext cx="3657600" cy="658368"/>
          </a:xfrm>
          <a:prstGeom prst="rect">
            <a:avLst/>
          </a:prstGeom>
          <a:solidFill>
            <a:srgbClr val="182135"/>
          </a:solidFill>
          <a:ln/>
          <a:effectLst>
            <a:outerShdw sx="100000" sy="100000" kx="0" ky="0" algn="bl" rotWithShape="0" blurRad="101600" dist="25400" dir="8100000">
              <a:srgbClr val="000000">
                <a:alpha val="10000"/>
              </a:srgbClr>
            </a:outerShdw>
          </a:effectLst>
        </p:spPr>
      </p:sp>
      <p:sp>
        <p:nvSpPr>
          <p:cNvPr id="8" name="Text 6"/>
          <p:cNvSpPr/>
          <p:nvPr/>
        </p:nvSpPr>
        <p:spPr>
          <a:xfrm>
            <a:off x="2743200" y="3749040"/>
            <a:ext cx="3657600"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Questions &amp; Discussion Welcome</a:t>
            </a:r>
            <a:endParaRPr lang="en-US" sz="1400" dirty="0"/>
          </a:p>
        </p:txBody>
      </p:sp>
      <p:sp>
        <p:nvSpPr>
          <p:cNvPr id="9" name="Shape 7"/>
          <p:cNvSpPr/>
          <p:nvPr/>
        </p:nvSpPr>
        <p:spPr>
          <a:xfrm>
            <a:off x="0" y="5047488"/>
            <a:ext cx="9144000" cy="91440"/>
          </a:xfrm>
          <a:prstGeom prst="rect">
            <a:avLst/>
          </a:prstGeom>
          <a:solidFill>
            <a:srgbClr val="D4552A"/>
          </a:solidFill>
          <a:ln w="12700">
            <a:solidFill>
              <a:srgbClr val="D4552A"/>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Distracted Driver Detection - Capstone Project</dc:title>
  <dc:subject>PptxGenJS Presentation</dc:subject>
  <dc:creator>Arun Teja Vemula</dc:creator>
  <cp:lastModifiedBy>Arun Teja Vemula</cp:lastModifiedBy>
  <cp:revision>1</cp:revision>
  <dcterms:created xsi:type="dcterms:W3CDTF">2026-06-09T16:31:04Z</dcterms:created>
  <dcterms:modified xsi:type="dcterms:W3CDTF">2026-06-09T16:31:04Z</dcterms:modified>
</cp:coreProperties>
</file>